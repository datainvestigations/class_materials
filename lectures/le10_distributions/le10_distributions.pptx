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83" r:id="rId3"/>
    <p:sldId id="257" r:id="rId4"/>
    <p:sldId id="284" r:id="rId5"/>
    <p:sldId id="298" r:id="rId6"/>
    <p:sldId id="285" r:id="rId7"/>
    <p:sldId id="286" r:id="rId8"/>
    <p:sldId id="287" r:id="rId9"/>
    <p:sldId id="288" r:id="rId10"/>
    <p:sldId id="265" r:id="rId11"/>
    <p:sldId id="266" r:id="rId12"/>
    <p:sldId id="293" r:id="rId13"/>
    <p:sldId id="289" r:id="rId14"/>
    <p:sldId id="292" r:id="rId15"/>
    <p:sldId id="294" r:id="rId16"/>
    <p:sldId id="261" r:id="rId17"/>
    <p:sldId id="291" r:id="rId18"/>
    <p:sldId id="280" r:id="rId19"/>
    <p:sldId id="281" r:id="rId20"/>
    <p:sldId id="282" r:id="rId21"/>
    <p:sldId id="262" r:id="rId22"/>
    <p:sldId id="272" r:id="rId23"/>
    <p:sldId id="297" r:id="rId24"/>
    <p:sldId id="273" r:id="rId25"/>
    <p:sldId id="271" r:id="rId26"/>
    <p:sldId id="274" r:id="rId27"/>
    <p:sldId id="277" r:id="rId28"/>
    <p:sldId id="275" r:id="rId29"/>
    <p:sldId id="276" r:id="rId30"/>
    <p:sldId id="278" r:id="rId31"/>
    <p:sldId id="279" r:id="rId32"/>
    <p:sldId id="264" r:id="rId33"/>
    <p:sldId id="296" r:id="rId34"/>
    <p:sldId id="268" r:id="rId35"/>
    <p:sldId id="26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/>
    <p:restoredTop sz="85714"/>
  </p:normalViewPr>
  <p:slideViewPr>
    <p:cSldViewPr snapToGrid="0" snapToObjects="1">
      <p:cViewPr varScale="1">
        <p:scale>
          <a:sx n="102" d="100"/>
          <a:sy n="102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8299A-6C4B-8A43-A7CA-78203BF4B06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8687-A7AF-CA41-9DA3-11909A50B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2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4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probability of getting exactly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successes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independent Bernoulli trials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choose k which is n! / k! (n-k)!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31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on right: x-axis is number of heads (success), N is number of times you flipped it in a row, p is the probability of success (heads) on each flip.</a:t>
            </a:r>
          </a:p>
          <a:p>
            <a:endParaRPr lang="en-US" dirty="0"/>
          </a:p>
          <a:p>
            <a:r>
              <a:rPr lang="en-US" dirty="0"/>
              <a:t>What is the probability of getting 10 or fewer heads if you flipped the coin 40 times? (red line)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probability of getting 10 or fewer heads if you flipped the coin 20 times? (blue line)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5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get larger numbers, we converge on 48%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88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03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Greek letter = theta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23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62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86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pbinom</a:t>
            </a:r>
            <a:r>
              <a:rPr lang="en-US" dirty="0"/>
              <a:t>(q=1,size=25, </a:t>
            </a:r>
            <a:r>
              <a:rPr lang="en-US" dirty="0" err="1"/>
              <a:t>prob</a:t>
            </a:r>
            <a:r>
              <a:rPr lang="en-US" dirty="0"/>
              <a:t> = 0.2)</a:t>
            </a:r>
          </a:p>
          <a:p>
            <a:r>
              <a:rPr lang="en-US" dirty="0"/>
              <a:t>[1] 0.02738973</a:t>
            </a:r>
          </a:p>
          <a:p>
            <a:endParaRPr lang="en-US" dirty="0"/>
          </a:p>
          <a:p>
            <a:r>
              <a:rPr lang="en-US" dirty="0"/>
              <a:t>&gt; </a:t>
            </a:r>
            <a:r>
              <a:rPr lang="en-US" dirty="0" err="1"/>
              <a:t>pbinom</a:t>
            </a:r>
            <a:r>
              <a:rPr lang="en-US" dirty="0"/>
              <a:t>(q=5,size=25, </a:t>
            </a:r>
            <a:r>
              <a:rPr lang="en-US" dirty="0" err="1"/>
              <a:t>prob</a:t>
            </a:r>
            <a:r>
              <a:rPr lang="en-US" dirty="0"/>
              <a:t> = 0.2)</a:t>
            </a:r>
          </a:p>
          <a:p>
            <a:r>
              <a:rPr lang="en-US" dirty="0"/>
              <a:t>[1] 0.6166894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4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130.5465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38687-A7AF-CA41-9DA3-11909A50B3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7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58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6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91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6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89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6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5480-A8F7-8340-B2BD-74D4B8D3051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2E6F9-0046-0946-97B1-2E5B3F8B1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1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documentation.org/packages/pscl/versions/1.5.2/topics/zeroinf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hape_paramet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iff"/><Relationship Id="rId4" Type="http://schemas.openxmlformats.org/officeDocument/2006/relationships/hyperlink" Target="https://en.wikipedia.org/wiki/Scale_parameter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6</a:t>
            </a:r>
            <a:br>
              <a:rPr lang="en-US" dirty="0"/>
            </a:br>
            <a:r>
              <a:rPr lang="en-US" dirty="0"/>
              <a:t>Science Writing &amp;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D406E-281C-5C4A-8BA6-891C8EA6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04EF01-50C0-81D4-FBE9-5D937C4D7BDC}"/>
              </a:ext>
            </a:extLst>
          </p:cNvPr>
          <p:cNvSpPr txBox="1">
            <a:spLocks/>
          </p:cNvSpPr>
          <p:nvPr/>
        </p:nvSpPr>
        <p:spPr>
          <a:xfrm>
            <a:off x="732693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AutoNum type="arabicPeriod"/>
            </a:pPr>
            <a:r>
              <a:rPr lang="en-US" dirty="0"/>
              <a:t>Short paper on writing a scientific paper, quiz on Canvas</a:t>
            </a:r>
          </a:p>
          <a:p>
            <a:pPr marL="914400" lvl="1" indent="-457200">
              <a:buAutoNum type="arabicPeriod"/>
            </a:pPr>
            <a:r>
              <a:rPr lang="en-US" b="1" u="sng" dirty="0"/>
              <a:t>Tips for turning </a:t>
            </a:r>
            <a:r>
              <a:rPr lang="en-US" b="1" u="sng"/>
              <a:t>in assignments </a:t>
            </a:r>
            <a:br>
              <a:rPr lang="en-US" b="1" u="sng" dirty="0"/>
            </a:b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9717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learned about </a:t>
            </a:r>
            <a:r>
              <a:rPr lang="en-US" b="1" dirty="0"/>
              <a:t>tests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learned that some tests have assumptions of normality and linearity</a:t>
            </a:r>
          </a:p>
          <a:p>
            <a:endParaRPr lang="en-US" dirty="0"/>
          </a:p>
          <a:p>
            <a:r>
              <a:rPr lang="en-US" dirty="0"/>
              <a:t>We learned that permutation tests can help to overcome these assumptions</a:t>
            </a:r>
          </a:p>
        </p:txBody>
      </p:sp>
    </p:spTree>
    <p:extLst>
      <p:ext uri="{BB962C8B-B14F-4D97-AF65-F5344CB8AC3E}">
        <p14:creationId xmlns:p14="http://schemas.microsoft.com/office/powerpoint/2010/main" val="53216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DFD3-6577-5048-800A-09EBF80E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8272-6DC3-4947-9F65-93BF9CBE1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general concept of probability distributions</a:t>
            </a:r>
          </a:p>
          <a:p>
            <a:endParaRPr lang="en-US" dirty="0"/>
          </a:p>
          <a:p>
            <a:r>
              <a:rPr lang="en-US" dirty="0"/>
              <a:t>Describe discrete versus continuous distributions</a:t>
            </a:r>
          </a:p>
          <a:p>
            <a:endParaRPr lang="en-US" dirty="0"/>
          </a:p>
          <a:p>
            <a:r>
              <a:rPr lang="en-US" dirty="0"/>
              <a:t>Solve problems in probabilistic terms, choosing the correct distribution for your response variable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9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C799-5031-5948-6241-A46FC7E2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A5E9-EB8F-4946-FAF5-2D10A8297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Assessing knowledge</a:t>
            </a:r>
          </a:p>
          <a:p>
            <a:pPr lvl="1"/>
            <a:r>
              <a:rPr lang="en-US" dirty="0"/>
              <a:t>What distributions do you know?</a:t>
            </a:r>
          </a:p>
          <a:p>
            <a:pPr lvl="1"/>
            <a:endParaRPr lang="en-US" dirty="0"/>
          </a:p>
          <a:p>
            <a:r>
              <a:rPr lang="en-US" dirty="0"/>
              <a:t>Although the normal distribution is most commonly taught and used for </a:t>
            </a:r>
            <a:r>
              <a:rPr lang="en-US" b="1" u="sng" dirty="0"/>
              <a:t>general</a:t>
            </a:r>
            <a:r>
              <a:rPr lang="en-US" dirty="0"/>
              <a:t> linear models and tests, there is an entire WORLD of probability distributions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b="1" dirty="0"/>
              <a:t>any </a:t>
            </a:r>
            <a:r>
              <a:rPr lang="en-US" dirty="0"/>
              <a:t>variable you might plot on your y-axis, there is a distribution that exists</a:t>
            </a:r>
          </a:p>
          <a:p>
            <a:pPr lvl="1"/>
            <a:r>
              <a:rPr lang="en-US" dirty="0"/>
              <a:t>You do NOT need to always normalize your data to do analyses</a:t>
            </a:r>
          </a:p>
          <a:p>
            <a:pPr lvl="1"/>
            <a:r>
              <a:rPr lang="en-US" dirty="0"/>
              <a:t>Finding the proper distribution and running a different kind of model (</a:t>
            </a:r>
            <a:r>
              <a:rPr lang="en-US" b="1" u="sng" dirty="0"/>
              <a:t>generalized</a:t>
            </a:r>
            <a:r>
              <a:rPr lang="en-US" b="1" dirty="0"/>
              <a:t> linear models)</a:t>
            </a:r>
            <a:r>
              <a:rPr lang="en-US" dirty="0"/>
              <a:t> is usually a better solution</a:t>
            </a:r>
          </a:p>
          <a:p>
            <a:pPr lvl="1"/>
            <a:r>
              <a:rPr lang="en-US" dirty="0"/>
              <a:t>Today we will learn about what distributions you might use in the future</a:t>
            </a: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30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B097-3FDC-EC40-96EC-39F5453D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B7F02-6271-184A-9ED2-F7A559AD9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probability distribution is a mathematical function that describes the occurrence of different outcomes in your study or experiment</a:t>
            </a:r>
          </a:p>
          <a:p>
            <a:endParaRPr lang="en-US" dirty="0"/>
          </a:p>
          <a:p>
            <a:r>
              <a:rPr lang="en-US" dirty="0"/>
              <a:t>In math, this is described as the possible outcomes of a “random” variable after conducting an “experiment”</a:t>
            </a:r>
          </a:p>
          <a:p>
            <a:endParaRPr lang="en-US" dirty="0"/>
          </a:p>
          <a:p>
            <a:r>
              <a:rPr lang="en-US" dirty="0"/>
              <a:t>The easiest way to think of this is a coin flip</a:t>
            </a:r>
          </a:p>
          <a:p>
            <a:pPr lvl="1"/>
            <a:r>
              <a:rPr lang="en-US" dirty="0"/>
              <a:t>What are the possible outcomes of this experiment?</a:t>
            </a:r>
          </a:p>
        </p:txBody>
      </p:sp>
    </p:spTree>
    <p:extLst>
      <p:ext uri="{BB962C8B-B14F-4D97-AF65-F5344CB8AC3E}">
        <p14:creationId xmlns:p14="http://schemas.microsoft.com/office/powerpoint/2010/main" val="1986011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C5A3-D44A-544B-9D25-F0C7A25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A90D-B85B-8246-9F54-7B456D709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Discrete = individually separate and distinct</a:t>
            </a:r>
          </a:p>
          <a:p>
            <a:endParaRPr lang="en-US" dirty="0"/>
          </a:p>
          <a:p>
            <a:r>
              <a:rPr lang="en-US" dirty="0"/>
              <a:t>The outcome distribution can only take specific numbers</a:t>
            </a:r>
          </a:p>
          <a:p>
            <a:pPr lvl="1"/>
            <a:r>
              <a:rPr lang="en-US" dirty="0"/>
              <a:t>A coin flip is a discrete distribution</a:t>
            </a:r>
          </a:p>
          <a:p>
            <a:pPr lvl="1"/>
            <a:r>
              <a:rPr lang="en-US" dirty="0"/>
              <a:t>Counts of animals are discrete. Why?</a:t>
            </a:r>
          </a:p>
          <a:p>
            <a:endParaRPr lang="en-US" dirty="0"/>
          </a:p>
          <a:p>
            <a:r>
              <a:rPr lang="en-US" dirty="0"/>
              <a:t>The list of outcomes is known as a probability mass function. </a:t>
            </a:r>
          </a:p>
          <a:p>
            <a:pPr lvl="1"/>
            <a:r>
              <a:rPr lang="en-US" dirty="0"/>
              <a:t>It gives the probability that your experimental outcome is exactly equal to some value. </a:t>
            </a:r>
          </a:p>
        </p:txBody>
      </p:sp>
    </p:spTree>
    <p:extLst>
      <p:ext uri="{BB962C8B-B14F-4D97-AF65-F5344CB8AC3E}">
        <p14:creationId xmlns:p14="http://schemas.microsoft.com/office/powerpoint/2010/main" val="351743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671A-F77E-FB45-A4B3-2B9E0717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2F8EF-D1ED-7940-AE64-B28969C49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Used when the outcome of an experiment can take on “real” numbers</a:t>
            </a:r>
          </a:p>
          <a:p>
            <a:endParaRPr lang="en-US" dirty="0"/>
          </a:p>
          <a:p>
            <a:r>
              <a:rPr lang="en-US" dirty="0"/>
              <a:t>Real number = value that is any distance on a number line</a:t>
            </a:r>
          </a:p>
          <a:p>
            <a:pPr lvl="1"/>
            <a:r>
              <a:rPr lang="en-US" dirty="0"/>
              <a:t>Temperature and weight would be described by a continuous probability distribution</a:t>
            </a:r>
          </a:p>
          <a:p>
            <a:pPr lvl="2"/>
            <a:r>
              <a:rPr lang="en-US" dirty="0"/>
              <a:t>Other examples? </a:t>
            </a:r>
          </a:p>
          <a:p>
            <a:r>
              <a:rPr lang="en-US" dirty="0"/>
              <a:t>The probability of an outcome from a continuous probability distribution is called a probability density function (PDF)</a:t>
            </a:r>
          </a:p>
          <a:p>
            <a:pPr lvl="1"/>
            <a:r>
              <a:rPr lang="en-US" dirty="0"/>
              <a:t>What is the probability of a lizard’s being weight </a:t>
            </a:r>
            <a:r>
              <a:rPr lang="en-US" u="sng" dirty="0"/>
              <a:t>exactly </a:t>
            </a:r>
            <a:r>
              <a:rPr lang="en-US" dirty="0"/>
              <a:t>= 7.456723464 grams?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PDFs therefore give the </a:t>
            </a:r>
            <a:r>
              <a:rPr lang="en-US" u="sng" dirty="0"/>
              <a:t>relative</a:t>
            </a:r>
            <a:r>
              <a:rPr lang="en-US" dirty="0"/>
              <a:t> likelihood – or the probability that the outcome of your experiments falls within a particular range of values</a:t>
            </a:r>
          </a:p>
          <a:p>
            <a:endParaRPr lang="en-US" dirty="0"/>
          </a:p>
          <a:p>
            <a:r>
              <a:rPr lang="en-US" dirty="0"/>
              <a:t>What is the most commonly used continuous probability distribution?</a:t>
            </a:r>
          </a:p>
        </p:txBody>
      </p:sp>
    </p:spTree>
    <p:extLst>
      <p:ext uri="{BB962C8B-B14F-4D97-AF65-F5344CB8AC3E}">
        <p14:creationId xmlns:p14="http://schemas.microsoft.com/office/powerpoint/2010/main" val="412566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5572-21DF-CC44-9D17-37796CC1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BFE2-ADAD-D94E-B661-A7DA359CD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type of continuous probability distribution</a:t>
            </a:r>
          </a:p>
          <a:p>
            <a:endParaRPr lang="en-US" dirty="0"/>
          </a:p>
          <a:p>
            <a:r>
              <a:rPr lang="en-US" dirty="0"/>
              <a:t>Also called “Gaussian” distribution</a:t>
            </a:r>
          </a:p>
          <a:p>
            <a:endParaRPr lang="en-US" dirty="0"/>
          </a:p>
          <a:p>
            <a:r>
              <a:rPr lang="en-US" dirty="0"/>
              <a:t>Many things are thought to be normally distributed, and frequently errors after fitting a model (called “residuals”) are thought to be normally distributed</a:t>
            </a:r>
          </a:p>
          <a:p>
            <a:endParaRPr lang="en-US" dirty="0"/>
          </a:p>
          <a:p>
            <a:r>
              <a:rPr lang="en-US" dirty="0"/>
              <a:t>Many statistics (developed under “lamppost theory”) use methods developed for the normal distribution</a:t>
            </a:r>
          </a:p>
          <a:p>
            <a:pPr lvl="1"/>
            <a:r>
              <a:rPr lang="en-US" dirty="0"/>
              <a:t>What tests have we learned about that rely on the normal distribution?</a:t>
            </a:r>
          </a:p>
          <a:p>
            <a:endParaRPr lang="en-US" dirty="0"/>
          </a:p>
          <a:p>
            <a:r>
              <a:rPr lang="en-US" dirty="0"/>
              <a:t>We will use the “</a:t>
            </a:r>
            <a:r>
              <a:rPr lang="en-US" dirty="0" err="1"/>
              <a:t>lm</a:t>
            </a:r>
            <a:r>
              <a:rPr lang="en-US" dirty="0"/>
              <a:t>” function run linear models in R over the next few weeks</a:t>
            </a:r>
          </a:p>
        </p:txBody>
      </p:sp>
    </p:spTree>
    <p:extLst>
      <p:ext uri="{BB962C8B-B14F-4D97-AF65-F5344CB8AC3E}">
        <p14:creationId xmlns:p14="http://schemas.microsoft.com/office/powerpoint/2010/main" val="220972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tree of distributions (Reading, P182)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1897191"/>
            <a:ext cx="8178801" cy="465552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1A-49D8-4124-9BCC-7FB03C329A09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4165" y="4737253"/>
            <a:ext cx="1487277" cy="385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433159" y="4768466"/>
            <a:ext cx="717926" cy="385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20304" y="2783591"/>
            <a:ext cx="717926" cy="385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772628" y="3844888"/>
            <a:ext cx="26600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curve(</a:t>
            </a:r>
            <a:r>
              <a:rPr lang="en-US" err="1"/>
              <a:t>dgamma</a:t>
            </a:r>
            <a:r>
              <a:rPr lang="en-US"/>
              <a:t>(x,1),0,20)</a:t>
            </a:r>
          </a:p>
          <a:p>
            <a:r>
              <a:rPr lang="en-US"/>
              <a:t>curve(</a:t>
            </a:r>
            <a:r>
              <a:rPr lang="en-US" err="1"/>
              <a:t>dgamma</a:t>
            </a:r>
            <a:r>
              <a:rPr lang="en-US"/>
              <a:t>(x,10),0,20)</a:t>
            </a:r>
          </a:p>
          <a:p>
            <a:r>
              <a:rPr lang="en-US"/>
              <a:t>curve(</a:t>
            </a:r>
            <a:r>
              <a:rPr lang="en-US" err="1"/>
              <a:t>dbeta</a:t>
            </a:r>
            <a:r>
              <a:rPr lang="en-US"/>
              <a:t>(x,1,1),0,1)</a:t>
            </a:r>
          </a:p>
          <a:p>
            <a:r>
              <a:rPr lang="en-US"/>
              <a:t>curve(</a:t>
            </a:r>
            <a:r>
              <a:rPr lang="en-US" err="1"/>
              <a:t>dbeta</a:t>
            </a:r>
            <a:r>
              <a:rPr lang="en-US"/>
              <a:t>(x,10,10),0,1)</a:t>
            </a:r>
          </a:p>
          <a:p>
            <a:r>
              <a:rPr lang="en-US"/>
              <a:t>curve(</a:t>
            </a:r>
            <a:r>
              <a:rPr lang="en-US" err="1"/>
              <a:t>dbeta</a:t>
            </a:r>
            <a:r>
              <a:rPr lang="en-US"/>
              <a:t>(x,2,5),0,1)</a:t>
            </a:r>
          </a:p>
          <a:p>
            <a:r>
              <a:rPr lang="en-US"/>
              <a:t>curve(</a:t>
            </a:r>
            <a:r>
              <a:rPr lang="en-US" err="1"/>
              <a:t>dbeta</a:t>
            </a:r>
            <a:r>
              <a:rPr lang="en-US"/>
              <a:t>(x,5,2),0,1)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52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Distribution properties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2003810"/>
            <a:ext cx="9000162" cy="438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0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2C6F-1F11-9F43-8ECC-235211E8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Means, Variances, and higher moments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5761E-3C7F-A344-B942-C8BEA8C0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distribution has an average value that is called its </a:t>
            </a:r>
            <a:r>
              <a:rPr lang="en-US" u="sng" dirty="0"/>
              <a:t>mean</a:t>
            </a:r>
            <a:r>
              <a:rPr lang="en-US" dirty="0"/>
              <a:t> or expectation</a:t>
            </a:r>
          </a:p>
          <a:p>
            <a:endParaRPr lang="en-US" u="sng" dirty="0"/>
          </a:p>
          <a:p>
            <a:r>
              <a:rPr lang="en-US" dirty="0"/>
              <a:t>You should read about how these differ in the chapter from the </a:t>
            </a:r>
            <a:r>
              <a:rPr lang="en-US" dirty="0" err="1"/>
              <a:t>Bolker</a:t>
            </a:r>
            <a:r>
              <a:rPr lang="en-US" dirty="0"/>
              <a:t> book</a:t>
            </a:r>
          </a:p>
          <a:p>
            <a:endParaRPr lang="en-US" dirty="0"/>
          </a:p>
          <a:p>
            <a:r>
              <a:rPr lang="en-US" dirty="0"/>
              <a:t>Important to remember though: calculating the mean and variance is not always the same as for the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237470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106D-8404-3C4D-B747-1F02E5C8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0CF71-ECE1-C649-AFF1-C00F057D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Discrete distribution</a:t>
            </a:r>
          </a:p>
          <a:p>
            <a:endParaRPr lang="en-US" dirty="0"/>
          </a:p>
          <a:p>
            <a:r>
              <a:rPr lang="en-US" dirty="0"/>
              <a:t>Binomial distributions are used when you have a fixed number of subsamples or trials, and each trial can have 1 of 2 possible values</a:t>
            </a:r>
          </a:p>
          <a:p>
            <a:endParaRPr lang="en-US" dirty="0"/>
          </a:p>
          <a:p>
            <a:r>
              <a:rPr lang="en-US" dirty="0"/>
              <a:t>For your purposes, you will use this when your outcome variables are 0 or 1, alive or dead, red or blue, etc.</a:t>
            </a:r>
          </a:p>
          <a:p>
            <a:endParaRPr lang="en-US" dirty="0"/>
          </a:p>
          <a:p>
            <a:r>
              <a:rPr lang="en-US" dirty="0"/>
              <a:t>When calling a binomial in a </a:t>
            </a:r>
            <a:r>
              <a:rPr lang="en-US" dirty="0" err="1"/>
              <a:t>glm</a:t>
            </a:r>
            <a:r>
              <a:rPr lang="en-US" dirty="0"/>
              <a:t>, also called “logistic regression”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0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2EAF-CCAA-044F-B817-98EA67AA4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mass function of binomial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7859-F273-5843-850A-F7A7DD861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 function that gives the probability that a random observation is exactly equal to some value</a:t>
            </a:r>
          </a:p>
          <a:p>
            <a:pPr lvl="1"/>
            <a:r>
              <a:rPr lang="en-US" dirty="0"/>
              <a:t>E.g. the probability of getting exactly 5 (k)  heads in 8 (n) coin flips (fair coin p = 0.5)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can write the function for the PMF of the binomial distribution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“parameters” of this distribution are </a:t>
            </a:r>
            <a:r>
              <a:rPr lang="en-US" i="1" dirty="0"/>
              <a:t>n </a:t>
            </a:r>
            <a:r>
              <a:rPr lang="en-US" dirty="0"/>
              <a:t>and </a:t>
            </a:r>
            <a:r>
              <a:rPr lang="en-US" i="1" dirty="0"/>
              <a:t>p</a:t>
            </a:r>
          </a:p>
          <a:p>
            <a:r>
              <a:rPr lang="en-US" i="1" dirty="0"/>
              <a:t>n </a:t>
            </a:r>
            <a:r>
              <a:rPr lang="en-US" dirty="0"/>
              <a:t>is the number of trials (called “size” in R)</a:t>
            </a:r>
          </a:p>
          <a:p>
            <a:r>
              <a:rPr lang="en-US" i="1" dirty="0"/>
              <a:t>p</a:t>
            </a:r>
            <a:r>
              <a:rPr lang="en-US" dirty="0"/>
              <a:t> is the success probability of each trial (a value between 0 and 1)</a:t>
            </a:r>
          </a:p>
          <a:p>
            <a:pPr lvl="1"/>
            <a:r>
              <a:rPr lang="en-US" dirty="0"/>
              <a:t>(called “</a:t>
            </a:r>
            <a:r>
              <a:rPr lang="en-US" dirty="0" err="1"/>
              <a:t>prob</a:t>
            </a:r>
            <a:r>
              <a:rPr lang="en-US" dirty="0"/>
              <a:t>” in R)</a:t>
            </a:r>
          </a:p>
          <a:p>
            <a:r>
              <a:rPr lang="en-US" i="1" dirty="0"/>
              <a:t>k </a:t>
            </a:r>
            <a:r>
              <a:rPr lang="en-US" dirty="0"/>
              <a:t>is the number of successes (called “x” in R)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66920-8617-0942-B0D2-0FD1B5C83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570" y="3533483"/>
            <a:ext cx="1765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0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8D0A-4BF6-2643-809D-22AFCDDE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Cumulative distribution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67CA8-FECB-E74E-97F3-AF5B120C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probability that a random observation will take a value less than or equal to some value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6703F-9EC4-D645-A852-9E3A6C533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895" y="2992582"/>
            <a:ext cx="4868882" cy="36516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4FAA45-7C7F-674B-907F-E28380A00791}"/>
              </a:ext>
            </a:extLst>
          </p:cNvPr>
          <p:cNvSpPr/>
          <p:nvPr/>
        </p:nvSpPr>
        <p:spPr>
          <a:xfrm>
            <a:off x="838200" y="2857645"/>
            <a:ext cx="52300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E.g. </a:t>
            </a:r>
            <a:r>
              <a:rPr lang="en-US" sz="2400" dirty="0">
                <a:solidFill>
                  <a:srgbClr val="0432FF"/>
                </a:solidFill>
              </a:rPr>
              <a:t>BLUE LINE, circle:</a:t>
            </a:r>
          </a:p>
          <a:p>
            <a:r>
              <a:rPr lang="en-US" sz="2400" dirty="0">
                <a:solidFill>
                  <a:srgbClr val="0432FF"/>
                </a:solidFill>
              </a:rPr>
              <a:t>the probability of getting 10 or fewer heads after 20 coin tosses in a fair coin (</a:t>
            </a:r>
            <a:r>
              <a:rPr lang="en-US" sz="2400" dirty="0" err="1">
                <a:solidFill>
                  <a:srgbClr val="0432FF"/>
                </a:solidFill>
              </a:rPr>
              <a:t>prob</a:t>
            </a:r>
            <a:r>
              <a:rPr lang="en-US" sz="2400" dirty="0">
                <a:solidFill>
                  <a:srgbClr val="0432FF"/>
                </a:solidFill>
              </a:rPr>
              <a:t> of getting heads = 0.5) 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RED LINE, circle: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 probability of getting only 10 or fewer heads after </a:t>
            </a:r>
            <a:r>
              <a:rPr lang="en-US" sz="2400" b="1" dirty="0">
                <a:solidFill>
                  <a:srgbClr val="FF0000"/>
                </a:solidFill>
              </a:rPr>
              <a:t>40</a:t>
            </a:r>
            <a:r>
              <a:rPr lang="en-US" sz="2400" dirty="0">
                <a:solidFill>
                  <a:srgbClr val="FF0000"/>
                </a:solidFill>
              </a:rPr>
              <a:t> coin tosses in a fair coin (prob of getting heads = 0.5) 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2354C-86BF-694B-8AA2-F915E820DB2F}"/>
              </a:ext>
            </a:extLst>
          </p:cNvPr>
          <p:cNvSpPr txBox="1"/>
          <p:nvPr/>
        </p:nvSpPr>
        <p:spPr>
          <a:xfrm>
            <a:off x="8129116" y="6199836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heads (successes)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09B31-4A7B-2B41-B962-813C24907B8E}"/>
              </a:ext>
            </a:extLst>
          </p:cNvPr>
          <p:cNvSpPr txBox="1"/>
          <p:nvPr/>
        </p:nvSpPr>
        <p:spPr>
          <a:xfrm rot="16200000">
            <a:off x="6085410" y="4534205"/>
            <a:ext cx="1195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51873B-6565-1C4C-BC86-97CC557BCB40}"/>
              </a:ext>
            </a:extLst>
          </p:cNvPr>
          <p:cNvSpPr/>
          <p:nvPr/>
        </p:nvSpPr>
        <p:spPr>
          <a:xfrm>
            <a:off x="8259746" y="5606980"/>
            <a:ext cx="130629" cy="140677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BC9B93-28F9-2B4B-A711-9A4B370B13EB}"/>
              </a:ext>
            </a:extLst>
          </p:cNvPr>
          <p:cNvSpPr/>
          <p:nvPr/>
        </p:nvSpPr>
        <p:spPr>
          <a:xfrm>
            <a:off x="8261421" y="4161699"/>
            <a:ext cx="130629" cy="140677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0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405" y="1690688"/>
            <a:ext cx="10677395" cy="4486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want to determine what we can reasonably expect infection to be at 10 sites if the global probability of infection is 48%</a:t>
            </a:r>
          </a:p>
          <a:p>
            <a:endParaRPr lang="en-US" dirty="0"/>
          </a:p>
          <a:p>
            <a:r>
              <a:rPr lang="en-US" dirty="0"/>
              <a:t>Use code like this to find out the “results” (the fraction of bats infected) from </a:t>
            </a:r>
            <a:r>
              <a:rPr lang="en-US" b="1" dirty="0"/>
              <a:t>10 sites of 100 bats (trials), with a 48% probability that a bat will be infected</a:t>
            </a:r>
          </a:p>
          <a:p>
            <a:r>
              <a:rPr lang="en-US" dirty="0" err="1"/>
              <a:t>rbinom</a:t>
            </a:r>
            <a:r>
              <a:rPr lang="en-US" dirty="0"/>
              <a:t>(n = 10, size =100, </a:t>
            </a:r>
            <a:r>
              <a:rPr lang="en-US" dirty="0" err="1"/>
              <a:t>prob</a:t>
            </a:r>
            <a:r>
              <a:rPr lang="en-US" dirty="0"/>
              <a:t> = 0.48)/100</a:t>
            </a:r>
          </a:p>
          <a:p>
            <a:endParaRPr lang="en-US" dirty="0"/>
          </a:p>
          <a:p>
            <a:r>
              <a:rPr lang="en-US" dirty="0"/>
              <a:t>What is the fraction of bats that will be infected in a population of 100?  1,000? 1,000,000?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3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CF81-3D7D-594E-B90A-A77D053E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1217-949D-6645-BC21-7E723AF2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Discrete</a:t>
            </a:r>
          </a:p>
          <a:p>
            <a:endParaRPr lang="en-US" dirty="0"/>
          </a:p>
          <a:p>
            <a:r>
              <a:rPr lang="en-US" dirty="0"/>
              <a:t>Gives the distribution of the number of individuals, arrivals, events, counts</a:t>
            </a:r>
          </a:p>
          <a:p>
            <a:endParaRPr lang="en-US" dirty="0"/>
          </a:p>
          <a:p>
            <a:r>
              <a:rPr lang="en-US" dirty="0"/>
              <a:t>The numbers in your experimental outcome can be infinity, but the numbers need to be round numbers</a:t>
            </a:r>
          </a:p>
          <a:p>
            <a:pPr lvl="1"/>
            <a:r>
              <a:rPr lang="en-US" dirty="0"/>
              <a:t>E.g. The number of butterflies in your plots, the number of plants in a quadrat</a:t>
            </a:r>
          </a:p>
          <a:p>
            <a:endParaRPr lang="en-US" dirty="0"/>
          </a:p>
          <a:p>
            <a:r>
              <a:rPr lang="en-US" dirty="0"/>
              <a:t>The binomial distribution had 2 parameters, but the Poisson has a </a:t>
            </a:r>
            <a:r>
              <a:rPr lang="en-US" u="sng" dirty="0"/>
              <a:t>single</a:t>
            </a:r>
            <a:r>
              <a:rPr lang="en-US" dirty="0"/>
              <a:t> parameter – lambda</a:t>
            </a:r>
          </a:p>
          <a:p>
            <a:endParaRPr lang="en-US" dirty="0"/>
          </a:p>
          <a:p>
            <a:r>
              <a:rPr lang="en-US" dirty="0"/>
              <a:t>The mean of Poisson and the variance of the Poisson are the same value – also both lambda</a:t>
            </a:r>
          </a:p>
          <a:p>
            <a:endParaRPr lang="en-US" dirty="0"/>
          </a:p>
          <a:p>
            <a:r>
              <a:rPr lang="en-US" dirty="0"/>
              <a:t>What problems can you envision when using the Poisson distribution?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02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Binomial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is most commonly used for overly dispersed count data (discrete)</a:t>
            </a:r>
          </a:p>
          <a:p>
            <a:pPr lvl="1"/>
            <a:r>
              <a:rPr lang="en-US" dirty="0"/>
              <a:t>(Most count data in ecology seem to be overly dispersed!)</a:t>
            </a:r>
          </a:p>
          <a:p>
            <a:endParaRPr lang="en-US" i="1" dirty="0"/>
          </a:p>
          <a:p>
            <a:r>
              <a:rPr lang="en-US" dirty="0"/>
              <a:t>It is a special case of the Poisson</a:t>
            </a:r>
          </a:p>
          <a:p>
            <a:endParaRPr lang="en-US" dirty="0"/>
          </a:p>
          <a:p>
            <a:r>
              <a:rPr lang="en-US" dirty="0"/>
              <a:t>It is </a:t>
            </a:r>
            <a:r>
              <a:rPr lang="en-US" b="1" u="sng" dirty="0"/>
              <a:t>not</a:t>
            </a:r>
            <a:r>
              <a:rPr lang="en-US" dirty="0"/>
              <a:t> a binomial </a:t>
            </a:r>
          </a:p>
          <a:p>
            <a:endParaRPr lang="en-US" dirty="0"/>
          </a:p>
          <a:p>
            <a:r>
              <a:rPr lang="en-US" dirty="0"/>
              <a:t>Two parameters mean and dispersion</a:t>
            </a:r>
          </a:p>
          <a:p>
            <a:pPr lvl="1"/>
            <a:r>
              <a:rPr lang="en-US" dirty="0"/>
              <a:t>mean (“mu” in R)</a:t>
            </a:r>
          </a:p>
          <a:p>
            <a:pPr lvl="1"/>
            <a:r>
              <a:rPr lang="en-US" dirty="0"/>
              <a:t>dispersion (k, “size” in R) </a:t>
            </a:r>
          </a:p>
          <a:p>
            <a:pPr lvl="2"/>
            <a:r>
              <a:rPr lang="en-US" dirty="0"/>
              <a:t>As the k goes down, dispersion goes up!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603" y="205009"/>
            <a:ext cx="2761397" cy="164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88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Zero-inflated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Discrete mixture distribution</a:t>
            </a:r>
          </a:p>
          <a:p>
            <a:r>
              <a:rPr lang="en-US" dirty="0"/>
              <a:t>Use when you have count data with a lot of 0s</a:t>
            </a:r>
          </a:p>
          <a:p>
            <a:pPr lvl="1"/>
            <a:r>
              <a:rPr lang="en-US" dirty="0"/>
              <a:t>Possibly include as a separate topic?</a:t>
            </a:r>
            <a:br>
              <a:rPr lang="en-US" dirty="0"/>
            </a:br>
            <a:endParaRPr lang="en-US" dirty="0"/>
          </a:p>
          <a:p>
            <a:r>
              <a:rPr lang="en-US" dirty="0"/>
              <a:t>Zero-inflated probability distributions are called “mixture distributions”</a:t>
            </a:r>
          </a:p>
          <a:p>
            <a:r>
              <a:rPr lang="en-US" dirty="0"/>
              <a:t>Often, they model the probability of transitioning from 0 to 1, and 1 to </a:t>
            </a:r>
            <a:r>
              <a:rPr lang="en-US" dirty="0" err="1"/>
              <a:t>Inf</a:t>
            </a:r>
            <a:r>
              <a:rPr lang="en-US" dirty="0"/>
              <a:t> separately  (called a “hurdle model”)</a:t>
            </a:r>
          </a:p>
          <a:p>
            <a:r>
              <a:rPr lang="en-US" dirty="0"/>
              <a:t>The most common version of this is the zero-inflated negative binomial</a:t>
            </a:r>
          </a:p>
          <a:p>
            <a:r>
              <a:rPr lang="en-US" dirty="0" err="1"/>
              <a:t>zeroinfl</a:t>
            </a:r>
            <a:r>
              <a:rPr lang="en-US" dirty="0"/>
              <a:t> in </a:t>
            </a:r>
            <a:r>
              <a:rPr lang="en-US" dirty="0" err="1"/>
              <a:t>pscl</a:t>
            </a:r>
            <a:r>
              <a:rPr lang="en-US" dirty="0"/>
              <a:t> package - </a:t>
            </a:r>
            <a:r>
              <a:rPr lang="en-US" dirty="0">
                <a:hlinkClick r:id="rId2"/>
              </a:rPr>
              <a:t>https://www.rdocumentation.org/packages/pscl/versions/1.5.2/topics/zeroinfl</a:t>
            </a:r>
            <a:r>
              <a:rPr lang="en-US" dirty="0"/>
              <a:t> </a:t>
            </a:r>
          </a:p>
          <a:p>
            <a:r>
              <a:rPr lang="en-US" dirty="0"/>
              <a:t>Options are all discrete!</a:t>
            </a:r>
          </a:p>
          <a:p>
            <a:pPr lvl="1"/>
            <a:r>
              <a:rPr lang="en-US" dirty="0"/>
              <a:t>It is not that complicated though to extend to continuous </a:t>
            </a:r>
            <a:r>
              <a:rPr lang="mr-IN" dirty="0"/>
              <a:t>–</a:t>
            </a:r>
            <a:r>
              <a:rPr lang="en-US" dirty="0"/>
              <a:t> see http://</a:t>
            </a:r>
            <a:r>
              <a:rPr lang="en-US" dirty="0" err="1"/>
              <a:t>seananderson.ca</a:t>
            </a:r>
            <a:r>
              <a:rPr lang="en-US" dirty="0"/>
              <a:t>/2014/05/18/gamma-hurdle/</a:t>
            </a:r>
          </a:p>
        </p:txBody>
      </p:sp>
    </p:spTree>
    <p:extLst>
      <p:ext uri="{BB962C8B-B14F-4D97-AF65-F5344CB8AC3E}">
        <p14:creationId xmlns:p14="http://schemas.microsoft.com/office/powerpoint/2010/main" val="4199388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4175"/>
            <a:ext cx="9803878" cy="509788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Continuous</a:t>
            </a:r>
          </a:p>
          <a:p>
            <a:r>
              <a:rPr lang="en-US" dirty="0"/>
              <a:t>Two parameter, right skewed distribution</a:t>
            </a:r>
          </a:p>
          <a:p>
            <a:pPr lvl="1"/>
            <a:r>
              <a:rPr lang="en-US" dirty="0"/>
              <a:t>Important: R’s parameterization of this distribution is wacky. </a:t>
            </a:r>
          </a:p>
          <a:p>
            <a:pPr lvl="1"/>
            <a:r>
              <a:rPr lang="en-US" dirty="0"/>
              <a:t>The gamma distribution typically has a </a:t>
            </a:r>
            <a:r>
              <a:rPr lang="en-US" dirty="0">
                <a:hlinkClick r:id="rId3" tooltip="Shape parameter"/>
              </a:rPr>
              <a:t>shape parameter</a:t>
            </a:r>
            <a:r>
              <a:rPr lang="en-US" dirty="0"/>
              <a:t> </a:t>
            </a:r>
            <a:r>
              <a:rPr lang="en-US" i="1" dirty="0"/>
              <a:t>k</a:t>
            </a:r>
            <a:r>
              <a:rPr lang="en-US" dirty="0"/>
              <a:t> and a </a:t>
            </a:r>
            <a:r>
              <a:rPr lang="en-US" dirty="0">
                <a:hlinkClick r:id="rId4" tooltip="Scale parameter"/>
              </a:rPr>
              <a:t>scale parameter</a:t>
            </a:r>
            <a:r>
              <a:rPr lang="en-US" dirty="0"/>
              <a:t> </a:t>
            </a:r>
            <a:r>
              <a:rPr lang="en-US" dirty="0">
                <a:sym typeface="Symbol" charset="2"/>
              </a:rPr>
              <a:t></a:t>
            </a:r>
            <a:r>
              <a:rPr lang="en-US" dirty="0">
                <a:effectLst/>
              </a:rPr>
              <a:t> 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R, it has the shape parameter </a:t>
            </a:r>
            <a:r>
              <a:rPr lang="en-US" dirty="0">
                <a:sym typeface="Symbol" charset="2"/>
              </a:rPr>
              <a:t></a:t>
            </a:r>
            <a:r>
              <a:rPr lang="en-US" dirty="0">
                <a:effectLst/>
              </a:rPr>
              <a:t> </a:t>
            </a:r>
            <a:r>
              <a:rPr lang="en-US" dirty="0"/>
              <a:t>, and an inverse scale parameter </a:t>
            </a:r>
            <a:r>
              <a:rPr lang="en-US" dirty="0">
                <a:sym typeface="Symbol" charset="2"/>
              </a:rPr>
              <a:t></a:t>
            </a:r>
            <a:r>
              <a:rPr lang="en-US" dirty="0">
                <a:effectLst/>
              </a:rPr>
              <a:t> = 1 / </a:t>
            </a:r>
            <a:r>
              <a:rPr lang="en-US" dirty="0">
                <a:sym typeface="Symbol" charset="2"/>
              </a:rPr>
              <a:t></a:t>
            </a:r>
          </a:p>
          <a:p>
            <a:pPr lvl="1"/>
            <a:endParaRPr lang="en-US" dirty="0">
              <a:sym typeface="Symbol" charset="2"/>
            </a:endParaRPr>
          </a:p>
          <a:p>
            <a:r>
              <a:rPr lang="en-US" dirty="0">
                <a:sym typeface="Symbol" charset="2"/>
              </a:rPr>
              <a:t>I use the Gamma quite a bit </a:t>
            </a:r>
            <a:r>
              <a:rPr lang="mr-IN" dirty="0">
                <a:sym typeface="Symbol" charset="2"/>
              </a:rPr>
              <a:t>–</a:t>
            </a:r>
            <a:r>
              <a:rPr lang="en-US" dirty="0">
                <a:sym typeface="Symbol" charset="2"/>
              </a:rPr>
              <a:t> lots of things are right skewed and continuous</a:t>
            </a:r>
          </a:p>
          <a:p>
            <a:r>
              <a:rPr lang="en-US" dirty="0">
                <a:sym typeface="Symbol" charset="2"/>
              </a:rPr>
              <a:t>Something to be careful of when we start using gamma </a:t>
            </a:r>
            <a:r>
              <a:rPr lang="en-US" dirty="0" err="1">
                <a:sym typeface="Symbol" charset="2"/>
              </a:rPr>
              <a:t>glms</a:t>
            </a:r>
            <a:r>
              <a:rPr lang="en-US" dirty="0">
                <a:sym typeface="Symbol" charset="2"/>
              </a:rPr>
              <a:t> (I’ll remind you again then)</a:t>
            </a:r>
            <a:r>
              <a:rPr lang="mr-IN" dirty="0">
                <a:sym typeface="Symbol" charset="2"/>
              </a:rPr>
              <a:t>–</a:t>
            </a:r>
            <a:r>
              <a:rPr lang="en-US" dirty="0">
                <a:sym typeface="Symbol" charset="2"/>
              </a:rPr>
              <a:t> the canonical link function (the function that makes the outcome linear) is inverse. Therefore, when you interpret your coefficient output, it is the OPPOSITE of what you think </a:t>
            </a:r>
            <a:r>
              <a:rPr lang="mr-IN" dirty="0">
                <a:sym typeface="Symbol" charset="2"/>
              </a:rPr>
              <a:t>–</a:t>
            </a:r>
            <a:r>
              <a:rPr lang="en-US" dirty="0">
                <a:sym typeface="Symbol" charset="2"/>
              </a:rPr>
              <a:t> negative </a:t>
            </a:r>
            <a:r>
              <a:rPr lang="en-US" dirty="0" err="1">
                <a:sym typeface="Symbol" charset="2"/>
              </a:rPr>
              <a:t>coefs</a:t>
            </a:r>
            <a:r>
              <a:rPr lang="en-US" dirty="0">
                <a:sym typeface="Symbol" charset="2"/>
              </a:rPr>
              <a:t> are positive, and vice versa. </a:t>
            </a:r>
          </a:p>
          <a:p>
            <a:r>
              <a:rPr lang="en-US" dirty="0">
                <a:sym typeface="Symbol" charset="2"/>
              </a:rPr>
              <a:t>0 is not included in the gamma distribution; it is not uncommon to add a small “continuity correction” to make your zero values &gt;0 (e.g. add 0.0001 to all values). (Note: I wouldn’t do this is you have </a:t>
            </a:r>
            <a:r>
              <a:rPr lang="en-US" i="1" dirty="0">
                <a:sym typeface="Symbol" charset="2"/>
              </a:rPr>
              <a:t>a lot</a:t>
            </a:r>
            <a:r>
              <a:rPr lang="en-US" dirty="0">
                <a:sym typeface="Symbol" charset="2"/>
              </a:rPr>
              <a:t> of 0s, or if zero means something very specific in your dataset.)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408" y="0"/>
            <a:ext cx="2747749" cy="206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98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Distributions in R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8650" y="2104575"/>
            <a:ext cx="11211359" cy="44715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 has a standard set of functions for each distribution</a:t>
            </a:r>
          </a:p>
          <a:p>
            <a:endParaRPr lang="en-US" dirty="0"/>
          </a:p>
          <a:p>
            <a:r>
              <a:rPr lang="en-US" dirty="0"/>
              <a:t>Normal: </a:t>
            </a:r>
            <a:r>
              <a:rPr lang="en-US" dirty="0" err="1"/>
              <a:t>dnorm</a:t>
            </a:r>
            <a:r>
              <a:rPr lang="en-US" dirty="0"/>
              <a:t>, </a:t>
            </a:r>
            <a:r>
              <a:rPr lang="en-US" dirty="0" err="1"/>
              <a:t>pnorm</a:t>
            </a:r>
            <a:r>
              <a:rPr lang="en-US" dirty="0"/>
              <a:t>, </a:t>
            </a:r>
            <a:r>
              <a:rPr lang="en-US" dirty="0" err="1"/>
              <a:t>qnorm</a:t>
            </a:r>
            <a:r>
              <a:rPr lang="en-US" dirty="0"/>
              <a:t>, </a:t>
            </a:r>
            <a:r>
              <a:rPr lang="en-US" dirty="0" err="1"/>
              <a:t>rnorm</a:t>
            </a:r>
            <a:endParaRPr lang="en-US" dirty="0"/>
          </a:p>
          <a:p>
            <a:r>
              <a:rPr lang="en-US" dirty="0"/>
              <a:t>Binomial: </a:t>
            </a:r>
            <a:r>
              <a:rPr lang="en-US" dirty="0" err="1"/>
              <a:t>dbinom</a:t>
            </a:r>
            <a:r>
              <a:rPr lang="en-US" dirty="0"/>
              <a:t>, </a:t>
            </a:r>
            <a:r>
              <a:rPr lang="en-US" dirty="0" err="1"/>
              <a:t>pbinom</a:t>
            </a:r>
            <a:r>
              <a:rPr lang="en-US" dirty="0"/>
              <a:t>, </a:t>
            </a:r>
            <a:r>
              <a:rPr lang="en-US" dirty="0" err="1"/>
              <a:t>qbinom</a:t>
            </a:r>
            <a:r>
              <a:rPr lang="en-US" dirty="0"/>
              <a:t>, </a:t>
            </a:r>
            <a:r>
              <a:rPr lang="en-US" dirty="0" err="1"/>
              <a:t>rbinom</a:t>
            </a:r>
            <a:endParaRPr lang="en-US" dirty="0"/>
          </a:p>
          <a:p>
            <a:r>
              <a:rPr lang="en-US" dirty="0"/>
              <a:t>Poisson: </a:t>
            </a:r>
            <a:r>
              <a:rPr lang="en-US" dirty="0" err="1"/>
              <a:t>dpois</a:t>
            </a:r>
            <a:r>
              <a:rPr lang="en-US" dirty="0"/>
              <a:t>, </a:t>
            </a:r>
            <a:r>
              <a:rPr lang="en-US" dirty="0" err="1"/>
              <a:t>ppois</a:t>
            </a:r>
            <a:r>
              <a:rPr lang="en-US" dirty="0"/>
              <a:t>, </a:t>
            </a:r>
            <a:r>
              <a:rPr lang="en-US" dirty="0" err="1"/>
              <a:t>qpois</a:t>
            </a:r>
            <a:r>
              <a:rPr lang="en-US" dirty="0"/>
              <a:t>, </a:t>
            </a:r>
            <a:r>
              <a:rPr lang="en-US" dirty="0" err="1"/>
              <a:t>rpois</a:t>
            </a:r>
            <a:endParaRPr lang="en-US" dirty="0"/>
          </a:p>
          <a:p>
            <a:r>
              <a:rPr lang="en-US" dirty="0"/>
              <a:t>Negative binomial: </a:t>
            </a:r>
            <a:r>
              <a:rPr lang="en-US" dirty="0" err="1"/>
              <a:t>dnbinom</a:t>
            </a:r>
            <a:r>
              <a:rPr lang="en-US" dirty="0"/>
              <a:t>, </a:t>
            </a:r>
            <a:r>
              <a:rPr lang="en-US" dirty="0" err="1"/>
              <a:t>pnbinom</a:t>
            </a:r>
            <a:r>
              <a:rPr lang="en-US" dirty="0"/>
              <a:t>, </a:t>
            </a:r>
            <a:r>
              <a:rPr lang="en-US" dirty="0" err="1"/>
              <a:t>qnbinom</a:t>
            </a:r>
            <a:r>
              <a:rPr lang="en-US" dirty="0"/>
              <a:t>, </a:t>
            </a:r>
            <a:r>
              <a:rPr lang="en-US" dirty="0" err="1"/>
              <a:t>rnbinom</a:t>
            </a:r>
            <a:r>
              <a:rPr lang="en-US" dirty="0"/>
              <a:t> </a:t>
            </a:r>
          </a:p>
          <a:p>
            <a:r>
              <a:rPr lang="en-US" dirty="0"/>
              <a:t>Etc.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Density, (cumulative) distribution function, quantile function and random number generation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2" descr="https://upload.wikimedia.org/wikipedia/commons/thumb/8/8c/Standard_deviation_diagram.svg/2000px-Standard_deviation_diagram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069" y="115444"/>
            <a:ext cx="4303940" cy="215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186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function (</a:t>
            </a:r>
            <a:r>
              <a:rPr lang="en-US" dirty="0" err="1"/>
              <a:t>dnorm</a:t>
            </a:r>
            <a:r>
              <a:rPr lang="en-US" dirty="0"/>
              <a:t>, </a:t>
            </a:r>
            <a:r>
              <a:rPr lang="en-US" dirty="0" err="1"/>
              <a:t>dbinom</a:t>
            </a:r>
            <a:r>
              <a:rPr lang="en-US" dirty="0"/>
              <a:t>, </a:t>
            </a:r>
            <a:r>
              <a:rPr lang="en-US" dirty="0" err="1"/>
              <a:t>dgamma</a:t>
            </a:r>
            <a:r>
              <a:rPr lang="en-US" dirty="0"/>
              <a:t>, </a:t>
            </a:r>
            <a:r>
              <a:rPr lang="en-US" dirty="0" err="1"/>
              <a:t>dpois</a:t>
            </a:r>
            <a:r>
              <a:rPr lang="en-US" dirty="0"/>
              <a:t>,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dnorm</a:t>
            </a:r>
            <a:r>
              <a:rPr lang="en-US" dirty="0"/>
              <a:t> is the function that calculates the probability density function (PDF) of a normal distribution (or PMF for discrete distributions)</a:t>
            </a:r>
          </a:p>
          <a:p>
            <a:endParaRPr lang="en-US" dirty="0"/>
          </a:p>
          <a:p>
            <a:pPr lvl="1"/>
            <a:r>
              <a:rPr lang="en-US" dirty="0"/>
              <a:t>Density functions in R are generally more useful for discrete events than continuous (e.g. binomial distributions rather than normal) </a:t>
            </a:r>
          </a:p>
          <a:p>
            <a:pPr lvl="2"/>
            <a:r>
              <a:rPr lang="en-US" dirty="0"/>
              <a:t>This is because the probability of any given value in a continuous distribution is 0, so you need a range, and you need to add up all the probabilities within that range under the curve (e.g. integrate)</a:t>
            </a:r>
          </a:p>
          <a:p>
            <a:pPr lvl="2"/>
            <a:endParaRPr lang="en-US" dirty="0"/>
          </a:p>
          <a:p>
            <a:r>
              <a:rPr lang="en-US" dirty="0"/>
              <a:t>The PDF is essentially used to specify the probability of a random variable (</a:t>
            </a:r>
            <a:r>
              <a:rPr lang="en-US" dirty="0" err="1"/>
              <a:t>e.g</a:t>
            </a:r>
            <a:r>
              <a:rPr lang="en-US" dirty="0"/>
              <a:t> an outcome, like number of lizards perching) falling within a particular range of values, as opposed to taking on any other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151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543D-1D36-F142-BF7D-9AE5E93F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PDF/PMF and Likelihood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B5D4-756E-EB4A-B2EB-3979B0B57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likelihood function give us an idea of how well our data </a:t>
            </a:r>
            <a:r>
              <a:rPr lang="en-US" dirty="0" err="1"/>
              <a:t>summarises</a:t>
            </a:r>
            <a:r>
              <a:rPr lang="en-US" dirty="0"/>
              <a:t> the parameters of distribution</a:t>
            </a:r>
          </a:p>
          <a:p>
            <a:pPr lvl="1"/>
            <a:r>
              <a:rPr lang="en-US" dirty="0"/>
              <a:t>We will ‘maximize the likelihood’ when fitting models and likelihood is closely tied (often exactly the same) as the PDF</a:t>
            </a:r>
          </a:p>
          <a:p>
            <a:endParaRPr lang="en-US" dirty="0"/>
          </a:p>
          <a:p>
            <a:r>
              <a:rPr lang="en-US" dirty="0"/>
              <a:t>While likelihoods and PDFs look the same, they are a bit different philosophically</a:t>
            </a:r>
          </a:p>
          <a:p>
            <a:pPr lvl="1"/>
            <a:r>
              <a:rPr lang="en-US" dirty="0"/>
              <a:t>PDF: functions of data points that tell you how likely it is that certain data point appears. In our coin flipping example, we think of p as constant (0.5)</a:t>
            </a:r>
          </a:p>
          <a:p>
            <a:pPr lvl="1"/>
            <a:r>
              <a:rPr lang="en-US" dirty="0"/>
              <a:t>Likelihoods: take the data set as given and represents the likeliness of different parameters for your distribution. In our coin flipping example, for a likelihood, we would assume our data are constant and we are estimating </a:t>
            </a:r>
            <a:r>
              <a:rPr lang="en-US" i="1" dirty="0"/>
              <a:t>p.</a:t>
            </a:r>
          </a:p>
          <a:p>
            <a:pPr lvl="2"/>
            <a:r>
              <a:rPr lang="en-US" dirty="0"/>
              <a:t> Our computer </a:t>
            </a:r>
            <a:r>
              <a:rPr lang="en-US" dirty="0" err="1"/>
              <a:t>alogorithm</a:t>
            </a:r>
            <a:r>
              <a:rPr lang="en-US" dirty="0"/>
              <a:t> will guess values of </a:t>
            </a:r>
            <a:r>
              <a:rPr lang="en-US" i="1" dirty="0"/>
              <a:t>p</a:t>
            </a:r>
            <a:r>
              <a:rPr lang="en-US" dirty="0"/>
              <a:t> and say, given the data, which </a:t>
            </a:r>
            <a:r>
              <a:rPr lang="en-US" i="1" dirty="0"/>
              <a:t>p</a:t>
            </a:r>
            <a:r>
              <a:rPr lang="en-US" dirty="0"/>
              <a:t> is more likely</a:t>
            </a:r>
          </a:p>
          <a:p>
            <a:pPr lvl="2"/>
            <a:r>
              <a:rPr lang="en-US" dirty="0"/>
              <a:t>Imagine we toss a coin 20 times and get 10 heads. Is </a:t>
            </a:r>
            <a:r>
              <a:rPr lang="en-US" i="1" dirty="0"/>
              <a:t>p</a:t>
            </a:r>
            <a:r>
              <a:rPr lang="en-US" dirty="0"/>
              <a:t> 0.5 or 0.47 or 0.51 ?</a:t>
            </a:r>
          </a:p>
        </p:txBody>
      </p:sp>
    </p:spTree>
    <p:extLst>
      <p:ext uri="{BB962C8B-B14F-4D97-AF65-F5344CB8AC3E}">
        <p14:creationId xmlns:p14="http://schemas.microsoft.com/office/powerpoint/2010/main" val="1520850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dbinom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 err="1"/>
              <a:t>dbinom</a:t>
            </a:r>
            <a:r>
              <a:rPr lang="en-US" dirty="0"/>
              <a:t> calculates the PMF of the binomial distribution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Suppose that I know that infection prevalence (e.g. probability of infection) is 20% (e.g. 0.2). What is the probability that one bat out of 25 is infected? </a:t>
            </a:r>
          </a:p>
          <a:p>
            <a:endParaRPr lang="en-US" dirty="0"/>
          </a:p>
          <a:p>
            <a:r>
              <a:rPr lang="is-IS" dirty="0"/>
              <a:t>dbinom(x = 1, size = 25, prob = 0.2)</a:t>
            </a:r>
          </a:p>
          <a:p>
            <a:pPr lvl="1"/>
            <a:r>
              <a:rPr lang="en-US" dirty="0"/>
              <a:t>C</a:t>
            </a:r>
            <a:r>
              <a:rPr lang="is-IS" dirty="0"/>
              <a:t>an also write dbinom(1,25,0.2)</a:t>
            </a:r>
          </a:p>
          <a:p>
            <a:pPr lvl="1"/>
            <a:r>
              <a:rPr lang="en-US" dirty="0"/>
              <a:t>#we use x=1 because we want to know the probability that exactly one 1 bat of 25 is infected at a global infection prevalence of 20%</a:t>
            </a:r>
          </a:p>
        </p:txBody>
      </p:sp>
    </p:spTree>
    <p:extLst>
      <p:ext uri="{BB962C8B-B14F-4D97-AF65-F5344CB8AC3E}">
        <p14:creationId xmlns:p14="http://schemas.microsoft.com/office/powerpoint/2010/main" val="873012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 functions (e.g. </a:t>
            </a:r>
            <a:r>
              <a:rPr lang="en-US" err="1"/>
              <a:t>pnorm</a:t>
            </a:r>
            <a:r>
              <a:rPr lang="en-US"/>
              <a:t>, </a:t>
            </a:r>
            <a:r>
              <a:rPr lang="en-US" err="1"/>
              <a:t>pbinom</a:t>
            </a:r>
            <a:r>
              <a:rPr lang="en-US"/>
              <a:t>, </a:t>
            </a:r>
            <a:r>
              <a:rPr lang="en-US" err="1"/>
              <a:t>etc</a:t>
            </a:r>
            <a:r>
              <a:rPr lang="en-US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Pnorm</a:t>
            </a:r>
            <a:r>
              <a:rPr lang="en-US" dirty="0"/>
              <a:t> gives the cumulative distribution function</a:t>
            </a:r>
          </a:p>
          <a:p>
            <a:pPr lvl="1"/>
            <a:r>
              <a:rPr lang="en-US" dirty="0"/>
              <a:t>This means that it gives the sum of all the probability from the lower end of the distribution (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 err="1"/>
              <a:t>Inf</a:t>
            </a:r>
            <a:r>
              <a:rPr lang="en-US" dirty="0"/>
              <a:t>) to </a:t>
            </a:r>
            <a:r>
              <a:rPr lang="en-US" i="1" dirty="0"/>
              <a:t>q</a:t>
            </a:r>
            <a:r>
              <a:rPr lang="en-US" dirty="0"/>
              <a:t> (the value you are interested in a cut off)</a:t>
            </a:r>
          </a:p>
          <a:p>
            <a:endParaRPr lang="en-US" dirty="0"/>
          </a:p>
          <a:p>
            <a:r>
              <a:rPr lang="en-US" dirty="0" err="1"/>
              <a:t>Pnorm</a:t>
            </a:r>
            <a:r>
              <a:rPr lang="en-US" dirty="0"/>
              <a:t> is the function that replaces the table of probability values and z-scores you might see at the back of a statistics text book</a:t>
            </a:r>
          </a:p>
          <a:p>
            <a:endParaRPr lang="en-US" dirty="0"/>
          </a:p>
          <a:p>
            <a:r>
              <a:rPr lang="en-US" dirty="0" err="1"/>
              <a:t>Pnorm</a:t>
            </a:r>
            <a:r>
              <a:rPr lang="en-US" dirty="0"/>
              <a:t> says what is the probability that the value is less than or </a:t>
            </a:r>
            <a:r>
              <a:rPr lang="en-US" b="1" dirty="0"/>
              <a:t>equal to</a:t>
            </a:r>
            <a:r>
              <a:rPr lang="en-US" dirty="0"/>
              <a:t> 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5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pnorm</a:t>
            </a:r>
            <a:r>
              <a:rPr lang="en-US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weight of a lizard is normally distributed with a mean of 17 grams, and a standard deviation 3. What is the probability that a lizard in a given population weighs less than 19 grams?</a:t>
            </a:r>
          </a:p>
          <a:p>
            <a:r>
              <a:rPr lang="en-US" dirty="0" err="1"/>
              <a:t>pnorm</a:t>
            </a:r>
            <a:r>
              <a:rPr lang="en-US" dirty="0"/>
              <a:t>(q = 19, mean = 17, </a:t>
            </a:r>
            <a:r>
              <a:rPr lang="en-US" dirty="0" err="1"/>
              <a:t>sd</a:t>
            </a:r>
            <a:r>
              <a:rPr lang="en-US" dirty="0"/>
              <a:t> =3)</a:t>
            </a:r>
          </a:p>
          <a:p>
            <a:endParaRPr lang="en-US" dirty="0"/>
          </a:p>
          <a:p>
            <a:r>
              <a:rPr lang="en-US" dirty="0"/>
              <a:t>#what is the probability a lizard weighs MORE than 19 grams?</a:t>
            </a:r>
          </a:p>
          <a:p>
            <a:r>
              <a:rPr lang="en-US" dirty="0" err="1"/>
              <a:t>pnorm</a:t>
            </a:r>
            <a:r>
              <a:rPr lang="en-US" dirty="0"/>
              <a:t>(q = 19, mean = 17, </a:t>
            </a:r>
            <a:r>
              <a:rPr lang="en-US" dirty="0" err="1"/>
              <a:t>sd</a:t>
            </a:r>
            <a:r>
              <a:rPr lang="en-US" dirty="0"/>
              <a:t> =3, </a:t>
            </a:r>
            <a:r>
              <a:rPr lang="en-US" b="1" dirty="0" err="1"/>
              <a:t>lower.tail</a:t>
            </a:r>
            <a:r>
              <a:rPr lang="en-US" b="1" dirty="0"/>
              <a:t> = F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Lower tail gives P[X &gt; x]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34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pbinom</a:t>
            </a:r>
            <a:r>
              <a:rPr lang="en-US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that I know that infection prevalence (e.g. probability of infection) is 20% (e.g. 0.2). What is the probability that </a:t>
            </a:r>
            <a:r>
              <a:rPr lang="en-US" b="1" dirty="0"/>
              <a:t>NO MORE THAN one</a:t>
            </a:r>
            <a:r>
              <a:rPr lang="en-US" dirty="0"/>
              <a:t> bat out of a sample size of 25 is infected? </a:t>
            </a:r>
          </a:p>
          <a:p>
            <a:pPr lvl="1"/>
            <a:r>
              <a:rPr lang="en-US" dirty="0"/>
              <a:t>What is your intuition?</a:t>
            </a:r>
          </a:p>
          <a:p>
            <a:pPr lvl="1"/>
            <a:endParaRPr lang="en-US" dirty="0"/>
          </a:p>
          <a:p>
            <a:r>
              <a:rPr lang="en-US" dirty="0"/>
              <a:t>Suppose that I know that infection prevalence (e.g. probability of infection) is 20% (e.g. 0.2). What is the probability that </a:t>
            </a:r>
            <a:r>
              <a:rPr lang="en-US" b="1" dirty="0"/>
              <a:t>NO MORE THAN five </a:t>
            </a:r>
            <a:r>
              <a:rPr lang="en-US" dirty="0"/>
              <a:t>bats out of a sample size of 25 are infected? </a:t>
            </a:r>
          </a:p>
          <a:p>
            <a:pPr lvl="1"/>
            <a:r>
              <a:rPr lang="en-US" dirty="0"/>
              <a:t>What is your intuition?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is a useful way of thinking about sample sizes (e.g. the probability of not detecting a single infected bat given my sample and a presumed prevalence)</a:t>
            </a:r>
          </a:p>
        </p:txBody>
      </p:sp>
    </p:spTree>
    <p:extLst>
      <p:ext uri="{BB962C8B-B14F-4D97-AF65-F5344CB8AC3E}">
        <p14:creationId xmlns:p14="http://schemas.microsoft.com/office/powerpoint/2010/main" val="23607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quantiles functions (e.g. </a:t>
            </a:r>
            <a:r>
              <a:rPr lang="en-US" err="1"/>
              <a:t>qnorm</a:t>
            </a:r>
            <a:r>
              <a:rPr lang="en-US"/>
              <a:t>, </a:t>
            </a:r>
            <a:r>
              <a:rPr lang="en-US" err="1"/>
              <a:t>qbinom</a:t>
            </a:r>
            <a:r>
              <a:rPr lang="en-US"/>
              <a:t>, </a:t>
            </a:r>
            <a:r>
              <a:rPr lang="en-US" err="1"/>
              <a:t>qpois</a:t>
            </a:r>
            <a:r>
              <a:rPr lang="en-US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quantile functions calculates the inverse of the cumulative distribution function (which you can think of as the inverse of </a:t>
            </a:r>
            <a:r>
              <a:rPr lang="en-US" dirty="0" err="1"/>
              <a:t>pnorm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It says, given a known probability between 0 and 1, what is the percentile of that value?</a:t>
            </a:r>
          </a:p>
          <a:p>
            <a:endParaRPr lang="en-US" dirty="0"/>
          </a:p>
          <a:p>
            <a:r>
              <a:rPr lang="en-US" dirty="0"/>
              <a:t>Given a </a:t>
            </a:r>
            <a:r>
              <a:rPr lang="en-US" i="1" dirty="0"/>
              <a:t>p</a:t>
            </a:r>
            <a:r>
              <a:rPr lang="en-US" dirty="0"/>
              <a:t> between 0 and 1, </a:t>
            </a:r>
            <a:r>
              <a:rPr lang="en-US" dirty="0" err="1"/>
              <a:t>qnorm</a:t>
            </a:r>
            <a:r>
              <a:rPr lang="en-US" dirty="0"/>
              <a:t> will like up the p-</a:t>
            </a:r>
            <a:r>
              <a:rPr lang="en-US" dirty="0" err="1"/>
              <a:t>th</a:t>
            </a:r>
            <a:r>
              <a:rPr lang="en-US" dirty="0"/>
              <a:t> quantile of the distribution</a:t>
            </a:r>
          </a:p>
        </p:txBody>
      </p:sp>
    </p:spTree>
    <p:extLst>
      <p:ext uri="{BB962C8B-B14F-4D97-AF65-F5344CB8AC3E}">
        <p14:creationId xmlns:p14="http://schemas.microsoft.com/office/powerpoint/2010/main" val="258712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qnorm</a:t>
            </a:r>
            <a:r>
              <a:rPr lang="en-US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femur length of fossilized mammoths is normally distributed with a mean of 115 cm, and a standard deviation of 15 cm. What would the 85</a:t>
            </a:r>
            <a:r>
              <a:rPr lang="en-US" baseline="30000" dirty="0"/>
              <a:t>th</a:t>
            </a:r>
            <a:r>
              <a:rPr lang="en-US" dirty="0"/>
              <a:t> percentile of femur length be?</a:t>
            </a:r>
          </a:p>
          <a:p>
            <a:endParaRPr lang="en-US" dirty="0"/>
          </a:p>
          <a:p>
            <a:r>
              <a:rPr lang="en-US" dirty="0" err="1"/>
              <a:t>qnorm</a:t>
            </a:r>
            <a:r>
              <a:rPr lang="en-US" dirty="0"/>
              <a:t>(p =0.85, mean=115, </a:t>
            </a:r>
            <a:r>
              <a:rPr lang="en-US" dirty="0" err="1"/>
              <a:t>sd</a:t>
            </a:r>
            <a:r>
              <a:rPr lang="en-US" dirty="0"/>
              <a:t>=15)</a:t>
            </a:r>
          </a:p>
          <a:p>
            <a:endParaRPr lang="en-US" dirty="0"/>
          </a:p>
          <a:p>
            <a:r>
              <a:rPr lang="en-US" dirty="0"/>
              <a:t>“q” functions can tell you how “extreme” your value is if you have a known mean and </a:t>
            </a:r>
            <a:r>
              <a:rPr lang="en-US" dirty="0" err="1"/>
              <a:t>sd</a:t>
            </a:r>
            <a:r>
              <a:rPr lang="en-US" dirty="0"/>
              <a:t> (or other parameters)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47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draws (</a:t>
            </a:r>
            <a:r>
              <a:rPr lang="en-US" err="1"/>
              <a:t>rnorm</a:t>
            </a:r>
            <a:r>
              <a:rPr lang="en-US"/>
              <a:t>, </a:t>
            </a:r>
            <a:r>
              <a:rPr lang="en-US" err="1"/>
              <a:t>rbinom</a:t>
            </a:r>
            <a:r>
              <a:rPr lang="en-US"/>
              <a:t>, </a:t>
            </a:r>
            <a:r>
              <a:rPr lang="en-US" err="1"/>
              <a:t>rgamma</a:t>
            </a:r>
            <a:r>
              <a:rPr lang="en-US"/>
              <a:t>, </a:t>
            </a:r>
            <a:r>
              <a:rPr lang="en-US" err="1"/>
              <a:t>rpois</a:t>
            </a:r>
            <a:r>
              <a:rPr lang="en-US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function will simulate random variates from a specified distribution with certain attributes</a:t>
            </a:r>
          </a:p>
          <a:p>
            <a:endParaRPr lang="en-US" dirty="0"/>
          </a:p>
          <a:p>
            <a:r>
              <a:rPr lang="en-US" dirty="0"/>
              <a:t>These are very useful for simulation, bootstrapping, etc.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51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draw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take 100 random draws from a Poisson distribution </a:t>
            </a:r>
          </a:p>
          <a:p>
            <a:pPr lvl="1"/>
            <a:r>
              <a:rPr lang="en-US" dirty="0"/>
              <a:t>This distribution has a single parameter! Lambda.</a:t>
            </a:r>
          </a:p>
          <a:p>
            <a:pPr lvl="1"/>
            <a:r>
              <a:rPr lang="fr-FR" dirty="0"/>
              <a:t> </a:t>
            </a:r>
            <a:r>
              <a:rPr lang="fr-FR" dirty="0" err="1"/>
              <a:t>rpois</a:t>
            </a:r>
            <a:r>
              <a:rPr lang="fr-FR" dirty="0"/>
              <a:t>(100, lambda = 3)</a:t>
            </a:r>
          </a:p>
          <a:p>
            <a:endParaRPr lang="fr-FR" dirty="0"/>
          </a:p>
          <a:p>
            <a:r>
              <a:rPr lang="fr-FR" dirty="0" err="1"/>
              <a:t>Take</a:t>
            </a:r>
            <a:r>
              <a:rPr lang="fr-FR" dirty="0"/>
              <a:t> 50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draws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a </a:t>
            </a:r>
            <a:r>
              <a:rPr lang="fr-FR" dirty="0" err="1"/>
              <a:t>negative</a:t>
            </a:r>
            <a:r>
              <a:rPr lang="fr-FR" dirty="0"/>
              <a:t> binomial distribution</a:t>
            </a:r>
          </a:p>
          <a:p>
            <a:r>
              <a:rPr lang="tr-TR" dirty="0"/>
              <a:t>x = </a:t>
            </a:r>
            <a:r>
              <a:rPr lang="tr-TR" dirty="0" err="1"/>
              <a:t>rnbinom</a:t>
            </a:r>
            <a:r>
              <a:rPr lang="tr-TR" dirty="0"/>
              <a:t>(50, size = 10, mu = 2)</a:t>
            </a:r>
          </a:p>
          <a:p>
            <a:r>
              <a:rPr lang="tr-TR" dirty="0" err="1"/>
              <a:t>Ecological</a:t>
            </a:r>
            <a:r>
              <a:rPr lang="tr-TR" dirty="0"/>
              <a:t> </a:t>
            </a:r>
            <a:r>
              <a:rPr lang="tr-TR" dirty="0" err="1"/>
              <a:t>parameterization</a:t>
            </a:r>
            <a:r>
              <a:rPr lang="tr-TR" dirty="0"/>
              <a:t> is </a:t>
            </a:r>
            <a:r>
              <a:rPr lang="tr-TR" dirty="0" err="1"/>
              <a:t>usually</a:t>
            </a:r>
            <a:r>
              <a:rPr lang="tr-TR" dirty="0"/>
              <a:t> size (</a:t>
            </a:r>
            <a:r>
              <a:rPr lang="tr-TR" dirty="0" err="1"/>
              <a:t>dispersion</a:t>
            </a:r>
            <a:r>
              <a:rPr lang="tr-TR" dirty="0"/>
              <a:t>  </a:t>
            </a:r>
            <a:r>
              <a:rPr lang="tr-TR" dirty="0" err="1"/>
              <a:t>or</a:t>
            </a:r>
            <a:r>
              <a:rPr lang="tr-TR" dirty="0"/>
              <a:t> k) </a:t>
            </a:r>
            <a:r>
              <a:rPr lang="tr-TR" dirty="0" err="1"/>
              <a:t>and</a:t>
            </a:r>
            <a:r>
              <a:rPr lang="tr-TR" dirty="0"/>
              <a:t> mu (</a:t>
            </a:r>
            <a:r>
              <a:rPr lang="tr-TR" dirty="0" err="1"/>
              <a:t>mean</a:t>
            </a:r>
            <a:r>
              <a:rPr lang="tr-TR" dirty="0"/>
              <a:t>)</a:t>
            </a:r>
          </a:p>
          <a:p>
            <a:pPr lvl="1"/>
            <a:r>
              <a:rPr lang="tr-TR" b="1" dirty="0" err="1"/>
              <a:t>Non-intuitively</a:t>
            </a:r>
            <a:r>
              <a:rPr lang="tr-TR" b="1" dirty="0"/>
              <a:t>, a </a:t>
            </a:r>
            <a:r>
              <a:rPr lang="tr-TR" b="1" dirty="0" err="1"/>
              <a:t>smaller</a:t>
            </a:r>
            <a:r>
              <a:rPr lang="tr-TR" b="1" dirty="0"/>
              <a:t> “size” </a:t>
            </a:r>
            <a:r>
              <a:rPr lang="tr-TR" b="1" dirty="0" err="1"/>
              <a:t>means</a:t>
            </a:r>
            <a:r>
              <a:rPr lang="tr-TR" b="1" dirty="0"/>
              <a:t> </a:t>
            </a:r>
            <a:r>
              <a:rPr lang="tr-TR" b="1" dirty="0" err="1"/>
              <a:t>more</a:t>
            </a:r>
            <a:r>
              <a:rPr lang="tr-TR" b="1" dirty="0"/>
              <a:t> </a:t>
            </a:r>
            <a:r>
              <a:rPr lang="tr-TR" b="1" dirty="0" err="1"/>
              <a:t>overdispersion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703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(or more) levels of understanding of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Pragmatic/utilitarian understanding</a:t>
            </a:r>
          </a:p>
          <a:p>
            <a:pPr lvl="1"/>
            <a:r>
              <a:rPr lang="en-US" dirty="0"/>
              <a:t>Properties of distributions</a:t>
            </a:r>
          </a:p>
          <a:p>
            <a:pPr lvl="1"/>
            <a:r>
              <a:rPr lang="en-US" dirty="0"/>
              <a:t>When to use them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Deeper understanding</a:t>
            </a:r>
          </a:p>
          <a:p>
            <a:pPr lvl="1"/>
            <a:r>
              <a:rPr lang="en-US" dirty="0"/>
              <a:t>Theoretical derivation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1A-49D8-4124-9BCC-7FB03C329A09}" type="slidenum">
              <a:rPr lang="en-US" b="1" smtClean="0"/>
              <a:t>32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603613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073F-E255-D04C-B0C6-F13F12F2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 this chart to answer the next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CBF58-187B-934F-846C-B86CF0875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416477"/>
            <a:ext cx="8204200" cy="51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51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distributions would these be?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Counts of bats, microbes, predators</a:t>
            </a:r>
          </a:p>
          <a:p>
            <a:r>
              <a:rPr lang="en-US" dirty="0"/>
              <a:t>Density of bears, big cats</a:t>
            </a:r>
          </a:p>
          <a:p>
            <a:r>
              <a:rPr lang="en-US" dirty="0"/>
              <a:t>Weight of soil cores</a:t>
            </a:r>
          </a:p>
          <a:p>
            <a:r>
              <a:rPr lang="en-US" dirty="0"/>
              <a:t>The number of hatched hellbender eggs</a:t>
            </a:r>
          </a:p>
          <a:p>
            <a:r>
              <a:rPr lang="en-US" dirty="0"/>
              <a:t>survival time of plants/birds/ extinct organisms (?)</a:t>
            </a:r>
          </a:p>
          <a:p>
            <a:r>
              <a:rPr lang="en-US" dirty="0"/>
              <a:t>Number of behaviors performed by snakes</a:t>
            </a:r>
          </a:p>
          <a:p>
            <a:r>
              <a:rPr lang="en-US" dirty="0"/>
              <a:t>Concentration of chemical, pathogens, oxygen</a:t>
            </a:r>
          </a:p>
          <a:p>
            <a:r>
              <a:rPr lang="en-US" dirty="0"/>
              <a:t>Lengths of extinct shell builders</a:t>
            </a:r>
          </a:p>
          <a:p>
            <a:r>
              <a:rPr lang="en-US" dirty="0"/>
              <a:t>Answer to question: Was the fish nest abandoned?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1A-49D8-4124-9BCC-7FB03C329A09}" type="slidenum">
              <a:rPr lang="en-US" b="1" smtClean="0"/>
              <a:t>34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56859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367"/>
            <a:ext cx="10515600" cy="47575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wolf population has 500 pairs remaining.  If each wolf pair normally has around a 4 pups, but the fraction of wolves born with a lethal recessive allele is 0.2, how many live offspring are likely to be born alive?</a:t>
            </a:r>
            <a:br>
              <a:rPr lang="en-US" dirty="0"/>
            </a:br>
            <a:r>
              <a:rPr lang="en-US" dirty="0"/>
              <a:t>(Hint </a:t>
            </a:r>
            <a:r>
              <a:rPr lang="mr-IN" dirty="0"/>
              <a:t>–</a:t>
            </a:r>
            <a:r>
              <a:rPr lang="en-US" dirty="0"/>
              <a:t> you need to draw randomly from 2 different distributions!)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there are 1000 seeds in a seedbank and each seed has a 2% chance of being eaten and a 1% probability of sprouting each day, how many seedlings would we expect to see sprouting each day? </a:t>
            </a:r>
          </a:p>
          <a:p>
            <a:r>
              <a:rPr lang="en-US" dirty="0"/>
              <a:t>The number of eggs laid by squid varies dramatically among individuals. The mean number of eggs is 300, but the dispersion is 1. What is the 85</a:t>
            </a:r>
            <a:r>
              <a:rPr lang="en-US" baseline="30000" dirty="0"/>
              <a:t>th</a:t>
            </a:r>
            <a:r>
              <a:rPr lang="en-US" dirty="0"/>
              <a:t> percentile of the number of eggs laid?</a:t>
            </a:r>
          </a:p>
          <a:p>
            <a:r>
              <a:rPr lang="en-US" dirty="0"/>
              <a:t>I census 15 populations of </a:t>
            </a:r>
            <a:r>
              <a:rPr lang="en-US" dirty="0" err="1"/>
              <a:t>pikas</a:t>
            </a:r>
            <a:r>
              <a:rPr lang="en-US" dirty="0"/>
              <a:t> on 15 mountains. I find that the average population size is 10. What is the probability of  a population of more than 12 individuals?</a:t>
            </a:r>
            <a:br>
              <a:rPr lang="en-US" dirty="0"/>
            </a:br>
            <a:r>
              <a:rPr lang="en-US" dirty="0"/>
              <a:t>(Hint </a:t>
            </a:r>
            <a:r>
              <a:rPr lang="mr-IN" dirty="0"/>
              <a:t>–</a:t>
            </a:r>
            <a:r>
              <a:rPr lang="en-US" dirty="0"/>
              <a:t> there is information here that you don’t need</a:t>
            </a:r>
            <a:r>
              <a:rPr lang="mr-IN" dirty="0"/>
              <a:t>…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1A-49D8-4124-9BCC-7FB03C329A0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7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2534</TotalTime>
  <Words>3051</Words>
  <Application>Microsoft Macintosh PowerPoint</Application>
  <PresentationFormat>Widescreen</PresentationFormat>
  <Paragraphs>294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Symbol</vt:lpstr>
      <vt:lpstr>Office Theme</vt:lpstr>
      <vt:lpstr>Week 6 Science Writing &amp; Distributions</vt:lpstr>
      <vt:lpstr>Reading</vt:lpstr>
      <vt:lpstr>Review</vt:lpstr>
      <vt:lpstr>Goals</vt:lpstr>
      <vt:lpstr>Distributions</vt:lpstr>
      <vt:lpstr>What is a probability distribution?</vt:lpstr>
      <vt:lpstr>Discrete probability distributions</vt:lpstr>
      <vt:lpstr>Continuous probability distributions</vt:lpstr>
      <vt:lpstr>Normal distribution</vt:lpstr>
      <vt:lpstr>A tree of distributions (Reading, P182)</vt:lpstr>
      <vt:lpstr>Distribution properties</vt:lpstr>
      <vt:lpstr>Means, Variances, and higher moments</vt:lpstr>
      <vt:lpstr>Binomial distribution</vt:lpstr>
      <vt:lpstr>Probability mass function of binomial distribution</vt:lpstr>
      <vt:lpstr>Cumulative distribution function</vt:lpstr>
      <vt:lpstr>Binomial distribution example</vt:lpstr>
      <vt:lpstr>Poisson distribution</vt:lpstr>
      <vt:lpstr>Negative Binomial</vt:lpstr>
      <vt:lpstr>Zero-inflated distributions</vt:lpstr>
      <vt:lpstr>Gamma</vt:lpstr>
      <vt:lpstr>Distributions in R</vt:lpstr>
      <vt:lpstr>Density function (dnorm, dbinom, dgamma, dpois, etc.)</vt:lpstr>
      <vt:lpstr>Relationship between PDF/PMF and Likelihood function</vt:lpstr>
      <vt:lpstr>dbinom</vt:lpstr>
      <vt:lpstr>P functions (e.g. pnorm, pbinom, etc)</vt:lpstr>
      <vt:lpstr>pnorm example</vt:lpstr>
      <vt:lpstr>pbinom example</vt:lpstr>
      <vt:lpstr>quantiles functions (e.g. qnorm, qbinom, qpois)</vt:lpstr>
      <vt:lpstr>qnorm example</vt:lpstr>
      <vt:lpstr>Random draws (rnorm, rbinom, rgamma, rpois)</vt:lpstr>
      <vt:lpstr>Random draw examples</vt:lpstr>
      <vt:lpstr>Two (or more) levels of understanding of distributions</vt:lpstr>
      <vt:lpstr>Use this chart to answer the next slide</vt:lpstr>
      <vt:lpstr>What distributions would these be?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Distributions and Generalized Linear Models</dc:title>
  <dc:creator>Kate Langwig</dc:creator>
  <cp:lastModifiedBy>Kate Langwig</cp:lastModifiedBy>
  <cp:revision>104</cp:revision>
  <dcterms:created xsi:type="dcterms:W3CDTF">2018-03-19T16:08:30Z</dcterms:created>
  <dcterms:modified xsi:type="dcterms:W3CDTF">2026-03-25T20:13:33Z</dcterms:modified>
</cp:coreProperties>
</file>