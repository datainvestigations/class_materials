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4"/>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3059-5D9D-214A-3DA4-D1A6E7530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8CA873-15EB-B8D5-9BAC-C5B6215E4E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E47E92-3843-7940-CC4A-CE765A4355EA}"/>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F9574976-1290-0137-F7EF-117358EAB4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6A71B-23CA-077C-C4BA-0F3C91FEAB47}"/>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3684225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CB914-78FC-BFF5-1E8A-B4FDDDB047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4F999-A03F-9DC0-400E-86434BECE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C477BE-8E21-1E20-D765-DBE1D6C9ED40}"/>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0EB099A9-4526-04AB-E220-AD4460273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0FF2D-17D7-DC85-E060-FC5FE104F9A6}"/>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371798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8BB-3255-C943-4897-CD12B98681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3123CE-A279-86E5-D645-98C9038936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DB493D-85A3-7227-54C5-2DAEDC7FE210}"/>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66297DDA-2EF4-9245-D9DA-A9F1D6EE2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AD900-A799-CB4A-0CE1-43610AA7DFBD}"/>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363379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34CAB-BB9A-E60B-3C17-DFD29D618D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41E5B6-D466-D8CE-559D-8B8E0EF7E1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1EC7E2-1F2D-AD88-96E0-5D7335ED4A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F25368-A677-9BBE-66DC-428FF8A7733A}"/>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6" name="Footer Placeholder 5">
            <a:extLst>
              <a:ext uri="{FF2B5EF4-FFF2-40B4-BE49-F238E27FC236}">
                <a16:creationId xmlns:a16="http://schemas.microsoft.com/office/drawing/2014/main" id="{9D31FE15-F427-94E0-9B82-96462FDF67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6CEC7-FB03-CD6B-FA7B-B776967AA785}"/>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2269681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00A99-562D-4A33-62F6-F5073CA2D6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85564B-7C1D-D587-2FD3-012F997085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05DD5B-DA72-9F73-9537-F32C4AF41A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B8DD93-1285-D0BD-DF80-4FB15C10E0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8B4FB4-20F6-9B68-3B12-7FE34B53C8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C17BBD-5037-8394-63F2-BA417DA4AAC1}"/>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8" name="Footer Placeholder 7">
            <a:extLst>
              <a:ext uri="{FF2B5EF4-FFF2-40B4-BE49-F238E27FC236}">
                <a16:creationId xmlns:a16="http://schemas.microsoft.com/office/drawing/2014/main" id="{AEA18194-CCE4-EF61-D741-F0B239545A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43E20B-4B8B-73B0-B750-09A30795A272}"/>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4115199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C184-54C5-8ED9-E491-F92FC6875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4AD121-FB17-E61F-88FA-0523EE2F8BA4}"/>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4" name="Footer Placeholder 3">
            <a:extLst>
              <a:ext uri="{FF2B5EF4-FFF2-40B4-BE49-F238E27FC236}">
                <a16:creationId xmlns:a16="http://schemas.microsoft.com/office/drawing/2014/main" id="{20657257-DCE1-C957-FB20-7775C82FD6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DE9D80-EBAB-8B3B-BFD5-47A404383ED3}"/>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1995112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7708B-C389-1C9F-5C32-C02FCD5F3BDD}"/>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3" name="Footer Placeholder 2">
            <a:extLst>
              <a:ext uri="{FF2B5EF4-FFF2-40B4-BE49-F238E27FC236}">
                <a16:creationId xmlns:a16="http://schemas.microsoft.com/office/drawing/2014/main" id="{52008ECF-93DD-C619-095A-421D56DF12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3977EA-01AD-4A43-0FCC-F44A47046924}"/>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3080735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703CE-7389-9785-CC7F-913C852458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EA2721-BE32-444C-46FA-455A21799C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2F4576-D25C-707C-6821-CAB428A4D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C50A90-3F11-12BD-F812-FE9BE7E08A90}"/>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6" name="Footer Placeholder 5">
            <a:extLst>
              <a:ext uri="{FF2B5EF4-FFF2-40B4-BE49-F238E27FC236}">
                <a16:creationId xmlns:a16="http://schemas.microsoft.com/office/drawing/2014/main" id="{A8C3BBCA-9764-752D-24D8-7EE4475AAB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BB8295-FC45-CE6E-E209-EB354622534A}"/>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1194060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5242-5063-06B9-FFEE-2B7C50831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C57407-470B-81C0-6161-11D0070059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9C5D4A-3FDC-A11C-4EDC-5950FAF01A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0F9949-B88B-C560-3452-B5E5376B6E79}"/>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6" name="Footer Placeholder 5">
            <a:extLst>
              <a:ext uri="{FF2B5EF4-FFF2-40B4-BE49-F238E27FC236}">
                <a16:creationId xmlns:a16="http://schemas.microsoft.com/office/drawing/2014/main" id="{8A504C1E-A137-E61F-AF7B-0B3ADE0705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0EA4E-1101-96E9-B7F7-1CFCDF1AB1FD}"/>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1802626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0E18-DFE5-EC3E-84B5-B3351493CC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4819D5-3CEB-F960-9E44-5B698224D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7E24E-8CCD-F582-C704-B6A21B76C6F8}"/>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2EC6DF47-2367-49CA-F30C-804C5C7849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692024-2499-4367-D2B4-C2DB29497782}"/>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359101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65BBA0-7F2C-D0E6-9824-B83ABAE686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A74183-DA19-EBB6-407B-B7E087493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FC16F-D7FC-5FFA-3630-750679E9D033}"/>
              </a:ext>
            </a:extLst>
          </p:cNvPr>
          <p:cNvSpPr>
            <a:spLocks noGrp="1"/>
          </p:cNvSpPr>
          <p:nvPr>
            <p:ph type="dt" sz="half" idx="10"/>
          </p:nvPr>
        </p:nvSpPr>
        <p:spPr/>
        <p:txBody>
          <a:body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1E0D1284-8EA5-9132-82A1-77D44F53DF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BAB4F-2EF0-DB7C-5924-1E8180634339}"/>
              </a:ext>
            </a:extLst>
          </p:cNvPr>
          <p:cNvSpPr>
            <a:spLocks noGrp="1"/>
          </p:cNvSpPr>
          <p:nvPr>
            <p:ph type="sldNum" sz="quarter" idx="12"/>
          </p:nvPr>
        </p:nvSpPr>
        <p:spPr/>
        <p:txBody>
          <a:bodyPr/>
          <a:lstStyle/>
          <a:p>
            <a:fld id="{8DDE7215-1AD3-A447-A8D6-DAE71C68E4DD}" type="slidenum">
              <a:rPr lang="en-US" smtClean="0"/>
              <a:t>‹#›</a:t>
            </a:fld>
            <a:endParaRPr lang="en-US"/>
          </a:p>
        </p:txBody>
      </p:sp>
    </p:spTree>
    <p:extLst>
      <p:ext uri="{BB962C8B-B14F-4D97-AF65-F5344CB8AC3E}">
        <p14:creationId xmlns:p14="http://schemas.microsoft.com/office/powerpoint/2010/main" val="1760276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EACAD8-263D-A11B-6755-A75E495F2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396964-C3AC-BF2F-A44F-CD87CBF5A9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4BAA16-72F9-5E75-F013-1F0E377277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3B2099-5668-794F-B3C7-DFA5F3AA10DF}" type="datetimeFigureOut">
              <a:rPr lang="en-US" smtClean="0"/>
              <a:t>4/2/26</a:t>
            </a:fld>
            <a:endParaRPr lang="en-US"/>
          </a:p>
        </p:txBody>
      </p:sp>
      <p:sp>
        <p:nvSpPr>
          <p:cNvPr id="5" name="Footer Placeholder 4">
            <a:extLst>
              <a:ext uri="{FF2B5EF4-FFF2-40B4-BE49-F238E27FC236}">
                <a16:creationId xmlns:a16="http://schemas.microsoft.com/office/drawing/2014/main" id="{3396E5FA-FBF0-0349-A284-70A48FF0CB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B95833-84DC-6F08-EB20-93B74A9F44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E7215-1AD3-A447-A8D6-DAE71C68E4DD}" type="slidenum">
              <a:rPr lang="en-US" smtClean="0"/>
              <a:t>‹#›</a:t>
            </a:fld>
            <a:endParaRPr lang="en-US"/>
          </a:p>
        </p:txBody>
      </p:sp>
    </p:spTree>
    <p:extLst>
      <p:ext uri="{BB962C8B-B14F-4D97-AF65-F5344CB8AC3E}">
        <p14:creationId xmlns:p14="http://schemas.microsoft.com/office/powerpoint/2010/main" val="1427294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royalsocietypublishing.org/rsbl/article/22/4/20260016/481162/Impact-of-heat-stress-on-colony-foundation-in-ants?searchresult=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FC790-96BD-79A3-6EF8-F04F621D658C}"/>
              </a:ext>
            </a:extLst>
          </p:cNvPr>
          <p:cNvSpPr>
            <a:spLocks noGrp="1"/>
          </p:cNvSpPr>
          <p:nvPr>
            <p:ph type="ctrTitle"/>
          </p:nvPr>
        </p:nvSpPr>
        <p:spPr/>
        <p:txBody>
          <a:bodyPr/>
          <a:lstStyle/>
          <a:p>
            <a:r>
              <a:rPr lang="en-US" dirty="0"/>
              <a:t>Final Project Instructions</a:t>
            </a:r>
          </a:p>
        </p:txBody>
      </p:sp>
      <p:sp>
        <p:nvSpPr>
          <p:cNvPr id="3" name="Subtitle 2">
            <a:extLst>
              <a:ext uri="{FF2B5EF4-FFF2-40B4-BE49-F238E27FC236}">
                <a16:creationId xmlns:a16="http://schemas.microsoft.com/office/drawing/2014/main" id="{99FAAA72-31EF-B29A-154A-D90995E672C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08858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C383-A1CB-BD87-8D61-08AC15A110F2}"/>
              </a:ext>
            </a:extLst>
          </p:cNvPr>
          <p:cNvSpPr>
            <a:spLocks noGrp="1"/>
          </p:cNvSpPr>
          <p:nvPr>
            <p:ph type="title"/>
          </p:nvPr>
        </p:nvSpPr>
        <p:spPr/>
        <p:txBody>
          <a:bodyPr/>
          <a:lstStyle/>
          <a:p>
            <a:r>
              <a:rPr lang="en-US" dirty="0"/>
              <a:t>Research Report - Final</a:t>
            </a:r>
          </a:p>
        </p:txBody>
      </p:sp>
      <p:sp>
        <p:nvSpPr>
          <p:cNvPr id="3" name="Content Placeholder 2">
            <a:extLst>
              <a:ext uri="{FF2B5EF4-FFF2-40B4-BE49-F238E27FC236}">
                <a16:creationId xmlns:a16="http://schemas.microsoft.com/office/drawing/2014/main" id="{DCF1A62E-A014-D169-1213-0BE225208C07}"/>
              </a:ext>
            </a:extLst>
          </p:cNvPr>
          <p:cNvSpPr>
            <a:spLocks noGrp="1"/>
          </p:cNvSpPr>
          <p:nvPr>
            <p:ph idx="1"/>
          </p:nvPr>
        </p:nvSpPr>
        <p:spPr/>
        <p:txBody>
          <a:bodyPr/>
          <a:lstStyle/>
          <a:p>
            <a:r>
              <a:rPr lang="en-US" dirty="0"/>
              <a:t>Instructions are posted on Canvas</a:t>
            </a:r>
          </a:p>
          <a:p>
            <a:r>
              <a:rPr lang="en-US" dirty="0"/>
              <a:t>Some sections should be </a:t>
            </a:r>
            <a:r>
              <a:rPr lang="en-US" b="1" dirty="0"/>
              <a:t>fully written </a:t>
            </a:r>
            <a:r>
              <a:rPr lang="en-US" dirty="0"/>
              <a:t>and others can be in short form (bullet points or outline form). </a:t>
            </a:r>
          </a:p>
          <a:p>
            <a:pPr lvl="1"/>
            <a:r>
              <a:rPr lang="en-US" dirty="0"/>
              <a:t>Each group member must contribute one figure + one statistical analysis to the final paper. </a:t>
            </a:r>
          </a:p>
          <a:p>
            <a:pPr lvl="1"/>
            <a:r>
              <a:rPr lang="en-US" dirty="0"/>
              <a:t>This assignment (unlike the presentation) will be individually graded. You can copy and paste the figures and the output of their analyses from group members into your own paper, but you need to write about them in your own voice. </a:t>
            </a:r>
          </a:p>
        </p:txBody>
      </p:sp>
    </p:spTree>
    <p:extLst>
      <p:ext uri="{BB962C8B-B14F-4D97-AF65-F5344CB8AC3E}">
        <p14:creationId xmlns:p14="http://schemas.microsoft.com/office/powerpoint/2010/main" val="1864975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0545-0009-83C0-6714-A3BC56F011C0}"/>
              </a:ext>
            </a:extLst>
          </p:cNvPr>
          <p:cNvSpPr>
            <a:spLocks noGrp="1"/>
          </p:cNvSpPr>
          <p:nvPr>
            <p:ph type="title"/>
          </p:nvPr>
        </p:nvSpPr>
        <p:spPr/>
        <p:txBody>
          <a:bodyPr/>
          <a:lstStyle/>
          <a:p>
            <a:r>
              <a:rPr lang="en-US" dirty="0"/>
              <a:t>Sections</a:t>
            </a:r>
          </a:p>
        </p:txBody>
      </p:sp>
      <p:sp>
        <p:nvSpPr>
          <p:cNvPr id="3" name="Content Placeholder 2">
            <a:extLst>
              <a:ext uri="{FF2B5EF4-FFF2-40B4-BE49-F238E27FC236}">
                <a16:creationId xmlns:a16="http://schemas.microsoft.com/office/drawing/2014/main" id="{71BCF3C6-0747-BCEE-9D7D-7F7F7D0B0AE6}"/>
              </a:ext>
            </a:extLst>
          </p:cNvPr>
          <p:cNvSpPr>
            <a:spLocks noGrp="1"/>
          </p:cNvSpPr>
          <p:nvPr>
            <p:ph idx="1"/>
          </p:nvPr>
        </p:nvSpPr>
        <p:spPr/>
        <p:txBody>
          <a:bodyPr/>
          <a:lstStyle/>
          <a:p>
            <a:r>
              <a:rPr lang="en-US" b="1" dirty="0"/>
              <a:t>Title</a:t>
            </a:r>
          </a:p>
          <a:p>
            <a:r>
              <a:rPr lang="en-US" b="1" dirty="0"/>
              <a:t>Authors </a:t>
            </a:r>
          </a:p>
          <a:p>
            <a:pPr lvl="1"/>
            <a:r>
              <a:rPr lang="en-US" dirty="0"/>
              <a:t>include which figures each person made – see example in instructions</a:t>
            </a:r>
          </a:p>
          <a:p>
            <a:r>
              <a:rPr lang="en-US" b="1" dirty="0"/>
              <a:t>Abstract </a:t>
            </a:r>
          </a:p>
          <a:p>
            <a:pPr lvl="1"/>
            <a:r>
              <a:rPr lang="en-US" dirty="0"/>
              <a:t>fully written out</a:t>
            </a:r>
          </a:p>
          <a:p>
            <a:r>
              <a:rPr lang="en-US" b="1" dirty="0"/>
              <a:t>Introduction </a:t>
            </a:r>
          </a:p>
          <a:p>
            <a:pPr lvl="1"/>
            <a:r>
              <a:rPr lang="en-US" dirty="0"/>
              <a:t>bulleted or outlined with references – see template</a:t>
            </a:r>
          </a:p>
          <a:p>
            <a:r>
              <a:rPr lang="en-US" b="1" dirty="0"/>
              <a:t>Methods and Materials </a:t>
            </a:r>
          </a:p>
          <a:p>
            <a:pPr lvl="1"/>
            <a:r>
              <a:rPr lang="en-US" dirty="0"/>
              <a:t>fully written but limit field methods to 1 paragraph</a:t>
            </a:r>
          </a:p>
          <a:p>
            <a:pPr marL="0" indent="0">
              <a:buNone/>
            </a:pPr>
            <a:endParaRPr lang="en-US" dirty="0"/>
          </a:p>
        </p:txBody>
      </p:sp>
    </p:spTree>
    <p:extLst>
      <p:ext uri="{BB962C8B-B14F-4D97-AF65-F5344CB8AC3E}">
        <p14:creationId xmlns:p14="http://schemas.microsoft.com/office/powerpoint/2010/main" val="381894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2485A-37C8-578C-D7A0-52D3147B07DD}"/>
              </a:ext>
            </a:extLst>
          </p:cNvPr>
          <p:cNvSpPr>
            <a:spLocks noGrp="1"/>
          </p:cNvSpPr>
          <p:nvPr>
            <p:ph type="title"/>
          </p:nvPr>
        </p:nvSpPr>
        <p:spPr/>
        <p:txBody>
          <a:bodyPr/>
          <a:lstStyle/>
          <a:p>
            <a:r>
              <a:rPr lang="en-US" dirty="0"/>
              <a:t>Sections </a:t>
            </a:r>
            <a:r>
              <a:rPr lang="en-US" dirty="0" err="1"/>
              <a:t>Cont</a:t>
            </a:r>
            <a:endParaRPr lang="en-US" dirty="0"/>
          </a:p>
        </p:txBody>
      </p:sp>
      <p:sp>
        <p:nvSpPr>
          <p:cNvPr id="3" name="Content Placeholder 2">
            <a:extLst>
              <a:ext uri="{FF2B5EF4-FFF2-40B4-BE49-F238E27FC236}">
                <a16:creationId xmlns:a16="http://schemas.microsoft.com/office/drawing/2014/main" id="{311C5DF6-5D58-2AB3-EC8E-2ED4936268CC}"/>
              </a:ext>
            </a:extLst>
          </p:cNvPr>
          <p:cNvSpPr>
            <a:spLocks noGrp="1"/>
          </p:cNvSpPr>
          <p:nvPr>
            <p:ph idx="1"/>
          </p:nvPr>
        </p:nvSpPr>
        <p:spPr/>
        <p:txBody>
          <a:bodyPr/>
          <a:lstStyle/>
          <a:p>
            <a:r>
              <a:rPr lang="en-US" b="1" dirty="0"/>
              <a:t>Results</a:t>
            </a:r>
          </a:p>
          <a:p>
            <a:pPr lvl="1"/>
            <a:r>
              <a:rPr lang="en-US" b="1" dirty="0"/>
              <a:t>Fully written out like the results section of a biology letters paper</a:t>
            </a:r>
            <a:endParaRPr lang="en-US" dirty="0"/>
          </a:p>
          <a:p>
            <a:pPr lvl="1"/>
            <a:r>
              <a:rPr lang="en-US" dirty="0"/>
              <a:t>Should include figures (all 4 from your group) and report results from all 4 figures</a:t>
            </a:r>
          </a:p>
          <a:p>
            <a:pPr lvl="1"/>
            <a:r>
              <a:rPr lang="en-US" dirty="0"/>
              <a:t>Each figure needs to have a figure caption that describes what is in the figure</a:t>
            </a:r>
          </a:p>
          <a:p>
            <a:pPr lvl="1"/>
            <a:r>
              <a:rPr lang="en-US" b="1" dirty="0"/>
              <a:t>You can copy and paste the stats summary tables from R </a:t>
            </a:r>
            <a:r>
              <a:rPr lang="en-US" dirty="0"/>
              <a:t>and the figures from each group member, but the interpretation of the figures and stats should be written in the words of each individual</a:t>
            </a:r>
          </a:p>
          <a:p>
            <a:pPr lvl="1"/>
            <a:r>
              <a:rPr lang="en-US" dirty="0"/>
              <a:t>Please be sure to share the statistical output in the form of tables for each analysis you are leading!</a:t>
            </a:r>
          </a:p>
          <a:p>
            <a:endParaRPr lang="en-US" dirty="0"/>
          </a:p>
        </p:txBody>
      </p:sp>
    </p:spTree>
    <p:extLst>
      <p:ext uri="{BB962C8B-B14F-4D97-AF65-F5344CB8AC3E}">
        <p14:creationId xmlns:p14="http://schemas.microsoft.com/office/powerpoint/2010/main" val="2333782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771C-CD87-BCA0-36D5-16A2547D1E0B}"/>
              </a:ext>
            </a:extLst>
          </p:cNvPr>
          <p:cNvSpPr>
            <a:spLocks noGrp="1"/>
          </p:cNvSpPr>
          <p:nvPr>
            <p:ph type="title"/>
          </p:nvPr>
        </p:nvSpPr>
        <p:spPr/>
        <p:txBody>
          <a:bodyPr/>
          <a:lstStyle/>
          <a:p>
            <a:r>
              <a:rPr lang="en-US" dirty="0"/>
              <a:t>Sections Cont.</a:t>
            </a:r>
          </a:p>
        </p:txBody>
      </p:sp>
      <p:sp>
        <p:nvSpPr>
          <p:cNvPr id="3" name="Content Placeholder 2">
            <a:extLst>
              <a:ext uri="{FF2B5EF4-FFF2-40B4-BE49-F238E27FC236}">
                <a16:creationId xmlns:a16="http://schemas.microsoft.com/office/drawing/2014/main" id="{60D1488E-FA2A-CAEB-5D70-49ECBFC4F27D}"/>
              </a:ext>
            </a:extLst>
          </p:cNvPr>
          <p:cNvSpPr>
            <a:spLocks noGrp="1"/>
          </p:cNvSpPr>
          <p:nvPr>
            <p:ph idx="1"/>
          </p:nvPr>
        </p:nvSpPr>
        <p:spPr/>
        <p:txBody>
          <a:bodyPr>
            <a:normAutofit fontScale="92500" lnSpcReduction="20000"/>
          </a:bodyPr>
          <a:lstStyle/>
          <a:p>
            <a:r>
              <a:rPr lang="en-US" b="1" dirty="0"/>
              <a:t>Discussion </a:t>
            </a:r>
          </a:p>
          <a:p>
            <a:pPr lvl="1"/>
            <a:r>
              <a:rPr lang="en-US" dirty="0"/>
              <a:t>Bulleted/Outline of 4-5 paragraphs with references, see template)</a:t>
            </a:r>
          </a:p>
          <a:p>
            <a:r>
              <a:rPr lang="en-US" b="1" dirty="0"/>
              <a:t>Literature Cited</a:t>
            </a:r>
            <a:endParaRPr lang="en-US" dirty="0"/>
          </a:p>
          <a:p>
            <a:pPr lvl="1"/>
            <a:r>
              <a:rPr lang="en-US" dirty="0"/>
              <a:t>Use your citation manager to cite while you write and this section will be automatically created for you</a:t>
            </a:r>
          </a:p>
          <a:p>
            <a:r>
              <a:rPr lang="en-US" b="1" dirty="0"/>
              <a:t>Supplemental Information</a:t>
            </a:r>
            <a:endParaRPr lang="en-US" dirty="0"/>
          </a:p>
          <a:p>
            <a:pPr lvl="1"/>
            <a:r>
              <a:rPr lang="en-US" dirty="0"/>
              <a:t>Any stats tables you want to include that aren’t in the main text should go here (this will likely be identical across groups)</a:t>
            </a:r>
          </a:p>
          <a:p>
            <a:r>
              <a:rPr lang="en-US" b="1" dirty="0"/>
              <a:t>Code</a:t>
            </a:r>
          </a:p>
          <a:p>
            <a:pPr lvl="1"/>
            <a:r>
              <a:rPr lang="en-US" dirty="0"/>
              <a:t>The code that makes the figure and performs the statistical analysis associated with that figure must be submitted in the group project repository and referenced in your group README</a:t>
            </a:r>
          </a:p>
          <a:p>
            <a:pPr lvl="1"/>
            <a:r>
              <a:rPr lang="en-US" dirty="0"/>
              <a:t>Name the code file: </a:t>
            </a:r>
            <a:r>
              <a:rPr lang="en-US" b="1" dirty="0"/>
              <a:t>LASTNAME_FIGURE#_FINALPROJECT.R</a:t>
            </a:r>
            <a:endParaRPr lang="en-US" dirty="0"/>
          </a:p>
          <a:p>
            <a:endParaRPr lang="en-US" b="1" dirty="0"/>
          </a:p>
        </p:txBody>
      </p:sp>
    </p:spTree>
    <p:extLst>
      <p:ext uri="{BB962C8B-B14F-4D97-AF65-F5344CB8AC3E}">
        <p14:creationId xmlns:p14="http://schemas.microsoft.com/office/powerpoint/2010/main" val="270228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AE536-191A-BE71-6520-48A53E9814F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8DF3CEAC-C9DE-561B-697C-5C6F72A22DDE}"/>
              </a:ext>
            </a:extLst>
          </p:cNvPr>
          <p:cNvSpPr>
            <a:spLocks noGrp="1"/>
          </p:cNvSpPr>
          <p:nvPr>
            <p:ph idx="1"/>
          </p:nvPr>
        </p:nvSpPr>
        <p:spPr/>
        <p:txBody>
          <a:bodyPr/>
          <a:lstStyle/>
          <a:p>
            <a:r>
              <a:rPr lang="en-US" dirty="0">
                <a:hlinkClick r:id="rId2"/>
              </a:rPr>
              <a:t>https://royalsocietypublishing.org/rsbl/article/22/4/20260016/481162/Impact-of-heat-stress-on-colony-foundation-in-ants?searchresult=1</a:t>
            </a:r>
            <a:endParaRPr lang="en-US" dirty="0"/>
          </a:p>
          <a:p>
            <a:endParaRPr lang="en-US" dirty="0"/>
          </a:p>
        </p:txBody>
      </p:sp>
    </p:spTree>
    <p:extLst>
      <p:ext uri="{BB962C8B-B14F-4D97-AF65-F5344CB8AC3E}">
        <p14:creationId xmlns:p14="http://schemas.microsoft.com/office/powerpoint/2010/main" val="4003017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0871-4BCA-1B69-A233-A842DFA7F5A6}"/>
              </a:ext>
            </a:extLst>
          </p:cNvPr>
          <p:cNvSpPr>
            <a:spLocks noGrp="1"/>
          </p:cNvSpPr>
          <p:nvPr>
            <p:ph type="title"/>
          </p:nvPr>
        </p:nvSpPr>
        <p:spPr/>
        <p:txBody>
          <a:bodyPr/>
          <a:lstStyle/>
          <a:p>
            <a:r>
              <a:rPr lang="en-US" dirty="0"/>
              <a:t>Example statistical tables:</a:t>
            </a:r>
          </a:p>
        </p:txBody>
      </p:sp>
      <p:pic>
        <p:nvPicPr>
          <p:cNvPr id="4" name="Content Placeholder 3">
            <a:extLst>
              <a:ext uri="{FF2B5EF4-FFF2-40B4-BE49-F238E27FC236}">
                <a16:creationId xmlns:a16="http://schemas.microsoft.com/office/drawing/2014/main" id="{0874B09A-59CF-64BF-E39D-831D4BDFE426}"/>
              </a:ext>
            </a:extLst>
          </p:cNvPr>
          <p:cNvPicPr>
            <a:picLocks noGrp="1" noChangeAspect="1"/>
          </p:cNvPicPr>
          <p:nvPr>
            <p:ph idx="1"/>
          </p:nvPr>
        </p:nvPicPr>
        <p:blipFill>
          <a:blip r:embed="rId2"/>
          <a:stretch>
            <a:fillRect/>
          </a:stretch>
        </p:blipFill>
        <p:spPr>
          <a:xfrm>
            <a:off x="1506190" y="1512268"/>
            <a:ext cx="7136006" cy="4708892"/>
          </a:xfrm>
          <a:prstGeom prst="rect">
            <a:avLst/>
          </a:prstGeom>
        </p:spPr>
      </p:pic>
    </p:spTree>
    <p:extLst>
      <p:ext uri="{BB962C8B-B14F-4D97-AF65-F5344CB8AC3E}">
        <p14:creationId xmlns:p14="http://schemas.microsoft.com/office/powerpoint/2010/main" val="2588302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362</Words>
  <Application>Microsoft Macintosh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Final Project Instructions</vt:lpstr>
      <vt:lpstr>Research Report - Final</vt:lpstr>
      <vt:lpstr>Sections</vt:lpstr>
      <vt:lpstr>Sections Cont</vt:lpstr>
      <vt:lpstr>Sections Cont.</vt:lpstr>
      <vt:lpstr>Examples</vt:lpstr>
      <vt:lpstr>Example statistical tables: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Langwig</dc:creator>
  <cp:lastModifiedBy>Kate Langwig</cp:lastModifiedBy>
  <cp:revision>6</cp:revision>
  <dcterms:created xsi:type="dcterms:W3CDTF">2026-04-02T15:34:57Z</dcterms:created>
  <dcterms:modified xsi:type="dcterms:W3CDTF">2026-04-02T15:57:41Z</dcterms:modified>
</cp:coreProperties>
</file>