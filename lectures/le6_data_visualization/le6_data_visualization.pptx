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2" r:id="rId3"/>
    <p:sldId id="257" r:id="rId4"/>
    <p:sldId id="258" r:id="rId5"/>
    <p:sldId id="294" r:id="rId6"/>
    <p:sldId id="326"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260" r:id="rId22"/>
    <p:sldId id="261" r:id="rId23"/>
    <p:sldId id="262" r:id="rId24"/>
    <p:sldId id="263" r:id="rId25"/>
    <p:sldId id="265" r:id="rId26"/>
    <p:sldId id="268" r:id="rId27"/>
    <p:sldId id="269" r:id="rId28"/>
    <p:sldId id="266" r:id="rId29"/>
    <p:sldId id="271" r:id="rId30"/>
    <p:sldId id="284"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54"/>
    <p:restoredTop sz="80432"/>
  </p:normalViewPr>
  <p:slideViewPr>
    <p:cSldViewPr snapToGrid="0" snapToObjects="1">
      <p:cViewPr varScale="1">
        <p:scale>
          <a:sx n="95" d="100"/>
          <a:sy n="95" d="100"/>
        </p:scale>
        <p:origin x="1384" y="192"/>
      </p:cViewPr>
      <p:guideLst/>
    </p:cSldViewPr>
  </p:slideViewPr>
  <p:outlineViewPr>
    <p:cViewPr>
      <p:scale>
        <a:sx n="33" d="100"/>
        <a:sy n="33" d="100"/>
      </p:scale>
      <p:origin x="0" y="-791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E19B6-ACAA-3144-B53F-07A5ACA24DC9}" type="datetimeFigureOut">
              <a:rPr lang="en-US" smtClean="0"/>
              <a:t>2/16/26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F17DE-5DF3-FB40-AD93-1BB750A9CF45}" type="slidenum">
              <a:rPr lang="en-US" smtClean="0"/>
              <a:t>‹#›</a:t>
            </a:fld>
            <a:endParaRPr lang="en-US"/>
          </a:p>
        </p:txBody>
      </p:sp>
    </p:spTree>
    <p:extLst>
      <p:ext uri="{BB962C8B-B14F-4D97-AF65-F5344CB8AC3E}">
        <p14:creationId xmlns:p14="http://schemas.microsoft.com/office/powerpoint/2010/main" val="226857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Choropleth_map" TargetMode="External"/><Relationship Id="rId3" Type="http://schemas.openxmlformats.org/officeDocument/2006/relationships/hyperlink" Target="https://en.wikipedia.org/wiki/Dot_plot_(statistics)" TargetMode="External"/><Relationship Id="rId7" Type="http://schemas.openxmlformats.org/officeDocument/2006/relationships/hyperlink" Target="https://en.wikipedia.org/wiki/Heat_map"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en.wikipedia.org/wiki/Area_chart" TargetMode="External"/><Relationship Id="rId5" Type="http://schemas.openxmlformats.org/officeDocument/2006/relationships/hyperlink" Target="https://developers.google.com/chart/interactive/docs/gallery/treemap?hl=en" TargetMode="External"/><Relationship Id="rId4" Type="http://schemas.openxmlformats.org/officeDocument/2006/relationships/hyperlink" Target="http://flowingdata.com/2014/10/15/linked-small-multiples/"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we’re going to start off with an in-class exercise to get you thinking about what makes a figure an effective communication tool. We’re going to do this activity in groups of 4-6. Please divide yourselves up into groups of no smaller than 4 and no larger than 6. As I pass out these handouts please keep the packets face down and hand one out to each member of your group.</a:t>
            </a:r>
          </a:p>
          <a:p>
            <a:r>
              <a:rPr lang="en-US" dirty="0"/>
              <a:t>3 min</a:t>
            </a:r>
          </a:p>
        </p:txBody>
      </p:sp>
      <p:sp>
        <p:nvSpPr>
          <p:cNvPr id="4" name="Slide Number Placeholder 3"/>
          <p:cNvSpPr>
            <a:spLocks noGrp="1"/>
          </p:cNvSpPr>
          <p:nvPr>
            <p:ph type="sldNum" sz="quarter" idx="5"/>
          </p:nvPr>
        </p:nvSpPr>
        <p:spPr/>
        <p:txBody>
          <a:bodyPr/>
          <a:lstStyle/>
          <a:p>
            <a:fld id="{8A189479-8FA4-4B0D-A65A-6A08589504A5}" type="slidenum">
              <a:rPr lang="en-US" smtClean="0"/>
              <a:t>7</a:t>
            </a:fld>
            <a:endParaRPr lang="en-US"/>
          </a:p>
        </p:txBody>
      </p:sp>
    </p:spTree>
    <p:extLst>
      <p:ext uri="{BB962C8B-B14F-4D97-AF65-F5344CB8AC3E}">
        <p14:creationId xmlns:p14="http://schemas.microsoft.com/office/powerpoint/2010/main" val="3667234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p:txBody>
      </p:sp>
      <p:sp>
        <p:nvSpPr>
          <p:cNvPr id="4" name="Slide Number Placeholder 3"/>
          <p:cNvSpPr>
            <a:spLocks noGrp="1"/>
          </p:cNvSpPr>
          <p:nvPr>
            <p:ph type="sldNum" sz="quarter" idx="5"/>
          </p:nvPr>
        </p:nvSpPr>
        <p:spPr/>
        <p:txBody>
          <a:bodyPr/>
          <a:lstStyle/>
          <a:p>
            <a:fld id="{8A189479-8FA4-4B0D-A65A-6A08589504A5}" type="slidenum">
              <a:rPr lang="en-US" smtClean="0"/>
              <a:t>8</a:t>
            </a:fld>
            <a:endParaRPr lang="en-US"/>
          </a:p>
        </p:txBody>
      </p:sp>
    </p:spTree>
    <p:extLst>
      <p:ext uri="{BB962C8B-B14F-4D97-AF65-F5344CB8AC3E}">
        <p14:creationId xmlns:p14="http://schemas.microsoft.com/office/powerpoint/2010/main" val="173870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p:txBody>
      </p:sp>
      <p:sp>
        <p:nvSpPr>
          <p:cNvPr id="4" name="Slide Number Placeholder 3"/>
          <p:cNvSpPr>
            <a:spLocks noGrp="1"/>
          </p:cNvSpPr>
          <p:nvPr>
            <p:ph type="sldNum" sz="quarter" idx="5"/>
          </p:nvPr>
        </p:nvSpPr>
        <p:spPr/>
        <p:txBody>
          <a:bodyPr/>
          <a:lstStyle/>
          <a:p>
            <a:fld id="{8A189479-8FA4-4B0D-A65A-6A08589504A5}" type="slidenum">
              <a:rPr lang="en-US" smtClean="0"/>
              <a:t>9</a:t>
            </a:fld>
            <a:endParaRPr lang="en-US"/>
          </a:p>
        </p:txBody>
      </p:sp>
    </p:spTree>
    <p:extLst>
      <p:ext uri="{BB962C8B-B14F-4D97-AF65-F5344CB8AC3E}">
        <p14:creationId xmlns:p14="http://schemas.microsoft.com/office/powerpoint/2010/main" val="2487335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p:txBody>
      </p:sp>
      <p:sp>
        <p:nvSpPr>
          <p:cNvPr id="4" name="Slide Number Placeholder 3"/>
          <p:cNvSpPr>
            <a:spLocks noGrp="1"/>
          </p:cNvSpPr>
          <p:nvPr>
            <p:ph type="sldNum" sz="quarter" idx="5"/>
          </p:nvPr>
        </p:nvSpPr>
        <p:spPr/>
        <p:txBody>
          <a:bodyPr/>
          <a:lstStyle/>
          <a:p>
            <a:fld id="{8A189479-8FA4-4B0D-A65A-6A08589504A5}" type="slidenum">
              <a:rPr lang="en-US" smtClean="0"/>
              <a:t>10</a:t>
            </a:fld>
            <a:endParaRPr lang="en-US"/>
          </a:p>
        </p:txBody>
      </p:sp>
    </p:spTree>
    <p:extLst>
      <p:ext uri="{BB962C8B-B14F-4D97-AF65-F5344CB8AC3E}">
        <p14:creationId xmlns:p14="http://schemas.microsoft.com/office/powerpoint/2010/main" val="3624158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pair</a:t>
            </a:r>
          </a:p>
          <a:p>
            <a:endParaRPr lang="en-US" dirty="0"/>
          </a:p>
          <a:p>
            <a:r>
              <a:rPr lang="en-US" dirty="0"/>
              <a:t>4 min share</a:t>
            </a:r>
          </a:p>
          <a:p>
            <a:endParaRPr lang="en-US" dirty="0"/>
          </a:p>
          <a:p>
            <a:r>
              <a:rPr lang="en-US" dirty="0"/>
              <a:t>15 min activity</a:t>
            </a:r>
          </a:p>
          <a:p>
            <a:endParaRPr lang="en-US" dirty="0"/>
          </a:p>
          <a:p>
            <a:r>
              <a:rPr lang="en-US" dirty="0"/>
              <a:t>Focus this on what is necessary to include</a:t>
            </a:r>
          </a:p>
          <a:p>
            <a:endParaRPr lang="en-US" dirty="0"/>
          </a:p>
          <a:p>
            <a:r>
              <a:rPr lang="en-US" dirty="0"/>
              <a:t>17:45 to here</a:t>
            </a:r>
          </a:p>
        </p:txBody>
      </p:sp>
      <p:sp>
        <p:nvSpPr>
          <p:cNvPr id="4" name="Slide Number Placeholder 3"/>
          <p:cNvSpPr>
            <a:spLocks noGrp="1"/>
          </p:cNvSpPr>
          <p:nvPr>
            <p:ph type="sldNum" sz="quarter" idx="5"/>
          </p:nvPr>
        </p:nvSpPr>
        <p:spPr/>
        <p:txBody>
          <a:bodyPr/>
          <a:lstStyle/>
          <a:p>
            <a:fld id="{8A189479-8FA4-4B0D-A65A-6A08589504A5}" type="slidenum">
              <a:rPr lang="en-US" smtClean="0"/>
              <a:t>11</a:t>
            </a:fld>
            <a:endParaRPr lang="en-US"/>
          </a:p>
        </p:txBody>
      </p:sp>
    </p:spTree>
    <p:extLst>
      <p:ext uri="{BB962C8B-B14F-4D97-AF65-F5344CB8AC3E}">
        <p14:creationId xmlns:p14="http://schemas.microsoft.com/office/powerpoint/2010/main" val="1302927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bars can be different things and should be specified</a:t>
            </a:r>
          </a:p>
        </p:txBody>
      </p:sp>
      <p:sp>
        <p:nvSpPr>
          <p:cNvPr id="4" name="Slide Number Placeholder 3"/>
          <p:cNvSpPr>
            <a:spLocks noGrp="1"/>
          </p:cNvSpPr>
          <p:nvPr>
            <p:ph type="sldNum" sz="quarter" idx="5"/>
          </p:nvPr>
        </p:nvSpPr>
        <p:spPr/>
        <p:txBody>
          <a:bodyPr/>
          <a:lstStyle/>
          <a:p>
            <a:fld id="{8A189479-8FA4-4B0D-A65A-6A08589504A5}" type="slidenum">
              <a:rPr lang="en-US" smtClean="0"/>
              <a:t>16</a:t>
            </a:fld>
            <a:endParaRPr lang="en-US"/>
          </a:p>
        </p:txBody>
      </p:sp>
    </p:spTree>
    <p:extLst>
      <p:ext uri="{BB962C8B-B14F-4D97-AF65-F5344CB8AC3E}">
        <p14:creationId xmlns:p14="http://schemas.microsoft.com/office/powerpoint/2010/main" val="841749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we’ve already covered statistical significance</a:t>
            </a:r>
          </a:p>
        </p:txBody>
      </p:sp>
      <p:sp>
        <p:nvSpPr>
          <p:cNvPr id="4" name="Slide Number Placeholder 3"/>
          <p:cNvSpPr>
            <a:spLocks noGrp="1"/>
          </p:cNvSpPr>
          <p:nvPr>
            <p:ph type="sldNum" sz="quarter" idx="5"/>
          </p:nvPr>
        </p:nvSpPr>
        <p:spPr/>
        <p:txBody>
          <a:bodyPr/>
          <a:lstStyle/>
          <a:p>
            <a:fld id="{8A189479-8FA4-4B0D-A65A-6A08589504A5}" type="slidenum">
              <a:rPr lang="en-US" smtClean="0"/>
              <a:t>17</a:t>
            </a:fld>
            <a:endParaRPr lang="en-US"/>
          </a:p>
        </p:txBody>
      </p:sp>
    </p:spTree>
    <p:extLst>
      <p:ext uri="{BB962C8B-B14F-4D97-AF65-F5344CB8AC3E}">
        <p14:creationId xmlns:p14="http://schemas.microsoft.com/office/powerpoint/2010/main" val="3522143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CF17DE-5DF3-FB40-AD93-1BB750A9CF45}" type="slidenum">
              <a:rPr lang="en-US" smtClean="0"/>
              <a:t>18</a:t>
            </a:fld>
            <a:endParaRPr lang="en-US"/>
          </a:p>
        </p:txBody>
      </p:sp>
    </p:spTree>
    <p:extLst>
      <p:ext uri="{BB962C8B-B14F-4D97-AF65-F5344CB8AC3E}">
        <p14:creationId xmlns:p14="http://schemas.microsoft.com/office/powerpoint/2010/main" val="3830096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CF17DE-5DF3-FB40-AD93-1BB750A9CF45}" type="slidenum">
              <a:rPr lang="en-US" smtClean="0"/>
              <a:t>19</a:t>
            </a:fld>
            <a:endParaRPr lang="en-US"/>
          </a:p>
        </p:txBody>
      </p:sp>
    </p:spTree>
    <p:extLst>
      <p:ext uri="{BB962C8B-B14F-4D97-AF65-F5344CB8AC3E}">
        <p14:creationId xmlns:p14="http://schemas.microsoft.com/office/powerpoint/2010/main" val="3987894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Position along a common scale </a:t>
            </a:r>
            <a:r>
              <a:rPr lang="en-US" sz="1200" b="0" i="0" kern="1200" dirty="0">
                <a:solidFill>
                  <a:schemeClr val="tx1"/>
                </a:solidFill>
                <a:effectLst/>
                <a:latin typeface="+mn-lt"/>
                <a:ea typeface="+mn-ea"/>
                <a:cs typeface="+mn-cs"/>
              </a:rPr>
              <a:t>(bar chart, </a:t>
            </a:r>
            <a:r>
              <a:rPr lang="en-US" sz="1200" b="0" i="0" u="none" strike="noStrike" kern="1200" dirty="0">
                <a:solidFill>
                  <a:schemeClr val="tx1"/>
                </a:solidFill>
                <a:effectLst/>
                <a:latin typeface="+mn-lt"/>
                <a:ea typeface="+mn-ea"/>
                <a:cs typeface="+mn-cs"/>
                <a:hlinkClick r:id="rId3"/>
              </a:rPr>
              <a:t>dot plots</a:t>
            </a:r>
            <a:r>
              <a:rPr lang="en-US" sz="1200" b="0" i="0" kern="1200" dirty="0">
                <a:solidFill>
                  <a:schemeClr val="tx1"/>
                </a:solidFill>
                <a:effectLst/>
                <a:latin typeface="+mn-lt"/>
                <a:ea typeface="+mn-ea"/>
                <a:cs typeface="+mn-cs"/>
              </a:rPr>
              <a: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Positions along nonaligned, identical scales </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4"/>
              </a:rPr>
              <a:t>small multiples</a:t>
            </a:r>
            <a:r>
              <a:rPr lang="en-US" sz="1200" b="0" i="0" kern="1200" dirty="0">
                <a:solidFill>
                  <a:schemeClr val="tx1"/>
                </a:solidFill>
                <a:effectLst/>
                <a:latin typeface="+mn-lt"/>
                <a:ea typeface="+mn-ea"/>
                <a:cs typeface="+mn-cs"/>
              </a:rPr>
              <a: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Length, direction, angle </a:t>
            </a:r>
            <a:r>
              <a:rPr lang="en-US" sz="1200" b="0" i="0" kern="1200" dirty="0">
                <a:solidFill>
                  <a:schemeClr val="tx1"/>
                </a:solidFill>
                <a:effectLst/>
                <a:latin typeface="+mn-lt"/>
                <a:ea typeface="+mn-ea"/>
                <a:cs typeface="+mn-cs"/>
              </a:rPr>
              <a:t>(pie chart)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Area </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5"/>
              </a:rPr>
              <a:t>treemap</a:t>
            </a:r>
            <a:r>
              <a:rPr lang="en-US" sz="1200" b="0" i="0" kern="1200" dirty="0">
                <a:solidFill>
                  <a:schemeClr val="tx1"/>
                </a:solidFill>
                <a:effectLst/>
                <a:latin typeface="+mn-lt"/>
                <a:ea typeface="+mn-ea"/>
                <a:cs typeface="+mn-cs"/>
              </a:rPr>
              <a: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Volume, curvature </a:t>
            </a:r>
            <a:r>
              <a:rPr lang="en-US" sz="1200" b="0" i="0" kern="1200" dirty="0">
                <a:solidFill>
                  <a:schemeClr val="tx1"/>
                </a:solidFill>
                <a:effectLst/>
                <a:latin typeface="+mn-lt"/>
                <a:ea typeface="+mn-ea"/>
                <a:cs typeface="+mn-cs"/>
              </a:rPr>
              <a:t>(3-D bar charts, </a:t>
            </a:r>
            <a:r>
              <a:rPr lang="en-US" sz="1200" b="0" i="0" u="none" strike="noStrike" kern="1200" dirty="0">
                <a:solidFill>
                  <a:schemeClr val="tx1"/>
                </a:solidFill>
                <a:effectLst/>
                <a:latin typeface="+mn-lt"/>
                <a:ea typeface="+mn-ea"/>
                <a:cs typeface="+mn-cs"/>
                <a:hlinkClick r:id="rId6"/>
              </a:rPr>
              <a:t>area charts</a:t>
            </a:r>
            <a:r>
              <a:rPr lang="en-US" sz="1200" b="0" i="0" kern="1200" dirty="0">
                <a:solidFill>
                  <a:schemeClr val="tx1"/>
                </a:solidFill>
                <a:effectLst/>
                <a:latin typeface="+mn-lt"/>
                <a:ea typeface="+mn-ea"/>
                <a:cs typeface="+mn-cs"/>
              </a:rPr>
              <a: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Shading, color saturation </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7"/>
              </a:rPr>
              <a:t>heat maps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8"/>
              </a:rPr>
              <a:t>choropleth maps</a:t>
            </a:r>
            <a:r>
              <a:rPr lang="en-US" sz="1200" b="0" i="0" kern="1200" dirty="0">
                <a:solidFill>
                  <a:schemeClr val="tx1"/>
                </a:solidFill>
                <a:effectLst/>
                <a:latin typeface="+mn-lt"/>
                <a:ea typeface="+mn-ea"/>
                <a:cs typeface="+mn-cs"/>
              </a:rPr>
              <a:t>)</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dirty="0"/>
            </a:br>
            <a:endParaRPr lang="en-US" dirty="0"/>
          </a:p>
        </p:txBody>
      </p:sp>
      <p:sp>
        <p:nvSpPr>
          <p:cNvPr id="4" name="Slide Number Placeholder 3"/>
          <p:cNvSpPr>
            <a:spLocks noGrp="1"/>
          </p:cNvSpPr>
          <p:nvPr>
            <p:ph type="sldNum" sz="quarter" idx="10"/>
          </p:nvPr>
        </p:nvSpPr>
        <p:spPr/>
        <p:txBody>
          <a:bodyPr/>
          <a:lstStyle/>
          <a:p>
            <a:fld id="{41CF17DE-5DF3-FB40-AD93-1BB750A9CF45}" type="slidenum">
              <a:rPr lang="en-US" smtClean="0"/>
              <a:t>24</a:t>
            </a:fld>
            <a:endParaRPr lang="en-US"/>
          </a:p>
        </p:txBody>
      </p:sp>
    </p:spTree>
    <p:extLst>
      <p:ext uri="{BB962C8B-B14F-4D97-AF65-F5344CB8AC3E}">
        <p14:creationId xmlns:p14="http://schemas.microsoft.com/office/powerpoint/2010/main" val="1010814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CF17DE-5DF3-FB40-AD93-1BB750A9CF45}" type="slidenum">
              <a:rPr lang="en-US" smtClean="0"/>
              <a:t>30</a:t>
            </a:fld>
            <a:endParaRPr lang="en-US"/>
          </a:p>
        </p:txBody>
      </p:sp>
    </p:spTree>
    <p:extLst>
      <p:ext uri="{BB962C8B-B14F-4D97-AF65-F5344CB8AC3E}">
        <p14:creationId xmlns:p14="http://schemas.microsoft.com/office/powerpoint/2010/main" val="1290603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Relative abundance of birds at two residential sites and three urban sites. For scientific names see AOU (2005). (b) Percent of avian feedings from each host species based on identification of </a:t>
            </a:r>
            <a:r>
              <a:rPr lang="en-US" dirty="0" err="1"/>
              <a:t>Culex</a:t>
            </a:r>
            <a:r>
              <a:rPr lang="en-US" dirty="0"/>
              <a:t> mosquito blood meals by PCR amplification of the cytochrome b gene followed by DNA sequencing. Sample size of mosquito feedings in parentheses. (c) Feeding indices of </a:t>
            </a:r>
            <a:r>
              <a:rPr lang="en-US" dirty="0" err="1"/>
              <a:t>Culex</a:t>
            </a:r>
            <a:r>
              <a:rPr lang="en-US" dirty="0"/>
              <a:t> mosquitoes and 95% CI. Positive values are preferences; negative values designate avoidance and are calculated as (K1/Pi). Columns with an asterisk are minimum avoidance estimates (see §2). All preferences, except hatched columns, are significantly different from 1 (two-tailed p!0.05; all robin preferences p!0.0001). (d) Amplification fraction (proportion of </a:t>
            </a:r>
            <a:r>
              <a:rPr lang="en-US" dirty="0" err="1"/>
              <a:t>abundance!feeding</a:t>
            </a:r>
            <a:r>
              <a:rPr lang="en-US" dirty="0"/>
              <a:t> </a:t>
            </a:r>
            <a:r>
              <a:rPr lang="en-US" dirty="0" err="1"/>
              <a:t>preference!reservoir</a:t>
            </a:r>
            <a:r>
              <a:rPr lang="en-US" dirty="0"/>
              <a:t> competence) of each species, a surrogate for the fraction of West Nile virus infectious mosquitoes resulting from feeding on that avian host.</a:t>
            </a:r>
          </a:p>
        </p:txBody>
      </p:sp>
      <p:sp>
        <p:nvSpPr>
          <p:cNvPr id="4" name="Slide Number Placeholder 3"/>
          <p:cNvSpPr>
            <a:spLocks noGrp="1"/>
          </p:cNvSpPr>
          <p:nvPr>
            <p:ph type="sldNum" sz="quarter" idx="10"/>
          </p:nvPr>
        </p:nvSpPr>
        <p:spPr/>
        <p:txBody>
          <a:bodyPr/>
          <a:lstStyle/>
          <a:p>
            <a:fld id="{41CF17DE-5DF3-FB40-AD93-1BB750A9CF45}" type="slidenum">
              <a:rPr lang="en-US" smtClean="0"/>
              <a:t>32</a:t>
            </a:fld>
            <a:endParaRPr lang="en-US"/>
          </a:p>
        </p:txBody>
      </p:sp>
    </p:spTree>
    <p:extLst>
      <p:ext uri="{BB962C8B-B14F-4D97-AF65-F5344CB8AC3E}">
        <p14:creationId xmlns:p14="http://schemas.microsoft.com/office/powerpoint/2010/main" val="1142341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CF17DE-5DF3-FB40-AD93-1BB750A9CF45}" type="slidenum">
              <a:rPr lang="en-US" smtClean="0"/>
              <a:t>33</a:t>
            </a:fld>
            <a:endParaRPr lang="en-US"/>
          </a:p>
        </p:txBody>
      </p:sp>
    </p:spTree>
    <p:extLst>
      <p:ext uri="{BB962C8B-B14F-4D97-AF65-F5344CB8AC3E}">
        <p14:creationId xmlns:p14="http://schemas.microsoft.com/office/powerpoint/2010/main" val="1139036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FC126CA-4DF3-6646-ACC9-A899D3C909C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148574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126CA-4DF3-6646-ACC9-A899D3C909C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357353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C126CA-4DF3-6646-ACC9-A899D3C909C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681863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FC126CA-4DF3-6646-ACC9-A899D3C909C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893880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C126CA-4DF3-6646-ACC9-A899D3C909C7}" type="datetimeFigureOut">
              <a:rPr lang="en-US" smtClean="0"/>
              <a:t>2/16/26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453720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FC126CA-4DF3-6646-ACC9-A899D3C909C7}"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212000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126CA-4DF3-6646-ACC9-A899D3C909C7}" type="datetimeFigureOut">
              <a:rPr lang="en-US" smtClean="0"/>
              <a:t>2/16/26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954930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126CA-4DF3-6646-ACC9-A899D3C909C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771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126CA-4DF3-6646-ACC9-A899D3C909C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458086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126CA-4DF3-6646-ACC9-A899D3C909C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1123539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126CA-4DF3-6646-ACC9-A899D3C909C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1FA02-A91C-F147-B148-B09299EE4B7D}" type="slidenum">
              <a:rPr lang="en-US" smtClean="0"/>
              <a:t>‹#›</a:t>
            </a:fld>
            <a:endParaRPr lang="en-US"/>
          </a:p>
        </p:txBody>
      </p:sp>
    </p:spTree>
    <p:extLst>
      <p:ext uri="{BB962C8B-B14F-4D97-AF65-F5344CB8AC3E}">
        <p14:creationId xmlns:p14="http://schemas.microsoft.com/office/powerpoint/2010/main" val="51019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126CA-4DF3-6646-ACC9-A899D3C909C7}" type="datetimeFigureOut">
              <a:rPr lang="en-US" smtClean="0"/>
              <a:t>2/16/26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21FA02-A91C-F147-B148-B09299EE4B7D}" type="slidenum">
              <a:rPr lang="en-US" smtClean="0"/>
              <a:t>‹#›</a:t>
            </a:fld>
            <a:endParaRPr lang="en-US"/>
          </a:p>
        </p:txBody>
      </p:sp>
    </p:spTree>
    <p:extLst>
      <p:ext uri="{BB962C8B-B14F-4D97-AF65-F5344CB8AC3E}">
        <p14:creationId xmlns:p14="http://schemas.microsoft.com/office/powerpoint/2010/main" val="1754521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pnas.org/content/112/38/11887#sec-7" TargetMode="External"/><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ggplot2.tidyverse.org/referenc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r-graph-gallery.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Visualization</a:t>
            </a:r>
          </a:p>
        </p:txBody>
      </p:sp>
      <p:sp>
        <p:nvSpPr>
          <p:cNvPr id="3" name="Subtitle 2"/>
          <p:cNvSpPr>
            <a:spLocks noGrp="1"/>
          </p:cNvSpPr>
          <p:nvPr>
            <p:ph type="subTitle" idx="1"/>
          </p:nvPr>
        </p:nvSpPr>
        <p:spPr/>
        <p:txBody>
          <a:bodyPr/>
          <a:lstStyle/>
          <a:p>
            <a:r>
              <a:rPr lang="en-US" dirty="0"/>
              <a:t>Week 3</a:t>
            </a:r>
          </a:p>
        </p:txBody>
      </p:sp>
    </p:spTree>
    <p:extLst>
      <p:ext uri="{BB962C8B-B14F-4D97-AF65-F5344CB8AC3E}">
        <p14:creationId xmlns:p14="http://schemas.microsoft.com/office/powerpoint/2010/main" val="2141924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Github</a:t>
            </a:r>
            <a:r>
              <a:rPr lang="en-US" dirty="0"/>
              <a:t> and assignment housekeeping</a:t>
            </a:r>
          </a:p>
        </p:txBody>
      </p:sp>
      <p:sp>
        <p:nvSpPr>
          <p:cNvPr id="3" name="Content Placeholder 2"/>
          <p:cNvSpPr>
            <a:spLocks noGrp="1"/>
          </p:cNvSpPr>
          <p:nvPr>
            <p:ph idx="1"/>
          </p:nvPr>
        </p:nvSpPr>
        <p:spPr>
          <a:xfrm>
            <a:off x="838200" y="1382750"/>
            <a:ext cx="10515600" cy="5296829"/>
          </a:xfrm>
        </p:spPr>
        <p:txBody>
          <a:bodyPr>
            <a:normAutofit fontScale="47500" lnSpcReduction="20000"/>
          </a:bodyPr>
          <a:lstStyle/>
          <a:p>
            <a:r>
              <a:rPr lang="en-US" dirty="0"/>
              <a:t>Assignment tips on Canvas</a:t>
            </a:r>
          </a:p>
          <a:p>
            <a:endParaRPr lang="en-US" dirty="0"/>
          </a:p>
          <a:p>
            <a:r>
              <a:rPr lang="en-US" dirty="0"/>
              <a:t>Clean up </a:t>
            </a:r>
            <a:r>
              <a:rPr lang="en-US" dirty="0" err="1"/>
              <a:t>Github</a:t>
            </a:r>
            <a:r>
              <a:rPr lang="en-US" dirty="0"/>
              <a:t> folders</a:t>
            </a:r>
          </a:p>
          <a:p>
            <a:pPr lvl="1"/>
            <a:r>
              <a:rPr lang="en-US" dirty="0"/>
              <a:t>Your project should contain:</a:t>
            </a:r>
          </a:p>
          <a:p>
            <a:pPr lvl="1"/>
            <a:r>
              <a:rPr lang="en-US" dirty="0"/>
              <a:t>Some scripts</a:t>
            </a:r>
          </a:p>
          <a:p>
            <a:pPr lvl="1"/>
            <a:r>
              <a:rPr lang="en-US" dirty="0"/>
              <a:t>One . </a:t>
            </a:r>
            <a:r>
              <a:rPr lang="en-US" dirty="0" err="1"/>
              <a:t>Rproj</a:t>
            </a:r>
            <a:r>
              <a:rPr lang="en-US" dirty="0"/>
              <a:t> file</a:t>
            </a:r>
          </a:p>
          <a:p>
            <a:pPr lvl="1"/>
            <a:r>
              <a:rPr lang="en-US" dirty="0"/>
              <a:t>A </a:t>
            </a:r>
            <a:r>
              <a:rPr lang="en-US" dirty="0" err="1"/>
              <a:t>datafile</a:t>
            </a:r>
            <a:endParaRPr lang="en-US" dirty="0"/>
          </a:p>
          <a:p>
            <a:pPr lvl="1"/>
            <a:r>
              <a:rPr lang="en-US" dirty="0"/>
              <a:t>ONE </a:t>
            </a:r>
            <a:r>
              <a:rPr lang="en-US" dirty="0" err="1"/>
              <a:t>readme.md</a:t>
            </a:r>
            <a:r>
              <a:rPr lang="en-US" dirty="0"/>
              <a:t> file that tells you how these things go together</a:t>
            </a:r>
          </a:p>
          <a:p>
            <a:pPr lvl="1"/>
            <a:endParaRPr lang="en-US" dirty="0"/>
          </a:p>
          <a:p>
            <a:r>
              <a:rPr lang="en-US" dirty="0"/>
              <a:t>All of your scripts should run from beginning to end with no errors</a:t>
            </a:r>
          </a:p>
          <a:p>
            <a:r>
              <a:rPr lang="en-US" dirty="0"/>
              <a:t>Your README file should only contain a log, not actual code. Put your code in your scripts. (See example here: https://</a:t>
            </a:r>
            <a:r>
              <a:rPr lang="en-US" dirty="0" err="1"/>
              <a:t>github.com</a:t>
            </a:r>
            <a:r>
              <a:rPr lang="en-US" dirty="0"/>
              <a:t>/</a:t>
            </a:r>
            <a:r>
              <a:rPr lang="en-US" dirty="0" err="1"/>
              <a:t>VTQuantMethodsEEB</a:t>
            </a:r>
            <a:r>
              <a:rPr lang="en-US" dirty="0"/>
              <a:t>/</a:t>
            </a:r>
            <a:r>
              <a:rPr lang="en-US" dirty="0" err="1"/>
              <a:t>klangwig</a:t>
            </a:r>
            <a:r>
              <a:rPr lang="en-US" dirty="0"/>
              <a:t>/blob/master/</a:t>
            </a:r>
            <a:r>
              <a:rPr lang="en-US" dirty="0" err="1"/>
              <a:t>README_example.md</a:t>
            </a:r>
            <a:r>
              <a:rPr lang="en-US" dirty="0"/>
              <a:t>)</a:t>
            </a:r>
          </a:p>
          <a:p>
            <a:endParaRPr lang="en-US" dirty="0"/>
          </a:p>
          <a:p>
            <a:r>
              <a:rPr lang="en-US" b="1" dirty="0"/>
              <a:t>Every time you submit an assignment:</a:t>
            </a:r>
          </a:p>
          <a:p>
            <a:r>
              <a:rPr lang="en-US" dirty="0"/>
              <a:t>You will need to do a new </a:t>
            </a:r>
            <a:r>
              <a:rPr lang="en-US" b="1" dirty="0"/>
              <a:t>COMMIT</a:t>
            </a:r>
            <a:r>
              <a:rPr lang="en-US" dirty="0"/>
              <a:t> and type something in the box</a:t>
            </a:r>
          </a:p>
          <a:p>
            <a:r>
              <a:rPr lang="en-US" dirty="0"/>
              <a:t>Second, you will need to </a:t>
            </a:r>
            <a:r>
              <a:rPr lang="en-US" b="1" dirty="0"/>
              <a:t>PUSH</a:t>
            </a:r>
            <a:r>
              <a:rPr lang="en-US" dirty="0"/>
              <a:t> to share any changes to your files with me and send them to GitHub. </a:t>
            </a:r>
          </a:p>
          <a:p>
            <a:r>
              <a:rPr lang="en-US" dirty="0"/>
              <a:t>Each week you will need to </a:t>
            </a:r>
            <a:r>
              <a:rPr lang="en-US" b="1" dirty="0"/>
              <a:t>PULL </a:t>
            </a:r>
            <a:r>
              <a:rPr lang="en-US" dirty="0"/>
              <a:t>to see my comments on your scripts. Then, commit and push to send me your assignment. </a:t>
            </a:r>
          </a:p>
          <a:p>
            <a:endParaRPr lang="en-US" dirty="0"/>
          </a:p>
          <a:p>
            <a:r>
              <a:rPr lang="en-US" b="1" dirty="0"/>
              <a:t>Please annotate your code</a:t>
            </a:r>
          </a:p>
          <a:p>
            <a:r>
              <a:rPr lang="en-US" dirty="0"/>
              <a:t>If you have a question about something, you can ask in your code annotation</a:t>
            </a:r>
          </a:p>
          <a:p>
            <a:r>
              <a:rPr lang="en-US" dirty="0"/>
              <a:t>#I would like to print the names of the species that are higher than the mean, but I’m not sure how to do that</a:t>
            </a:r>
          </a:p>
          <a:p>
            <a:r>
              <a:rPr lang="en-US" dirty="0"/>
              <a:t>I will (try) to help and push back the script to you with how to do this! (Hopefully</a:t>
            </a:r>
            <a:r>
              <a:rPr lang="mr-IN" dirty="0"/>
              <a:t>…</a:t>
            </a:r>
            <a:r>
              <a:rPr lang="en-US" dirty="0"/>
              <a:t>)</a:t>
            </a:r>
          </a:p>
        </p:txBody>
      </p:sp>
    </p:spTree>
    <p:extLst>
      <p:ext uri="{BB962C8B-B14F-4D97-AF65-F5344CB8AC3E}">
        <p14:creationId xmlns:p14="http://schemas.microsoft.com/office/powerpoint/2010/main" val="2867002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Preparation</a:t>
            </a:r>
          </a:p>
        </p:txBody>
      </p:sp>
      <p:sp>
        <p:nvSpPr>
          <p:cNvPr id="3" name="Content Placeholder 2"/>
          <p:cNvSpPr>
            <a:spLocks noGrp="1"/>
          </p:cNvSpPr>
          <p:nvPr>
            <p:ph idx="1"/>
          </p:nvPr>
        </p:nvSpPr>
        <p:spPr/>
        <p:txBody>
          <a:bodyPr>
            <a:normAutofit fontScale="92500" lnSpcReduction="20000"/>
          </a:bodyPr>
          <a:lstStyle/>
          <a:p>
            <a:r>
              <a:rPr lang="en-US" dirty="0"/>
              <a:t>Install package “ggplot2”</a:t>
            </a:r>
          </a:p>
          <a:p>
            <a:r>
              <a:rPr lang="en-US" dirty="0"/>
              <a:t>Install package “</a:t>
            </a:r>
            <a:r>
              <a:rPr lang="en-US" dirty="0" err="1"/>
              <a:t>gridExtra</a:t>
            </a:r>
            <a:r>
              <a:rPr lang="en-US" dirty="0"/>
              <a:t>”</a:t>
            </a:r>
          </a:p>
          <a:p>
            <a:endParaRPr lang="en-US" dirty="0"/>
          </a:p>
          <a:p>
            <a:pPr marL="0" indent="0">
              <a:buNone/>
            </a:pPr>
            <a:r>
              <a:rPr lang="en-US" dirty="0"/>
              <a:t>Fun extras:</a:t>
            </a:r>
          </a:p>
          <a:p>
            <a:r>
              <a:rPr lang="en-US" dirty="0"/>
              <a:t>Install package “</a:t>
            </a:r>
            <a:r>
              <a:rPr lang="en-US" dirty="0" err="1"/>
              <a:t>viridis</a:t>
            </a:r>
            <a:r>
              <a:rPr lang="en-US" dirty="0"/>
              <a:t>”</a:t>
            </a:r>
          </a:p>
          <a:p>
            <a:r>
              <a:rPr lang="en-US" dirty="0"/>
              <a:t>Install package “</a:t>
            </a:r>
            <a:r>
              <a:rPr lang="en-US" dirty="0" err="1"/>
              <a:t>cowplot</a:t>
            </a:r>
            <a:r>
              <a:rPr lang="en-US"/>
              <a:t>”</a:t>
            </a:r>
            <a:endParaRPr lang="en-US" dirty="0"/>
          </a:p>
          <a:p>
            <a:r>
              <a:rPr lang="en-US" dirty="0"/>
              <a:t>Install package “</a:t>
            </a:r>
            <a:r>
              <a:rPr lang="en-US" dirty="0" err="1"/>
              <a:t>ggforce</a:t>
            </a:r>
            <a:r>
              <a:rPr lang="en-US" dirty="0"/>
              <a:t>”</a:t>
            </a:r>
          </a:p>
          <a:p>
            <a:r>
              <a:rPr lang="en-US" dirty="0"/>
              <a:t>Install package ”shiny” (maybe we want to do this as an extension?)</a:t>
            </a:r>
          </a:p>
          <a:p>
            <a:r>
              <a:rPr lang="en-US" dirty="0"/>
              <a:t>Install package “</a:t>
            </a:r>
            <a:r>
              <a:rPr lang="en-US" dirty="0" err="1"/>
              <a:t>ggthemes</a:t>
            </a:r>
            <a:r>
              <a:rPr lang="en-US" dirty="0"/>
              <a:t>”</a:t>
            </a:r>
          </a:p>
          <a:p>
            <a:pPr lvl="1"/>
            <a:r>
              <a:rPr lang="en-US" dirty="0"/>
              <a:t>This is really awesome </a:t>
            </a:r>
            <a:r>
              <a:rPr lang="mr-IN" dirty="0"/>
              <a:t>–</a:t>
            </a:r>
            <a:r>
              <a:rPr lang="en-US" dirty="0"/>
              <a:t> use themes based on plots from </a:t>
            </a:r>
            <a:r>
              <a:rPr lang="en-US" i="1" dirty="0"/>
              <a:t>The Economist, STATA, Excel 2003, </a:t>
            </a:r>
            <a:r>
              <a:rPr lang="en-US" i="1" dirty="0" err="1"/>
              <a:t>Fivethirtyeight</a:t>
            </a:r>
            <a:r>
              <a:rPr lang="en-US" i="1" dirty="0"/>
              <a:t>, WSJ, etc. </a:t>
            </a:r>
          </a:p>
        </p:txBody>
      </p:sp>
    </p:spTree>
    <p:extLst>
      <p:ext uri="{BB962C8B-B14F-4D97-AF65-F5344CB8AC3E}">
        <p14:creationId xmlns:p14="http://schemas.microsoft.com/office/powerpoint/2010/main" val="2050174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a:t>
            </a:r>
          </a:p>
        </p:txBody>
      </p:sp>
      <p:sp>
        <p:nvSpPr>
          <p:cNvPr id="3" name="Content Placeholder 2"/>
          <p:cNvSpPr>
            <a:spLocks noGrp="1"/>
          </p:cNvSpPr>
          <p:nvPr>
            <p:ph idx="1"/>
          </p:nvPr>
        </p:nvSpPr>
        <p:spPr/>
        <p:txBody>
          <a:bodyPr/>
          <a:lstStyle/>
          <a:p>
            <a:r>
              <a:rPr lang="en-US" dirty="0"/>
              <a:t>Participants will learn to think broadly about the effective uses of visualization</a:t>
            </a:r>
          </a:p>
          <a:p>
            <a:pPr marL="0" indent="0">
              <a:buNone/>
            </a:pPr>
            <a:endParaRPr lang="en-US" dirty="0"/>
          </a:p>
          <a:p>
            <a:r>
              <a:rPr lang="en-US" dirty="0"/>
              <a:t>Understand previous research on visualization</a:t>
            </a:r>
          </a:p>
          <a:p>
            <a:endParaRPr lang="en-US" dirty="0"/>
          </a:p>
          <a:p>
            <a:r>
              <a:rPr lang="en-US" dirty="0"/>
              <a:t>Learn the ggplot2 package and some extensions</a:t>
            </a:r>
          </a:p>
        </p:txBody>
      </p:sp>
    </p:spTree>
    <p:extLst>
      <p:ext uri="{BB962C8B-B14F-4D97-AF65-F5344CB8AC3E}">
        <p14:creationId xmlns:p14="http://schemas.microsoft.com/office/powerpoint/2010/main" val="37984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3D95F-60E2-787F-DA9D-5CAAB2778FA2}"/>
              </a:ext>
            </a:extLst>
          </p:cNvPr>
          <p:cNvSpPr>
            <a:spLocks noGrp="1"/>
          </p:cNvSpPr>
          <p:nvPr>
            <p:ph type="title"/>
          </p:nvPr>
        </p:nvSpPr>
        <p:spPr>
          <a:xfrm>
            <a:off x="964787" y="804333"/>
            <a:ext cx="3795471" cy="5249334"/>
          </a:xfrm>
          <a:solidFill>
            <a:schemeClr val="tx1"/>
          </a:solidFill>
        </p:spPr>
        <p:txBody>
          <a:bodyPr>
            <a:normAutofit/>
          </a:bodyPr>
          <a:lstStyle/>
          <a:p>
            <a:pPr algn="ctr"/>
            <a:r>
              <a:rPr lang="en-US" dirty="0">
                <a:solidFill>
                  <a:srgbClr val="FFFFFF"/>
                </a:solidFill>
              </a:rPr>
              <a:t>Check-In</a:t>
            </a:r>
          </a:p>
        </p:txBody>
      </p:sp>
      <p:sp>
        <p:nvSpPr>
          <p:cNvPr id="3" name="Content Placeholder 2">
            <a:extLst>
              <a:ext uri="{FF2B5EF4-FFF2-40B4-BE49-F238E27FC236}">
                <a16:creationId xmlns:a16="http://schemas.microsoft.com/office/drawing/2014/main" id="{71F64929-7C67-71BF-4E6C-E1444983DFB9}"/>
              </a:ext>
            </a:extLst>
          </p:cNvPr>
          <p:cNvSpPr>
            <a:spLocks noGrp="1"/>
          </p:cNvSpPr>
          <p:nvPr>
            <p:ph idx="1"/>
          </p:nvPr>
        </p:nvSpPr>
        <p:spPr>
          <a:xfrm>
            <a:off x="4943641" y="804333"/>
            <a:ext cx="6306003" cy="5249334"/>
          </a:xfrm>
        </p:spPr>
        <p:txBody>
          <a:bodyPr anchor="ctr">
            <a:normAutofit/>
          </a:bodyPr>
          <a:lstStyle/>
          <a:p>
            <a:pPr marL="0" indent="0">
              <a:buNone/>
            </a:pPr>
            <a:endParaRPr lang="en-US" dirty="0"/>
          </a:p>
          <a:p>
            <a:r>
              <a:rPr lang="en-US" sz="3200" dirty="0"/>
              <a:t>How are you feeling today? </a:t>
            </a:r>
          </a:p>
          <a:p>
            <a:r>
              <a:rPr lang="en-US" sz="3200" dirty="0"/>
              <a:t>What questions do you still have from last week?</a:t>
            </a:r>
          </a:p>
          <a:p>
            <a:r>
              <a:rPr lang="en-US" sz="3200" dirty="0"/>
              <a:t>What do you already know about data visualization?</a:t>
            </a:r>
          </a:p>
        </p:txBody>
      </p:sp>
    </p:spTree>
    <p:extLst>
      <p:ext uri="{BB962C8B-B14F-4D97-AF65-F5344CB8AC3E}">
        <p14:creationId xmlns:p14="http://schemas.microsoft.com/office/powerpoint/2010/main" val="378087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C1631-82E7-6295-6EF8-49EEB7B6D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D8B4C-FC2E-9048-6E98-B36096C05E73}"/>
              </a:ext>
            </a:extLst>
          </p:cNvPr>
          <p:cNvSpPr>
            <a:spLocks noGrp="1"/>
          </p:cNvSpPr>
          <p:nvPr>
            <p:ph type="title"/>
          </p:nvPr>
        </p:nvSpPr>
        <p:spPr/>
        <p:txBody>
          <a:bodyPr/>
          <a:lstStyle/>
          <a:p>
            <a:r>
              <a:rPr lang="en-US" dirty="0"/>
              <a:t>Why do We Make Graphs and Figures?</a:t>
            </a:r>
          </a:p>
        </p:txBody>
      </p:sp>
      <p:pic>
        <p:nvPicPr>
          <p:cNvPr id="6" name="Picture 5">
            <a:extLst>
              <a:ext uri="{FF2B5EF4-FFF2-40B4-BE49-F238E27FC236}">
                <a16:creationId xmlns:a16="http://schemas.microsoft.com/office/drawing/2014/main" id="{53E211EF-10FB-4271-4C42-081811BEE5B8}"/>
              </a:ext>
            </a:extLst>
          </p:cNvPr>
          <p:cNvPicPr>
            <a:picLocks noChangeAspect="1"/>
          </p:cNvPicPr>
          <p:nvPr/>
        </p:nvPicPr>
        <p:blipFill>
          <a:blip r:embed="rId2"/>
          <a:stretch>
            <a:fillRect/>
          </a:stretch>
        </p:blipFill>
        <p:spPr>
          <a:xfrm>
            <a:off x="859999" y="2410344"/>
            <a:ext cx="4758406" cy="3702844"/>
          </a:xfrm>
          <a:prstGeom prst="rect">
            <a:avLst/>
          </a:prstGeom>
        </p:spPr>
      </p:pic>
      <p:sp>
        <p:nvSpPr>
          <p:cNvPr id="7" name="TextBox 6">
            <a:extLst>
              <a:ext uri="{FF2B5EF4-FFF2-40B4-BE49-F238E27FC236}">
                <a16:creationId xmlns:a16="http://schemas.microsoft.com/office/drawing/2014/main" id="{CB649DE8-66C9-9A50-6AA8-DC8066543AC7}"/>
              </a:ext>
            </a:extLst>
          </p:cNvPr>
          <p:cNvSpPr txBox="1"/>
          <p:nvPr/>
        </p:nvSpPr>
        <p:spPr>
          <a:xfrm>
            <a:off x="1242664" y="1807833"/>
            <a:ext cx="4139381" cy="553998"/>
          </a:xfrm>
          <a:prstGeom prst="rect">
            <a:avLst/>
          </a:prstGeom>
          <a:noFill/>
        </p:spPr>
        <p:txBody>
          <a:bodyPr wrap="square" rtlCol="0">
            <a:spAutoFit/>
          </a:bodyPr>
          <a:lstStyle/>
          <a:p>
            <a:r>
              <a:rPr lang="en-US" sz="3000" dirty="0"/>
              <a:t>Understanding your data</a:t>
            </a:r>
          </a:p>
        </p:txBody>
      </p:sp>
      <p:sp>
        <p:nvSpPr>
          <p:cNvPr id="8" name="TextBox 7">
            <a:extLst>
              <a:ext uri="{FF2B5EF4-FFF2-40B4-BE49-F238E27FC236}">
                <a16:creationId xmlns:a16="http://schemas.microsoft.com/office/drawing/2014/main" id="{E9F13BEC-63E3-17B8-158F-F1322403CB50}"/>
              </a:ext>
            </a:extLst>
          </p:cNvPr>
          <p:cNvSpPr txBox="1"/>
          <p:nvPr/>
        </p:nvSpPr>
        <p:spPr>
          <a:xfrm>
            <a:off x="7057842" y="1807833"/>
            <a:ext cx="4827637" cy="553998"/>
          </a:xfrm>
          <a:prstGeom prst="rect">
            <a:avLst/>
          </a:prstGeom>
          <a:noFill/>
        </p:spPr>
        <p:txBody>
          <a:bodyPr wrap="square" rtlCol="0">
            <a:spAutoFit/>
          </a:bodyPr>
          <a:lstStyle/>
          <a:p>
            <a:r>
              <a:rPr lang="en-US" sz="3000" dirty="0"/>
              <a:t>Communicating your findings</a:t>
            </a:r>
          </a:p>
        </p:txBody>
      </p:sp>
      <p:pic>
        <p:nvPicPr>
          <p:cNvPr id="9" name="Picture 8">
            <a:extLst>
              <a:ext uri="{FF2B5EF4-FFF2-40B4-BE49-F238E27FC236}">
                <a16:creationId xmlns:a16="http://schemas.microsoft.com/office/drawing/2014/main" id="{D5AEA487-8E91-093A-7BA0-5C3CC83FAD19}"/>
              </a:ext>
            </a:extLst>
          </p:cNvPr>
          <p:cNvPicPr>
            <a:picLocks noChangeAspect="1"/>
          </p:cNvPicPr>
          <p:nvPr/>
        </p:nvPicPr>
        <p:blipFill>
          <a:blip r:embed="rId3"/>
          <a:stretch>
            <a:fillRect/>
          </a:stretch>
        </p:blipFill>
        <p:spPr>
          <a:xfrm>
            <a:off x="6875601" y="2932464"/>
            <a:ext cx="4478200" cy="3038128"/>
          </a:xfrm>
          <a:prstGeom prst="rect">
            <a:avLst/>
          </a:prstGeom>
        </p:spPr>
      </p:pic>
      <p:sp>
        <p:nvSpPr>
          <p:cNvPr id="10" name="TextBox 9">
            <a:extLst>
              <a:ext uri="{FF2B5EF4-FFF2-40B4-BE49-F238E27FC236}">
                <a16:creationId xmlns:a16="http://schemas.microsoft.com/office/drawing/2014/main" id="{EE31BCD6-6AB5-2F67-5D6D-53E54BDF4D36}"/>
              </a:ext>
            </a:extLst>
          </p:cNvPr>
          <p:cNvSpPr txBox="1"/>
          <p:nvPr/>
        </p:nvSpPr>
        <p:spPr>
          <a:xfrm>
            <a:off x="9563264" y="6113188"/>
            <a:ext cx="2122376" cy="369332"/>
          </a:xfrm>
          <a:prstGeom prst="rect">
            <a:avLst/>
          </a:prstGeom>
          <a:noFill/>
        </p:spPr>
        <p:txBody>
          <a:bodyPr wrap="none" rtlCol="0">
            <a:spAutoFit/>
          </a:bodyPr>
          <a:lstStyle/>
          <a:p>
            <a:r>
              <a:rPr lang="en-US" dirty="0" err="1"/>
              <a:t>Tchouassi</a:t>
            </a:r>
            <a:r>
              <a:rPr lang="en-US" dirty="0"/>
              <a:t> et al. 2020</a:t>
            </a:r>
          </a:p>
        </p:txBody>
      </p:sp>
    </p:spTree>
    <p:extLst>
      <p:ext uri="{BB962C8B-B14F-4D97-AF65-F5344CB8AC3E}">
        <p14:creationId xmlns:p14="http://schemas.microsoft.com/office/powerpoint/2010/main" val="1247532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1CB5-84B4-48B9-8CC3-13CE4DF67C09}"/>
              </a:ext>
            </a:extLst>
          </p:cNvPr>
          <p:cNvSpPr>
            <a:spLocks noGrp="1"/>
          </p:cNvSpPr>
          <p:nvPr>
            <p:ph type="title"/>
          </p:nvPr>
        </p:nvSpPr>
        <p:spPr/>
        <p:txBody>
          <a:bodyPr/>
          <a:lstStyle/>
          <a:p>
            <a:r>
              <a:rPr lang="en-US" dirty="0"/>
              <a:t>In-Class Exercise: How do we use figures to visualize different types of data?</a:t>
            </a:r>
          </a:p>
        </p:txBody>
      </p:sp>
      <p:sp>
        <p:nvSpPr>
          <p:cNvPr id="3" name="Content Placeholder 2">
            <a:extLst>
              <a:ext uri="{FF2B5EF4-FFF2-40B4-BE49-F238E27FC236}">
                <a16:creationId xmlns:a16="http://schemas.microsoft.com/office/drawing/2014/main" id="{2222E0BD-C0E3-40F5-B782-7BAD90BB1544}"/>
              </a:ext>
            </a:extLst>
          </p:cNvPr>
          <p:cNvSpPr>
            <a:spLocks noGrp="1"/>
          </p:cNvSpPr>
          <p:nvPr>
            <p:ph idx="1"/>
          </p:nvPr>
        </p:nvSpPr>
        <p:spPr>
          <a:xfrm>
            <a:off x="838200" y="2227661"/>
            <a:ext cx="10515600" cy="1229105"/>
          </a:xfrm>
        </p:spPr>
        <p:txBody>
          <a:bodyPr>
            <a:normAutofit/>
          </a:bodyPr>
          <a:lstStyle/>
          <a:p>
            <a:pPr marL="0" indent="0">
              <a:buNone/>
            </a:pPr>
            <a:r>
              <a:rPr lang="en-US" dirty="0"/>
              <a:t>Step 0: Get into groups of 3-4, each group take a handout sheet from the same packet. DO NOT look at anyone else’s paper!</a:t>
            </a:r>
          </a:p>
          <a:p>
            <a:pPr marL="0" indent="0">
              <a:buNone/>
            </a:pPr>
            <a:endParaRPr lang="en-US" dirty="0"/>
          </a:p>
          <a:p>
            <a:pPr marL="0" indent="0">
              <a:buNone/>
            </a:pPr>
            <a:endParaRPr lang="en-US" dirty="0"/>
          </a:p>
          <a:p>
            <a:pPr marL="0" indent="0">
              <a:buNone/>
            </a:pPr>
            <a:endParaRPr lang="en-US" dirty="0"/>
          </a:p>
        </p:txBody>
      </p:sp>
      <p:pic>
        <p:nvPicPr>
          <p:cNvPr id="12" name="Graphic 11" descr="Walk with solid fill">
            <a:extLst>
              <a:ext uri="{FF2B5EF4-FFF2-40B4-BE49-F238E27FC236}">
                <a16:creationId xmlns:a16="http://schemas.microsoft.com/office/drawing/2014/main" id="{49591538-FAAE-47D6-B489-58940BB4D5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47704" y="4946854"/>
            <a:ext cx="1200489" cy="1200489"/>
          </a:xfrm>
          <a:prstGeom prst="rect">
            <a:avLst/>
          </a:prstGeom>
        </p:spPr>
      </p:pic>
      <p:pic>
        <p:nvPicPr>
          <p:cNvPr id="14" name="Graphic 13" descr="Confused person with solid fill">
            <a:extLst>
              <a:ext uri="{FF2B5EF4-FFF2-40B4-BE49-F238E27FC236}">
                <a16:creationId xmlns:a16="http://schemas.microsoft.com/office/drawing/2014/main" id="{65560581-2CEA-46FA-820C-9735D46637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07855" y="3128791"/>
            <a:ext cx="1200489" cy="1200489"/>
          </a:xfrm>
          <a:prstGeom prst="rect">
            <a:avLst/>
          </a:prstGeom>
        </p:spPr>
      </p:pic>
      <p:pic>
        <p:nvPicPr>
          <p:cNvPr id="16" name="Graphic 15" descr="Dance with solid fill">
            <a:extLst>
              <a:ext uri="{FF2B5EF4-FFF2-40B4-BE49-F238E27FC236}">
                <a16:creationId xmlns:a16="http://schemas.microsoft.com/office/drawing/2014/main" id="{E5EFD02B-DE39-4A74-846C-67B8391CB4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74197" y="3599595"/>
            <a:ext cx="1947504" cy="1947504"/>
          </a:xfrm>
          <a:prstGeom prst="rect">
            <a:avLst/>
          </a:prstGeom>
        </p:spPr>
      </p:pic>
    </p:spTree>
    <p:extLst>
      <p:ext uri="{BB962C8B-B14F-4D97-AF65-F5344CB8AC3E}">
        <p14:creationId xmlns:p14="http://schemas.microsoft.com/office/powerpoint/2010/main" val="2434760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1CB5-84B4-48B9-8CC3-13CE4DF67C09}"/>
              </a:ext>
            </a:extLst>
          </p:cNvPr>
          <p:cNvSpPr>
            <a:spLocks noGrp="1"/>
          </p:cNvSpPr>
          <p:nvPr>
            <p:ph type="title"/>
          </p:nvPr>
        </p:nvSpPr>
        <p:spPr/>
        <p:txBody>
          <a:bodyPr/>
          <a:lstStyle/>
          <a:p>
            <a:r>
              <a:rPr lang="en-US" dirty="0"/>
              <a:t>In-Class Exercise: How do we use figures to visualize different types of data?</a:t>
            </a:r>
          </a:p>
        </p:txBody>
      </p:sp>
      <p:sp>
        <p:nvSpPr>
          <p:cNvPr id="3" name="Content Placeholder 2">
            <a:extLst>
              <a:ext uri="{FF2B5EF4-FFF2-40B4-BE49-F238E27FC236}">
                <a16:creationId xmlns:a16="http://schemas.microsoft.com/office/drawing/2014/main" id="{2222E0BD-C0E3-40F5-B782-7BAD90BB1544}"/>
              </a:ext>
            </a:extLst>
          </p:cNvPr>
          <p:cNvSpPr>
            <a:spLocks noGrp="1"/>
          </p:cNvSpPr>
          <p:nvPr>
            <p:ph idx="1"/>
          </p:nvPr>
        </p:nvSpPr>
        <p:spPr/>
        <p:txBody>
          <a:bodyPr>
            <a:normAutofit/>
          </a:bodyPr>
          <a:lstStyle/>
          <a:p>
            <a:pPr marL="0" indent="0">
              <a:buNone/>
            </a:pPr>
            <a:r>
              <a:rPr lang="en-US" dirty="0"/>
              <a:t>Step 0: Get into groups of 3-4, each group take a handout sheet from the same packet.</a:t>
            </a:r>
          </a:p>
          <a:p>
            <a:pPr marL="0" indent="0">
              <a:buNone/>
            </a:pPr>
            <a:r>
              <a:rPr lang="en-US" dirty="0"/>
              <a:t>Step 1: Read the finding at the top of your sheet and draw a figure that uses data to communicate the finding. </a:t>
            </a:r>
          </a:p>
          <a:p>
            <a:pPr marL="0" indent="0">
              <a:buNone/>
            </a:pPr>
            <a:r>
              <a:rPr lang="en-US" dirty="0"/>
              <a:t>FOLD the top of the paper back on the dotted line</a:t>
            </a:r>
          </a:p>
          <a:p>
            <a:pPr marL="0" indent="0">
              <a:buNone/>
            </a:pPr>
            <a:r>
              <a:rPr lang="en-US" dirty="0"/>
              <a:t>PASS the paper to the next person in your group</a:t>
            </a:r>
          </a:p>
          <a:p>
            <a:pPr marL="0" indent="0">
              <a:buNone/>
            </a:pPr>
            <a:endParaRPr lang="en-US" dirty="0"/>
          </a:p>
          <a:p>
            <a:pPr marL="0" indent="0">
              <a:buNone/>
            </a:pPr>
            <a:endParaRPr lang="en-US" dirty="0"/>
          </a:p>
        </p:txBody>
      </p:sp>
      <p:pic>
        <p:nvPicPr>
          <p:cNvPr id="1026" name="Picture 2" descr="Office Graph Free Stock CC0 Photo - StockSnap.io">
            <a:extLst>
              <a:ext uri="{FF2B5EF4-FFF2-40B4-BE49-F238E27FC236}">
                <a16:creationId xmlns:a16="http://schemas.microsoft.com/office/drawing/2014/main" id="{BBB8676F-8CD0-47A7-9DA6-FE519F9C9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4645" y="3445797"/>
            <a:ext cx="4299155" cy="2866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80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2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1CB5-84B4-48B9-8CC3-13CE4DF67C09}"/>
              </a:ext>
            </a:extLst>
          </p:cNvPr>
          <p:cNvSpPr>
            <a:spLocks noGrp="1"/>
          </p:cNvSpPr>
          <p:nvPr>
            <p:ph type="title"/>
          </p:nvPr>
        </p:nvSpPr>
        <p:spPr/>
        <p:txBody>
          <a:bodyPr/>
          <a:lstStyle/>
          <a:p>
            <a:r>
              <a:rPr lang="en-US" dirty="0"/>
              <a:t>In-Class Exercise: How do we use figures to visualize different types of data?</a:t>
            </a:r>
          </a:p>
        </p:txBody>
      </p:sp>
      <p:sp>
        <p:nvSpPr>
          <p:cNvPr id="3" name="Content Placeholder 2">
            <a:extLst>
              <a:ext uri="{FF2B5EF4-FFF2-40B4-BE49-F238E27FC236}">
                <a16:creationId xmlns:a16="http://schemas.microsoft.com/office/drawing/2014/main" id="{2222E0BD-C0E3-40F5-B782-7BAD90BB1544}"/>
              </a:ext>
            </a:extLst>
          </p:cNvPr>
          <p:cNvSpPr>
            <a:spLocks noGrp="1"/>
          </p:cNvSpPr>
          <p:nvPr>
            <p:ph idx="1"/>
          </p:nvPr>
        </p:nvSpPr>
        <p:spPr/>
        <p:txBody>
          <a:bodyPr>
            <a:normAutofit/>
          </a:bodyPr>
          <a:lstStyle/>
          <a:p>
            <a:pPr marL="0" indent="0">
              <a:buNone/>
            </a:pPr>
            <a:r>
              <a:rPr lang="en-US" dirty="0"/>
              <a:t>Step 2: You should see just a figure drawn by your group member at the top of your page. Write a statement that describes the pattern you see in the figure.</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8C32092A-FA93-4404-AF57-84DBBC2FF725}"/>
              </a:ext>
            </a:extLst>
          </p:cNvPr>
          <p:cNvPicPr>
            <a:picLocks noChangeAspect="1"/>
          </p:cNvPicPr>
          <p:nvPr/>
        </p:nvPicPr>
        <p:blipFill rotWithShape="1">
          <a:blip r:embed="rId3"/>
          <a:srcRect t="23226" b="10968"/>
          <a:stretch/>
        </p:blipFill>
        <p:spPr>
          <a:xfrm>
            <a:off x="3905767" y="3291840"/>
            <a:ext cx="3443344" cy="3398913"/>
          </a:xfrm>
          <a:prstGeom prst="rect">
            <a:avLst/>
          </a:prstGeom>
        </p:spPr>
      </p:pic>
    </p:spTree>
    <p:extLst>
      <p:ext uri="{BB962C8B-B14F-4D97-AF65-F5344CB8AC3E}">
        <p14:creationId xmlns:p14="http://schemas.microsoft.com/office/powerpoint/2010/main" val="424509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1CB5-84B4-48B9-8CC3-13CE4DF67C09}"/>
              </a:ext>
            </a:extLst>
          </p:cNvPr>
          <p:cNvSpPr>
            <a:spLocks noGrp="1"/>
          </p:cNvSpPr>
          <p:nvPr>
            <p:ph type="title"/>
          </p:nvPr>
        </p:nvSpPr>
        <p:spPr/>
        <p:txBody>
          <a:bodyPr/>
          <a:lstStyle/>
          <a:p>
            <a:r>
              <a:rPr lang="en-US" dirty="0"/>
              <a:t>In-Class Exercise: How do we use figures to visualize different types of data?</a:t>
            </a:r>
          </a:p>
        </p:txBody>
      </p:sp>
      <p:sp>
        <p:nvSpPr>
          <p:cNvPr id="3" name="Content Placeholder 2">
            <a:extLst>
              <a:ext uri="{FF2B5EF4-FFF2-40B4-BE49-F238E27FC236}">
                <a16:creationId xmlns:a16="http://schemas.microsoft.com/office/drawing/2014/main" id="{2222E0BD-C0E3-40F5-B782-7BAD90BB1544}"/>
              </a:ext>
            </a:extLst>
          </p:cNvPr>
          <p:cNvSpPr>
            <a:spLocks noGrp="1"/>
          </p:cNvSpPr>
          <p:nvPr>
            <p:ph idx="1"/>
          </p:nvPr>
        </p:nvSpPr>
        <p:spPr/>
        <p:txBody>
          <a:bodyPr>
            <a:normAutofit/>
          </a:bodyPr>
          <a:lstStyle/>
          <a:p>
            <a:pPr marL="0" indent="0">
              <a:buNone/>
            </a:pPr>
            <a:r>
              <a:rPr lang="en-US" dirty="0"/>
              <a:t>STEP 3: THINK about these questions:</a:t>
            </a:r>
          </a:p>
          <a:p>
            <a:r>
              <a:rPr lang="en-US" dirty="0"/>
              <a:t>How did you choose what type of figure to draw?</a:t>
            </a:r>
          </a:p>
          <a:p>
            <a:r>
              <a:rPr lang="en-US" dirty="0"/>
              <a:t>Which features were most important to understanding the figures drawn by your group members? Which were unimportant? Which missing features would have helped you understand?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49849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1CB5-84B4-48B9-8CC3-13CE4DF67C09}"/>
              </a:ext>
            </a:extLst>
          </p:cNvPr>
          <p:cNvSpPr>
            <a:spLocks noGrp="1"/>
          </p:cNvSpPr>
          <p:nvPr>
            <p:ph type="title"/>
          </p:nvPr>
        </p:nvSpPr>
        <p:spPr/>
        <p:txBody>
          <a:bodyPr/>
          <a:lstStyle/>
          <a:p>
            <a:r>
              <a:rPr lang="en-US" dirty="0"/>
              <a:t>In-Class Exercise: How do we use figures to visualize different types of data?</a:t>
            </a:r>
          </a:p>
        </p:txBody>
      </p:sp>
      <p:sp>
        <p:nvSpPr>
          <p:cNvPr id="3" name="Content Placeholder 2">
            <a:extLst>
              <a:ext uri="{FF2B5EF4-FFF2-40B4-BE49-F238E27FC236}">
                <a16:creationId xmlns:a16="http://schemas.microsoft.com/office/drawing/2014/main" id="{2222E0BD-C0E3-40F5-B782-7BAD90BB1544}"/>
              </a:ext>
            </a:extLst>
          </p:cNvPr>
          <p:cNvSpPr>
            <a:spLocks noGrp="1"/>
          </p:cNvSpPr>
          <p:nvPr>
            <p:ph idx="1"/>
          </p:nvPr>
        </p:nvSpPr>
        <p:spPr/>
        <p:txBody>
          <a:bodyPr>
            <a:normAutofit/>
          </a:bodyPr>
          <a:lstStyle/>
          <a:p>
            <a:pPr marL="0" indent="0">
              <a:buNone/>
            </a:pPr>
            <a:r>
              <a:rPr lang="en-US" dirty="0"/>
              <a:t>STEP 4: DISCUSS your answers with your team members</a:t>
            </a:r>
          </a:p>
          <a:p>
            <a:r>
              <a:rPr lang="en-US" dirty="0"/>
              <a:t>How did you choose what type of figure to draw?</a:t>
            </a:r>
          </a:p>
          <a:p>
            <a:r>
              <a:rPr lang="en-US" dirty="0"/>
              <a:t>Which features were most important to understanding the figures drawn by your group members? Which were unimportant? Which missing features would have helped you understand?</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07839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2"/>
          <a:stretch>
            <a:fillRect/>
          </a:stretch>
        </p:blipFill>
        <p:spPr>
          <a:xfrm>
            <a:off x="3553350" y="2387589"/>
            <a:ext cx="4869602" cy="3789374"/>
          </a:xfrm>
          <a:prstGeom prst="rect">
            <a:avLst/>
          </a:prstGeom>
        </p:spPr>
      </p:pic>
      <p:sp>
        <p:nvSpPr>
          <p:cNvPr id="10" name="TextBox 9">
            <a:extLst>
              <a:ext uri="{FF2B5EF4-FFF2-40B4-BE49-F238E27FC236}">
                <a16:creationId xmlns:a16="http://schemas.microsoft.com/office/drawing/2014/main" id="{A55992C4-C31D-42E1-9FE6-E9035CA9C069}"/>
              </a:ext>
            </a:extLst>
          </p:cNvPr>
          <p:cNvSpPr txBox="1"/>
          <p:nvPr/>
        </p:nvSpPr>
        <p:spPr>
          <a:xfrm>
            <a:off x="5988151"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1390601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sp>
        <p:nvSpPr>
          <p:cNvPr id="3" name="Content Placeholder 2">
            <a:extLst>
              <a:ext uri="{FF2B5EF4-FFF2-40B4-BE49-F238E27FC236}">
                <a16:creationId xmlns:a16="http://schemas.microsoft.com/office/drawing/2014/main" id="{7860D9B1-C06E-463F-AF68-E309F90F11D7}"/>
              </a:ext>
            </a:extLst>
          </p:cNvPr>
          <p:cNvSpPr>
            <a:spLocks noGrp="1"/>
          </p:cNvSpPr>
          <p:nvPr>
            <p:ph idx="1"/>
          </p:nvPr>
        </p:nvSpPr>
        <p:spPr>
          <a:xfrm>
            <a:off x="1785387" y="2226469"/>
            <a:ext cx="3272715" cy="3263504"/>
          </a:xfrm>
        </p:spPr>
        <p:txBody>
          <a:bodyPr/>
          <a:lstStyle/>
          <a:p>
            <a:r>
              <a:rPr lang="en-US" b="1" dirty="0"/>
              <a:t>Clearly labeled axes </a:t>
            </a:r>
            <a:r>
              <a:rPr lang="en-US" dirty="0"/>
              <a:t>tell the reader what the data represent</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2"/>
          <a:stretch>
            <a:fillRect/>
          </a:stretch>
        </p:blipFill>
        <p:spPr>
          <a:xfrm>
            <a:off x="5537014" y="2018650"/>
            <a:ext cx="4869602" cy="3789374"/>
          </a:xfrm>
          <a:prstGeom prst="rect">
            <a:avLst/>
          </a:prstGeom>
        </p:spPr>
      </p:pic>
      <p:sp>
        <p:nvSpPr>
          <p:cNvPr id="4" name="Rectangle 3">
            <a:extLst>
              <a:ext uri="{FF2B5EF4-FFF2-40B4-BE49-F238E27FC236}">
                <a16:creationId xmlns:a16="http://schemas.microsoft.com/office/drawing/2014/main" id="{C1F120CE-04F1-4BB2-8469-232D61EB6B5A}"/>
              </a:ext>
            </a:extLst>
          </p:cNvPr>
          <p:cNvSpPr/>
          <p:nvPr/>
        </p:nvSpPr>
        <p:spPr>
          <a:xfrm>
            <a:off x="6597450" y="5385006"/>
            <a:ext cx="2957053" cy="42301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C94DEE51-6981-4D83-B7FA-2F31E1E694B4}"/>
              </a:ext>
            </a:extLst>
          </p:cNvPr>
          <p:cNvSpPr/>
          <p:nvPr/>
        </p:nvSpPr>
        <p:spPr>
          <a:xfrm>
            <a:off x="5537015" y="2125267"/>
            <a:ext cx="463127" cy="32091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a:extLst>
              <a:ext uri="{FF2B5EF4-FFF2-40B4-BE49-F238E27FC236}">
                <a16:creationId xmlns:a16="http://schemas.microsoft.com/office/drawing/2014/main" id="{24EA87AC-AB5E-4DD4-A460-B002E488271B}"/>
              </a:ext>
            </a:extLst>
          </p:cNvPr>
          <p:cNvSpPr txBox="1"/>
          <p:nvPr/>
        </p:nvSpPr>
        <p:spPr>
          <a:xfrm>
            <a:off x="7979185"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1362262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2"/>
          <a:stretch>
            <a:fillRect/>
          </a:stretch>
        </p:blipFill>
        <p:spPr>
          <a:xfrm>
            <a:off x="5537014" y="2018650"/>
            <a:ext cx="4869602" cy="3789374"/>
          </a:xfrm>
          <a:prstGeom prst="rect">
            <a:avLst/>
          </a:prstGeom>
        </p:spPr>
      </p:pic>
      <p:sp>
        <p:nvSpPr>
          <p:cNvPr id="6" name="Rectangle 5">
            <a:extLst>
              <a:ext uri="{FF2B5EF4-FFF2-40B4-BE49-F238E27FC236}">
                <a16:creationId xmlns:a16="http://schemas.microsoft.com/office/drawing/2014/main" id="{C94DEE51-6981-4D83-B7FA-2F31E1E694B4}"/>
              </a:ext>
            </a:extLst>
          </p:cNvPr>
          <p:cNvSpPr/>
          <p:nvPr/>
        </p:nvSpPr>
        <p:spPr>
          <a:xfrm>
            <a:off x="6952859" y="2767167"/>
            <a:ext cx="463127" cy="4645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4D39E175-5FE4-44A0-8F15-E86CBDB1B844}"/>
              </a:ext>
            </a:extLst>
          </p:cNvPr>
          <p:cNvSpPr/>
          <p:nvPr/>
        </p:nvSpPr>
        <p:spPr>
          <a:xfrm>
            <a:off x="8986685" y="4728703"/>
            <a:ext cx="372401" cy="3502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Content Placeholder 2">
            <a:extLst>
              <a:ext uri="{FF2B5EF4-FFF2-40B4-BE49-F238E27FC236}">
                <a16:creationId xmlns:a16="http://schemas.microsoft.com/office/drawing/2014/main" id="{52681D0C-8B07-4892-9C79-FB51C2B4D9EF}"/>
              </a:ext>
            </a:extLst>
          </p:cNvPr>
          <p:cNvSpPr txBox="1">
            <a:spLocks/>
          </p:cNvSpPr>
          <p:nvPr/>
        </p:nvSpPr>
        <p:spPr>
          <a:xfrm>
            <a:off x="1785387" y="2226469"/>
            <a:ext cx="3272715"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b="1" dirty="0"/>
              <a:t>Clearly labeled axes</a:t>
            </a:r>
          </a:p>
          <a:p>
            <a:r>
              <a:rPr lang="en-US" sz="2100" b="1" dirty="0"/>
              <a:t>Data presented as summaries </a:t>
            </a:r>
            <a:r>
              <a:rPr lang="en-US" sz="2100" dirty="0"/>
              <a:t>(means) make interpretation easier</a:t>
            </a:r>
          </a:p>
          <a:p>
            <a:endParaRPr lang="en-US" sz="2100" dirty="0"/>
          </a:p>
        </p:txBody>
      </p:sp>
      <p:sp>
        <p:nvSpPr>
          <p:cNvPr id="14" name="TextBox 13">
            <a:extLst>
              <a:ext uri="{FF2B5EF4-FFF2-40B4-BE49-F238E27FC236}">
                <a16:creationId xmlns:a16="http://schemas.microsoft.com/office/drawing/2014/main" id="{C3C13C56-7F6A-4268-BF81-425F8FC17377}"/>
              </a:ext>
            </a:extLst>
          </p:cNvPr>
          <p:cNvSpPr txBox="1"/>
          <p:nvPr/>
        </p:nvSpPr>
        <p:spPr>
          <a:xfrm>
            <a:off x="7979185"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1925181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2"/>
          <a:stretch>
            <a:fillRect/>
          </a:stretch>
        </p:blipFill>
        <p:spPr>
          <a:xfrm>
            <a:off x="5537014" y="2018650"/>
            <a:ext cx="4869602" cy="3789374"/>
          </a:xfrm>
          <a:prstGeom prst="rect">
            <a:avLst/>
          </a:prstGeom>
        </p:spPr>
      </p:pic>
      <p:sp>
        <p:nvSpPr>
          <p:cNvPr id="6" name="Rectangle 5">
            <a:extLst>
              <a:ext uri="{FF2B5EF4-FFF2-40B4-BE49-F238E27FC236}">
                <a16:creationId xmlns:a16="http://schemas.microsoft.com/office/drawing/2014/main" id="{C94DEE51-6981-4D83-B7FA-2F31E1E694B4}"/>
              </a:ext>
            </a:extLst>
          </p:cNvPr>
          <p:cNvSpPr/>
          <p:nvPr/>
        </p:nvSpPr>
        <p:spPr>
          <a:xfrm>
            <a:off x="5778911" y="2125267"/>
            <a:ext cx="221231" cy="32091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E5343F9D-2A4D-4FB0-B199-CDC2837DA232}"/>
              </a:ext>
            </a:extLst>
          </p:cNvPr>
          <p:cNvSpPr/>
          <p:nvPr/>
        </p:nvSpPr>
        <p:spPr>
          <a:xfrm>
            <a:off x="5537014" y="2157669"/>
            <a:ext cx="241897" cy="2532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Content Placeholder 2">
            <a:extLst>
              <a:ext uri="{FF2B5EF4-FFF2-40B4-BE49-F238E27FC236}">
                <a16:creationId xmlns:a16="http://schemas.microsoft.com/office/drawing/2014/main" id="{4F9DC1AB-24E1-417F-90E5-4928659A00DE}"/>
              </a:ext>
            </a:extLst>
          </p:cNvPr>
          <p:cNvSpPr txBox="1">
            <a:spLocks/>
          </p:cNvSpPr>
          <p:nvPr/>
        </p:nvSpPr>
        <p:spPr>
          <a:xfrm>
            <a:off x="1785387" y="2226469"/>
            <a:ext cx="3272715"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b="1" dirty="0"/>
              <a:t>Clearly labeled axes</a:t>
            </a:r>
          </a:p>
          <a:p>
            <a:r>
              <a:rPr lang="en-US" sz="2100" b="1" dirty="0"/>
              <a:t>Data </a:t>
            </a:r>
            <a:r>
              <a:rPr lang="en-US" sz="2100" dirty="0"/>
              <a:t>(often presented as summaries)</a:t>
            </a:r>
          </a:p>
          <a:p>
            <a:r>
              <a:rPr lang="en-US" sz="2100" b="1" dirty="0"/>
              <a:t>Units and values </a:t>
            </a:r>
            <a:r>
              <a:rPr lang="en-US" sz="2100" dirty="0"/>
              <a:t>let the reader interpret the size of the effect </a:t>
            </a:r>
            <a:r>
              <a:rPr lang="en-US" sz="2100" b="1" i="1" dirty="0"/>
              <a:t>biologically</a:t>
            </a:r>
          </a:p>
          <a:p>
            <a:endParaRPr lang="en-US" sz="2100" dirty="0"/>
          </a:p>
          <a:p>
            <a:endParaRPr lang="en-US" sz="2100" dirty="0"/>
          </a:p>
        </p:txBody>
      </p:sp>
      <p:sp>
        <p:nvSpPr>
          <p:cNvPr id="13" name="TextBox 12">
            <a:extLst>
              <a:ext uri="{FF2B5EF4-FFF2-40B4-BE49-F238E27FC236}">
                <a16:creationId xmlns:a16="http://schemas.microsoft.com/office/drawing/2014/main" id="{EC7BFE54-4919-424C-AAE2-CB28AF13C439}"/>
              </a:ext>
            </a:extLst>
          </p:cNvPr>
          <p:cNvSpPr txBox="1"/>
          <p:nvPr/>
        </p:nvSpPr>
        <p:spPr>
          <a:xfrm>
            <a:off x="7979185"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139525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3"/>
          <a:stretch>
            <a:fillRect/>
          </a:stretch>
        </p:blipFill>
        <p:spPr>
          <a:xfrm>
            <a:off x="5537014" y="2018650"/>
            <a:ext cx="4869602" cy="3789374"/>
          </a:xfrm>
          <a:prstGeom prst="rect">
            <a:avLst/>
          </a:prstGeom>
        </p:spPr>
      </p:pic>
      <p:sp>
        <p:nvSpPr>
          <p:cNvPr id="4" name="Rectangle 3">
            <a:extLst>
              <a:ext uri="{FF2B5EF4-FFF2-40B4-BE49-F238E27FC236}">
                <a16:creationId xmlns:a16="http://schemas.microsoft.com/office/drawing/2014/main" id="{C1F120CE-04F1-4BB2-8469-232D61EB6B5A}"/>
              </a:ext>
            </a:extLst>
          </p:cNvPr>
          <p:cNvSpPr/>
          <p:nvPr/>
        </p:nvSpPr>
        <p:spPr>
          <a:xfrm>
            <a:off x="6826045" y="3113754"/>
            <a:ext cx="744794" cy="73826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3EFC1925-3D13-4EE2-AB74-0F55B0997E9C}"/>
              </a:ext>
            </a:extLst>
          </p:cNvPr>
          <p:cNvSpPr/>
          <p:nvPr/>
        </p:nvSpPr>
        <p:spPr>
          <a:xfrm>
            <a:off x="8820765" y="4426361"/>
            <a:ext cx="726358" cy="4129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Content Placeholder 2">
            <a:extLst>
              <a:ext uri="{FF2B5EF4-FFF2-40B4-BE49-F238E27FC236}">
                <a16:creationId xmlns:a16="http://schemas.microsoft.com/office/drawing/2014/main" id="{4DB1403C-6077-42C1-937F-2E367D4B8C1D}"/>
              </a:ext>
            </a:extLst>
          </p:cNvPr>
          <p:cNvSpPr txBox="1">
            <a:spLocks/>
          </p:cNvSpPr>
          <p:nvPr/>
        </p:nvSpPr>
        <p:spPr>
          <a:xfrm>
            <a:off x="1785387" y="2226469"/>
            <a:ext cx="3272715"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b="1" dirty="0"/>
              <a:t>Clearly labeled axes</a:t>
            </a:r>
          </a:p>
          <a:p>
            <a:r>
              <a:rPr lang="en-US" sz="2100" b="1" dirty="0"/>
              <a:t>Data presented as summaries</a:t>
            </a:r>
          </a:p>
          <a:p>
            <a:r>
              <a:rPr lang="en-US" sz="2100" b="1" dirty="0"/>
              <a:t>Units and values</a:t>
            </a:r>
          </a:p>
          <a:p>
            <a:r>
              <a:rPr lang="en-US" sz="2100" b="1" dirty="0"/>
              <a:t>Summaries of variation </a:t>
            </a:r>
            <a:r>
              <a:rPr lang="en-US" sz="2100" dirty="0"/>
              <a:t>(like error bars) let the reader interpret the size of the effect </a:t>
            </a:r>
            <a:r>
              <a:rPr lang="en-US" sz="2100" b="1" i="1" dirty="0"/>
              <a:t>statistically</a:t>
            </a:r>
          </a:p>
          <a:p>
            <a:endParaRPr lang="en-US" sz="2100" dirty="0"/>
          </a:p>
          <a:p>
            <a:endParaRPr lang="en-US" sz="2100" dirty="0"/>
          </a:p>
        </p:txBody>
      </p:sp>
      <p:sp>
        <p:nvSpPr>
          <p:cNvPr id="16" name="TextBox 15">
            <a:extLst>
              <a:ext uri="{FF2B5EF4-FFF2-40B4-BE49-F238E27FC236}">
                <a16:creationId xmlns:a16="http://schemas.microsoft.com/office/drawing/2014/main" id="{516E5C2F-9C6B-4C81-BC86-F99C21E6FC5E}"/>
              </a:ext>
            </a:extLst>
          </p:cNvPr>
          <p:cNvSpPr txBox="1"/>
          <p:nvPr/>
        </p:nvSpPr>
        <p:spPr>
          <a:xfrm>
            <a:off x="7979185"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1790690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F277-A03B-49FD-AC4A-560CAC3B8E58}"/>
              </a:ext>
            </a:extLst>
          </p:cNvPr>
          <p:cNvSpPr>
            <a:spLocks noGrp="1"/>
          </p:cNvSpPr>
          <p:nvPr>
            <p:ph type="title"/>
          </p:nvPr>
        </p:nvSpPr>
        <p:spPr>
          <a:xfrm>
            <a:off x="1936954" y="1131094"/>
            <a:ext cx="8102396" cy="994172"/>
          </a:xfrm>
        </p:spPr>
        <p:txBody>
          <a:bodyPr>
            <a:normAutofit fontScale="90000"/>
          </a:bodyPr>
          <a:lstStyle/>
          <a:p>
            <a:r>
              <a:rPr lang="en-US" dirty="0"/>
              <a:t>What features of a figure are most important? </a:t>
            </a:r>
          </a:p>
        </p:txBody>
      </p:sp>
      <p:pic>
        <p:nvPicPr>
          <p:cNvPr id="9" name="Picture 8">
            <a:extLst>
              <a:ext uri="{FF2B5EF4-FFF2-40B4-BE49-F238E27FC236}">
                <a16:creationId xmlns:a16="http://schemas.microsoft.com/office/drawing/2014/main" id="{C8B65115-B814-4E8B-9503-28F241FCC046}"/>
              </a:ext>
            </a:extLst>
          </p:cNvPr>
          <p:cNvPicPr>
            <a:picLocks noChangeAspect="1"/>
          </p:cNvPicPr>
          <p:nvPr/>
        </p:nvPicPr>
        <p:blipFill>
          <a:blip r:embed="rId3"/>
          <a:stretch>
            <a:fillRect/>
          </a:stretch>
        </p:blipFill>
        <p:spPr>
          <a:xfrm>
            <a:off x="5537014" y="2018650"/>
            <a:ext cx="4869602" cy="3789374"/>
          </a:xfrm>
          <a:prstGeom prst="rect">
            <a:avLst/>
          </a:prstGeom>
        </p:spPr>
      </p:pic>
      <p:sp>
        <p:nvSpPr>
          <p:cNvPr id="4" name="Rectangle 3">
            <a:extLst>
              <a:ext uri="{FF2B5EF4-FFF2-40B4-BE49-F238E27FC236}">
                <a16:creationId xmlns:a16="http://schemas.microsoft.com/office/drawing/2014/main" id="{C1F120CE-04F1-4BB2-8469-232D61EB6B5A}"/>
              </a:ext>
            </a:extLst>
          </p:cNvPr>
          <p:cNvSpPr/>
          <p:nvPr/>
        </p:nvSpPr>
        <p:spPr>
          <a:xfrm>
            <a:off x="7971814" y="1908419"/>
            <a:ext cx="329658" cy="4015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Content Placeholder 2">
            <a:extLst>
              <a:ext uri="{FF2B5EF4-FFF2-40B4-BE49-F238E27FC236}">
                <a16:creationId xmlns:a16="http://schemas.microsoft.com/office/drawing/2014/main" id="{AFFE4340-ECDC-4373-8B07-4248E6970C80}"/>
              </a:ext>
            </a:extLst>
          </p:cNvPr>
          <p:cNvSpPr txBox="1">
            <a:spLocks/>
          </p:cNvSpPr>
          <p:nvPr/>
        </p:nvSpPr>
        <p:spPr>
          <a:xfrm>
            <a:off x="1785387" y="2226470"/>
            <a:ext cx="3272715" cy="3424007"/>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b="1" dirty="0"/>
              <a:t>Clearly labeled axes</a:t>
            </a:r>
          </a:p>
          <a:p>
            <a:r>
              <a:rPr lang="en-US" sz="2100" b="1" dirty="0"/>
              <a:t>Data presented as summaries</a:t>
            </a:r>
          </a:p>
          <a:p>
            <a:r>
              <a:rPr lang="en-US" sz="2100" b="1" dirty="0"/>
              <a:t>Units and values</a:t>
            </a:r>
          </a:p>
          <a:p>
            <a:r>
              <a:rPr lang="en-US" sz="2100" b="1" dirty="0"/>
              <a:t>Summaries of variation</a:t>
            </a:r>
          </a:p>
          <a:p>
            <a:r>
              <a:rPr lang="en-US" sz="2100" b="1" dirty="0"/>
              <a:t>Statistical significance markers </a:t>
            </a:r>
            <a:r>
              <a:rPr lang="en-US" sz="2100" dirty="0"/>
              <a:t>tell the reader whether a statistical test found an effect to be statistically significant</a:t>
            </a:r>
          </a:p>
          <a:p>
            <a:endParaRPr lang="en-US" sz="2100" dirty="0"/>
          </a:p>
          <a:p>
            <a:endParaRPr lang="en-US" sz="2100" dirty="0"/>
          </a:p>
        </p:txBody>
      </p:sp>
      <p:sp>
        <p:nvSpPr>
          <p:cNvPr id="13" name="TextBox 12">
            <a:extLst>
              <a:ext uri="{FF2B5EF4-FFF2-40B4-BE49-F238E27FC236}">
                <a16:creationId xmlns:a16="http://schemas.microsoft.com/office/drawing/2014/main" id="{2A6DDADB-CEDB-4447-8139-B4A3D6DE30EC}"/>
              </a:ext>
            </a:extLst>
          </p:cNvPr>
          <p:cNvSpPr txBox="1"/>
          <p:nvPr/>
        </p:nvSpPr>
        <p:spPr>
          <a:xfrm>
            <a:off x="7979185" y="1908418"/>
            <a:ext cx="348172" cy="553998"/>
          </a:xfrm>
          <a:prstGeom prst="rect">
            <a:avLst/>
          </a:prstGeom>
          <a:noFill/>
        </p:spPr>
        <p:txBody>
          <a:bodyPr wrap="none" rtlCol="0">
            <a:spAutoFit/>
          </a:bodyPr>
          <a:lstStyle/>
          <a:p>
            <a:r>
              <a:rPr lang="en-US" sz="3000" b="1" dirty="0"/>
              <a:t>*</a:t>
            </a:r>
          </a:p>
        </p:txBody>
      </p:sp>
    </p:spTree>
    <p:extLst>
      <p:ext uri="{BB962C8B-B14F-4D97-AF65-F5344CB8AC3E}">
        <p14:creationId xmlns:p14="http://schemas.microsoft.com/office/powerpoint/2010/main" val="522086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7051E-909F-7AFE-F042-EC857026E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4A0D3-184E-EFCA-C580-2C5EF0826E05}"/>
              </a:ext>
            </a:extLst>
          </p:cNvPr>
          <p:cNvSpPr>
            <a:spLocks noGrp="1"/>
          </p:cNvSpPr>
          <p:nvPr>
            <p:ph type="title"/>
          </p:nvPr>
        </p:nvSpPr>
        <p:spPr>
          <a:xfrm>
            <a:off x="320040" y="804333"/>
            <a:ext cx="4036648" cy="5249334"/>
          </a:xfrm>
        </p:spPr>
        <p:txBody>
          <a:bodyPr>
            <a:normAutofit/>
          </a:bodyPr>
          <a:lstStyle/>
          <a:p>
            <a:pPr algn="r"/>
            <a:r>
              <a:rPr lang="en-US" b="1" u="sng" dirty="0">
                <a:solidFill>
                  <a:schemeClr val="tx2"/>
                </a:solidFill>
              </a:rPr>
              <a:t>Histograms</a:t>
            </a:r>
            <a:br>
              <a:rPr lang="en-US" dirty="0">
                <a:solidFill>
                  <a:schemeClr val="tx2"/>
                </a:solidFill>
              </a:rPr>
            </a:br>
            <a:br>
              <a:rPr lang="en-US" dirty="0">
                <a:solidFill>
                  <a:schemeClr val="tx2"/>
                </a:solidFill>
              </a:rPr>
            </a:br>
            <a:r>
              <a:rPr lang="en-US" sz="3500" dirty="0">
                <a:solidFill>
                  <a:schemeClr val="tx2"/>
                </a:solidFill>
              </a:rPr>
              <a:t> Display the distribution of a single quantitative variable across a dataset</a:t>
            </a:r>
          </a:p>
        </p:txBody>
      </p:sp>
      <p:pic>
        <p:nvPicPr>
          <p:cNvPr id="4" name="Picture 3">
            <a:extLst>
              <a:ext uri="{FF2B5EF4-FFF2-40B4-BE49-F238E27FC236}">
                <a16:creationId xmlns:a16="http://schemas.microsoft.com/office/drawing/2014/main" id="{D186C2BA-B4B8-02F5-8587-D936F7B0413A}"/>
              </a:ext>
            </a:extLst>
          </p:cNvPr>
          <p:cNvPicPr>
            <a:picLocks noChangeAspect="1"/>
          </p:cNvPicPr>
          <p:nvPr/>
        </p:nvPicPr>
        <p:blipFill>
          <a:blip r:embed="rId3"/>
          <a:stretch>
            <a:fillRect/>
          </a:stretch>
        </p:blipFill>
        <p:spPr>
          <a:xfrm>
            <a:off x="4756774" y="1328552"/>
            <a:ext cx="7332747" cy="4200896"/>
          </a:xfrm>
          <a:prstGeom prst="rect">
            <a:avLst/>
          </a:prstGeom>
        </p:spPr>
      </p:pic>
      <p:sp>
        <p:nvSpPr>
          <p:cNvPr id="5" name="Rectangle 4">
            <a:extLst>
              <a:ext uri="{FF2B5EF4-FFF2-40B4-BE49-F238E27FC236}">
                <a16:creationId xmlns:a16="http://schemas.microsoft.com/office/drawing/2014/main" id="{AA0FE6AA-68FE-8257-3026-301285E72883}"/>
              </a:ext>
            </a:extLst>
          </p:cNvPr>
          <p:cNvSpPr/>
          <p:nvPr/>
        </p:nvSpPr>
        <p:spPr>
          <a:xfrm>
            <a:off x="4876800" y="4585547"/>
            <a:ext cx="7112000" cy="13953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Tree>
    <p:extLst>
      <p:ext uri="{BB962C8B-B14F-4D97-AF65-F5344CB8AC3E}">
        <p14:creationId xmlns:p14="http://schemas.microsoft.com/office/powerpoint/2010/main" val="57681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B2D0-AFFD-36E5-962B-E2217A76C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E74C0-EB76-65B4-0625-26CDAEDE4CF6}"/>
              </a:ext>
            </a:extLst>
          </p:cNvPr>
          <p:cNvSpPr>
            <a:spLocks noGrp="1"/>
          </p:cNvSpPr>
          <p:nvPr>
            <p:ph type="title"/>
          </p:nvPr>
        </p:nvSpPr>
        <p:spPr>
          <a:xfrm>
            <a:off x="137160" y="195942"/>
            <a:ext cx="4219528" cy="6422571"/>
          </a:xfrm>
        </p:spPr>
        <p:txBody>
          <a:bodyPr>
            <a:normAutofit/>
          </a:bodyPr>
          <a:lstStyle/>
          <a:p>
            <a:pPr algn="r"/>
            <a:r>
              <a:rPr lang="en-US" b="1" u="sng" dirty="0">
                <a:solidFill>
                  <a:schemeClr val="tx2"/>
                </a:solidFill>
              </a:rPr>
              <a:t>Boxplots</a:t>
            </a:r>
            <a:r>
              <a:rPr lang="en-US" dirty="0">
                <a:solidFill>
                  <a:schemeClr val="tx2"/>
                </a:solidFill>
              </a:rPr>
              <a:t> </a:t>
            </a:r>
            <a:br>
              <a:rPr lang="en-US" dirty="0">
                <a:solidFill>
                  <a:schemeClr val="tx2"/>
                </a:solidFill>
              </a:rPr>
            </a:br>
            <a:br>
              <a:rPr lang="en-US" dirty="0">
                <a:solidFill>
                  <a:schemeClr val="tx2"/>
                </a:solidFill>
              </a:rPr>
            </a:br>
            <a:r>
              <a:rPr lang="en-US" sz="3900" dirty="0">
                <a:solidFill>
                  <a:schemeClr val="tx2"/>
                </a:solidFill>
              </a:rPr>
              <a:t>Display the distribution of a single quantitative variable separated according to a categorical variable</a:t>
            </a:r>
          </a:p>
        </p:txBody>
      </p:sp>
      <p:pic>
        <p:nvPicPr>
          <p:cNvPr id="4" name="Picture 3">
            <a:extLst>
              <a:ext uri="{FF2B5EF4-FFF2-40B4-BE49-F238E27FC236}">
                <a16:creationId xmlns:a16="http://schemas.microsoft.com/office/drawing/2014/main" id="{1E1CD482-2B42-5652-6A64-14094682078E}"/>
              </a:ext>
            </a:extLst>
          </p:cNvPr>
          <p:cNvPicPr>
            <a:picLocks noChangeAspect="1"/>
          </p:cNvPicPr>
          <p:nvPr/>
        </p:nvPicPr>
        <p:blipFill>
          <a:blip r:embed="rId3"/>
          <a:stretch>
            <a:fillRect/>
          </a:stretch>
        </p:blipFill>
        <p:spPr>
          <a:xfrm>
            <a:off x="4654296" y="1755817"/>
            <a:ext cx="7168199" cy="4374080"/>
          </a:xfrm>
          <a:prstGeom prst="rect">
            <a:avLst/>
          </a:prstGeom>
        </p:spPr>
      </p:pic>
      <p:sp>
        <p:nvSpPr>
          <p:cNvPr id="5" name="Rectangle 4">
            <a:extLst>
              <a:ext uri="{FF2B5EF4-FFF2-40B4-BE49-F238E27FC236}">
                <a16:creationId xmlns:a16="http://schemas.microsoft.com/office/drawing/2014/main" id="{4DEA5B58-183C-2626-7442-27AF3881F4D0}"/>
              </a:ext>
            </a:extLst>
          </p:cNvPr>
          <p:cNvSpPr/>
          <p:nvPr/>
        </p:nvSpPr>
        <p:spPr>
          <a:xfrm>
            <a:off x="4710495" y="5102183"/>
            <a:ext cx="7112000" cy="13953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6" name="Picture 5" descr="Untitled-Scanned-03">
            <a:extLst>
              <a:ext uri="{FF2B5EF4-FFF2-40B4-BE49-F238E27FC236}">
                <a16:creationId xmlns:a16="http://schemas.microsoft.com/office/drawing/2014/main" id="{8B8B36E9-46BE-5B77-27D0-896D57CE71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316" b="62489"/>
          <a:stretch>
            <a:fillRect/>
          </a:stretch>
        </p:blipFill>
        <p:spPr bwMode="auto">
          <a:xfrm>
            <a:off x="5777943" y="76733"/>
            <a:ext cx="5522690" cy="19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397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E8D30-265B-74DD-22C7-6807824CD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DD3A5-D8A8-46DE-7F53-2E87AAA81B33}"/>
              </a:ext>
            </a:extLst>
          </p:cNvPr>
          <p:cNvSpPr>
            <a:spLocks noGrp="1"/>
          </p:cNvSpPr>
          <p:nvPr>
            <p:ph type="title"/>
          </p:nvPr>
        </p:nvSpPr>
        <p:spPr>
          <a:xfrm>
            <a:off x="137160" y="804333"/>
            <a:ext cx="4219528" cy="5249334"/>
          </a:xfrm>
        </p:spPr>
        <p:txBody>
          <a:bodyPr>
            <a:normAutofit/>
          </a:bodyPr>
          <a:lstStyle/>
          <a:p>
            <a:pPr algn="r"/>
            <a:r>
              <a:rPr lang="en-US" b="1" u="sng" dirty="0">
                <a:solidFill>
                  <a:schemeClr val="tx2"/>
                </a:solidFill>
              </a:rPr>
              <a:t>Scatterplots</a:t>
            </a:r>
            <a:r>
              <a:rPr lang="en-US" dirty="0">
                <a:solidFill>
                  <a:schemeClr val="tx2"/>
                </a:solidFill>
              </a:rPr>
              <a:t> </a:t>
            </a:r>
            <a:br>
              <a:rPr lang="en-US" dirty="0">
                <a:solidFill>
                  <a:schemeClr val="tx2"/>
                </a:solidFill>
              </a:rPr>
            </a:br>
            <a:br>
              <a:rPr lang="en-US" dirty="0">
                <a:solidFill>
                  <a:schemeClr val="tx2"/>
                </a:solidFill>
              </a:rPr>
            </a:br>
            <a:r>
              <a:rPr lang="en-US" sz="3500" dirty="0">
                <a:solidFill>
                  <a:schemeClr val="tx2"/>
                </a:solidFill>
              </a:rPr>
              <a:t>Display the value of each individual case for 2 separate quantitative variables</a:t>
            </a:r>
          </a:p>
        </p:txBody>
      </p:sp>
      <p:pic>
        <p:nvPicPr>
          <p:cNvPr id="4" name="Picture 3">
            <a:extLst>
              <a:ext uri="{FF2B5EF4-FFF2-40B4-BE49-F238E27FC236}">
                <a16:creationId xmlns:a16="http://schemas.microsoft.com/office/drawing/2014/main" id="{8AC62CEC-3E8E-43CF-FE6A-CA07B7B57269}"/>
              </a:ext>
            </a:extLst>
          </p:cNvPr>
          <p:cNvPicPr>
            <a:picLocks noChangeAspect="1"/>
          </p:cNvPicPr>
          <p:nvPr/>
        </p:nvPicPr>
        <p:blipFill>
          <a:blip r:embed="rId2"/>
          <a:stretch>
            <a:fillRect/>
          </a:stretch>
        </p:blipFill>
        <p:spPr>
          <a:xfrm>
            <a:off x="4791456" y="1565564"/>
            <a:ext cx="7053062" cy="4130310"/>
          </a:xfrm>
          <a:prstGeom prst="rect">
            <a:avLst/>
          </a:prstGeom>
        </p:spPr>
      </p:pic>
      <p:sp>
        <p:nvSpPr>
          <p:cNvPr id="5" name="Rectangle 4">
            <a:extLst>
              <a:ext uri="{FF2B5EF4-FFF2-40B4-BE49-F238E27FC236}">
                <a16:creationId xmlns:a16="http://schemas.microsoft.com/office/drawing/2014/main" id="{F9C023EC-0AD4-08CC-93F2-B9E8406771FD}"/>
              </a:ext>
            </a:extLst>
          </p:cNvPr>
          <p:cNvSpPr/>
          <p:nvPr/>
        </p:nvSpPr>
        <p:spPr>
          <a:xfrm>
            <a:off x="4942840" y="4939189"/>
            <a:ext cx="7112000" cy="13953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Tree>
    <p:extLst>
      <p:ext uri="{BB962C8B-B14F-4D97-AF65-F5344CB8AC3E}">
        <p14:creationId xmlns:p14="http://schemas.microsoft.com/office/powerpoint/2010/main" val="244615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history on data visualization</a:t>
            </a:r>
          </a:p>
        </p:txBody>
      </p:sp>
      <p:sp>
        <p:nvSpPr>
          <p:cNvPr id="3" name="Content Placeholder 2"/>
          <p:cNvSpPr>
            <a:spLocks noGrp="1"/>
          </p:cNvSpPr>
          <p:nvPr>
            <p:ph idx="1"/>
          </p:nvPr>
        </p:nvSpPr>
        <p:spPr/>
        <p:txBody>
          <a:bodyPr/>
          <a:lstStyle/>
          <a:p>
            <a:r>
              <a:rPr lang="en-US" dirty="0"/>
              <a:t>There is a HUGE field dedicated to the perception of data (e.g. marketing, business, art)</a:t>
            </a:r>
          </a:p>
          <a:p>
            <a:endParaRPr lang="en-US" dirty="0"/>
          </a:p>
          <a:p>
            <a:r>
              <a:rPr lang="en-US" dirty="0"/>
              <a:t>Scientists rarely take these classes or know anything about it</a:t>
            </a:r>
          </a:p>
          <a:p>
            <a:endParaRPr lang="en-US" dirty="0"/>
          </a:p>
          <a:p>
            <a:r>
              <a:rPr lang="en-US" dirty="0"/>
              <a:t>There are a few exceptions that have “broken through” into our field</a:t>
            </a:r>
          </a:p>
        </p:txBody>
      </p:sp>
    </p:spTree>
    <p:extLst>
      <p:ext uri="{BB962C8B-B14F-4D97-AF65-F5344CB8AC3E}">
        <p14:creationId xmlns:p14="http://schemas.microsoft.com/office/powerpoint/2010/main" val="636274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Cleveland &amp; McGill 1984 Jour. Of the American Statistical Association. </a:t>
            </a:r>
          </a:p>
        </p:txBody>
      </p:sp>
      <p:sp>
        <p:nvSpPr>
          <p:cNvPr id="3" name="Content Placeholder 2"/>
          <p:cNvSpPr>
            <a:spLocks noGrp="1"/>
          </p:cNvSpPr>
          <p:nvPr>
            <p:ph idx="1"/>
          </p:nvPr>
        </p:nvSpPr>
        <p:spPr/>
        <p:txBody>
          <a:bodyPr/>
          <a:lstStyle/>
          <a:p>
            <a:r>
              <a:rPr lang="en-US" dirty="0"/>
              <a:t>They outline the problem </a:t>
            </a:r>
            <a:r>
              <a:rPr lang="mr-IN" dirty="0"/>
              <a:t>–</a:t>
            </a:r>
            <a:r>
              <a:rPr lang="en-US" dirty="0"/>
              <a:t> graphs are presented haphazardly</a:t>
            </a:r>
          </a:p>
          <a:p>
            <a:endParaRPr lang="en-US" dirty="0"/>
          </a:p>
          <a:p>
            <a:r>
              <a:rPr lang="en-US" dirty="0"/>
              <a:t>What’s in it? The paper describes a series of experimental studies to understand how basic visual primitives (e.g. color, length, size) compare in delivering quantitative information.</a:t>
            </a:r>
          </a:p>
          <a:p>
            <a:endParaRPr lang="en-US" dirty="0"/>
          </a:p>
          <a:p>
            <a:r>
              <a:rPr lang="en-US" dirty="0"/>
              <a:t>Why is it important? It presented a hierarchy for understanding data to best portray quantitative information. </a:t>
            </a:r>
          </a:p>
        </p:txBody>
      </p:sp>
    </p:spTree>
    <p:extLst>
      <p:ext uri="{BB962C8B-B14F-4D97-AF65-F5344CB8AC3E}">
        <p14:creationId xmlns:p14="http://schemas.microsoft.com/office/powerpoint/2010/main" val="1080921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Hierarchy (most to least accurate in perception of quantitative data)</a:t>
            </a:r>
          </a:p>
        </p:txBody>
      </p:sp>
      <p:sp>
        <p:nvSpPr>
          <p:cNvPr id="3" name="Content Placeholder 2"/>
          <p:cNvSpPr>
            <a:spLocks noGrp="1"/>
          </p:cNvSpPr>
          <p:nvPr>
            <p:ph idx="1"/>
          </p:nvPr>
        </p:nvSpPr>
        <p:spPr/>
        <p:txBody>
          <a:bodyPr/>
          <a:lstStyle/>
          <a:p>
            <a:pPr marL="514350" indent="-514350">
              <a:buAutoNum type="arabicPeriod"/>
            </a:pPr>
            <a:r>
              <a:rPr lang="en-US" dirty="0"/>
              <a:t>Position along a common scale</a:t>
            </a:r>
          </a:p>
          <a:p>
            <a:pPr marL="514350" indent="-514350">
              <a:buAutoNum type="arabicPeriod"/>
            </a:pPr>
            <a:r>
              <a:rPr lang="en-US" dirty="0"/>
              <a:t>Positions along non-aligned scales</a:t>
            </a:r>
          </a:p>
          <a:p>
            <a:pPr marL="514350" indent="-514350">
              <a:buAutoNum type="arabicPeriod"/>
            </a:pPr>
            <a:r>
              <a:rPr lang="en-US" dirty="0"/>
              <a:t>Length, direction, angle</a:t>
            </a:r>
          </a:p>
          <a:p>
            <a:pPr marL="514350" indent="-514350">
              <a:buAutoNum type="arabicPeriod"/>
            </a:pPr>
            <a:r>
              <a:rPr lang="en-US" dirty="0"/>
              <a:t>Area</a:t>
            </a:r>
          </a:p>
          <a:p>
            <a:pPr marL="514350" indent="-514350">
              <a:buAutoNum type="arabicPeriod"/>
            </a:pPr>
            <a:r>
              <a:rPr lang="en-US" dirty="0"/>
              <a:t>Volume, curvature</a:t>
            </a:r>
          </a:p>
          <a:p>
            <a:pPr marL="514350" indent="-514350">
              <a:buAutoNum type="arabicPeriod"/>
            </a:pPr>
            <a:r>
              <a:rPr lang="en-US" dirty="0"/>
              <a:t>Shading, color saturation</a:t>
            </a:r>
          </a:p>
        </p:txBody>
      </p:sp>
    </p:spTree>
    <p:extLst>
      <p:ext uri="{BB962C8B-B14F-4D97-AF65-F5344CB8AC3E}">
        <p14:creationId xmlns:p14="http://schemas.microsoft.com/office/powerpoint/2010/main" val="989581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the elementary perceptual task</a:t>
            </a:r>
          </a:p>
        </p:txBody>
      </p:sp>
      <p:pic>
        <p:nvPicPr>
          <p:cNvPr id="4" name="Picture 3"/>
          <p:cNvPicPr>
            <a:picLocks noChangeAspect="1"/>
          </p:cNvPicPr>
          <p:nvPr/>
        </p:nvPicPr>
        <p:blipFill>
          <a:blip r:embed="rId3"/>
          <a:stretch>
            <a:fillRect/>
          </a:stretch>
        </p:blipFill>
        <p:spPr>
          <a:xfrm>
            <a:off x="2054268" y="1690688"/>
            <a:ext cx="4534175" cy="5043731"/>
          </a:xfrm>
          <a:prstGeom prst="rect">
            <a:avLst/>
          </a:prstGeom>
        </p:spPr>
      </p:pic>
      <p:sp>
        <p:nvSpPr>
          <p:cNvPr id="6" name="TextBox 5"/>
          <p:cNvSpPr txBox="1"/>
          <p:nvPr/>
        </p:nvSpPr>
        <p:spPr>
          <a:xfrm>
            <a:off x="6788860" y="2116899"/>
            <a:ext cx="4564940" cy="1754326"/>
          </a:xfrm>
          <a:prstGeom prst="rect">
            <a:avLst/>
          </a:prstGeom>
          <a:noFill/>
        </p:spPr>
        <p:txBody>
          <a:bodyPr wrap="square" rtlCol="0">
            <a:spAutoFit/>
          </a:bodyPr>
          <a:lstStyle/>
          <a:p>
            <a:r>
              <a:rPr lang="en-US" dirty="0"/>
              <a:t>Saturation: not included because “expense” of color figs</a:t>
            </a:r>
          </a:p>
          <a:p>
            <a:endParaRPr lang="en-US" dirty="0"/>
          </a:p>
          <a:p>
            <a:r>
              <a:rPr lang="en-US" dirty="0"/>
              <a:t>Shading and hue: excluded from study because they do not have an unambiguous method for ordering from large to small</a:t>
            </a:r>
          </a:p>
        </p:txBody>
      </p:sp>
    </p:spTree>
    <p:extLst>
      <p:ext uri="{BB962C8B-B14F-4D97-AF65-F5344CB8AC3E}">
        <p14:creationId xmlns:p14="http://schemas.microsoft.com/office/powerpoint/2010/main" val="1166503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926" y="365125"/>
            <a:ext cx="10426874" cy="1325563"/>
          </a:xfrm>
        </p:spPr>
        <p:txBody>
          <a:bodyPr/>
          <a:lstStyle/>
          <a:p>
            <a:r>
              <a:rPr lang="en-US" dirty="0"/>
              <a:t>Edward </a:t>
            </a:r>
            <a:r>
              <a:rPr lang="en-US" dirty="0" err="1"/>
              <a:t>Tufte</a:t>
            </a:r>
            <a:endParaRPr lang="en-US" dirty="0"/>
          </a:p>
        </p:txBody>
      </p:sp>
      <p:sp>
        <p:nvSpPr>
          <p:cNvPr id="3" name="Content Placeholder 2"/>
          <p:cNvSpPr>
            <a:spLocks noGrp="1"/>
          </p:cNvSpPr>
          <p:nvPr>
            <p:ph idx="1"/>
          </p:nvPr>
        </p:nvSpPr>
        <p:spPr/>
        <p:txBody>
          <a:bodyPr/>
          <a:lstStyle/>
          <a:p>
            <a:pPr marL="0" indent="0">
              <a:buNone/>
            </a:pPr>
            <a:r>
              <a:rPr lang="en-US" dirty="0" err="1"/>
              <a:t>Chartjunk</a:t>
            </a:r>
            <a:r>
              <a:rPr lang="en-US" dirty="0"/>
              <a:t>: stuff that isn’t necessary to understand the graph</a:t>
            </a:r>
          </a:p>
        </p:txBody>
      </p:sp>
      <p:pic>
        <p:nvPicPr>
          <p:cNvPr id="4" name="Picture 3"/>
          <p:cNvPicPr>
            <a:picLocks noChangeAspect="1"/>
          </p:cNvPicPr>
          <p:nvPr/>
        </p:nvPicPr>
        <p:blipFill>
          <a:blip r:embed="rId2"/>
          <a:stretch>
            <a:fillRect/>
          </a:stretch>
        </p:blipFill>
        <p:spPr>
          <a:xfrm>
            <a:off x="3181611" y="2556081"/>
            <a:ext cx="5047989" cy="4120612"/>
          </a:xfrm>
          <a:prstGeom prst="rect">
            <a:avLst/>
          </a:prstGeom>
        </p:spPr>
      </p:pic>
    </p:spTree>
    <p:extLst>
      <p:ext uri="{BB962C8B-B14F-4D97-AF65-F5344CB8AC3E}">
        <p14:creationId xmlns:p14="http://schemas.microsoft.com/office/powerpoint/2010/main" val="576829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926" y="365125"/>
            <a:ext cx="10426874" cy="1325563"/>
          </a:xfrm>
        </p:spPr>
        <p:txBody>
          <a:bodyPr/>
          <a:lstStyle/>
          <a:p>
            <a:r>
              <a:rPr lang="en-US" dirty="0"/>
              <a:t>Edward </a:t>
            </a:r>
            <a:r>
              <a:rPr lang="en-US" dirty="0" err="1"/>
              <a:t>Tufte</a:t>
            </a:r>
            <a:endParaRPr lang="en-US" dirty="0"/>
          </a:p>
        </p:txBody>
      </p:sp>
      <p:sp>
        <p:nvSpPr>
          <p:cNvPr id="3" name="Content Placeholder 2"/>
          <p:cNvSpPr>
            <a:spLocks noGrp="1"/>
          </p:cNvSpPr>
          <p:nvPr>
            <p:ph idx="1"/>
          </p:nvPr>
        </p:nvSpPr>
        <p:spPr>
          <a:xfrm>
            <a:off x="685800" y="1690688"/>
            <a:ext cx="3898726" cy="4623594"/>
          </a:xfrm>
        </p:spPr>
        <p:txBody>
          <a:bodyPr>
            <a:normAutofit/>
          </a:bodyPr>
          <a:lstStyle/>
          <a:p>
            <a:r>
              <a:rPr lang="en-US" dirty="0"/>
              <a:t>Small multiples:</a:t>
            </a:r>
          </a:p>
          <a:p>
            <a:pPr marL="0" indent="0">
              <a:buNone/>
            </a:pPr>
            <a:r>
              <a:rPr lang="en-US" dirty="0"/>
              <a:t>A series of similar graphs using the same scale or axes</a:t>
            </a:r>
          </a:p>
        </p:txBody>
      </p:sp>
      <p:pic>
        <p:nvPicPr>
          <p:cNvPr id="7" name="Picture 6" descr="MW_arrival_just_winter_inf.pd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87813" y="1957331"/>
            <a:ext cx="6362700" cy="4090307"/>
          </a:xfrm>
          <a:prstGeom prst="rect">
            <a:avLst/>
          </a:prstGeom>
        </p:spPr>
      </p:pic>
      <p:sp>
        <p:nvSpPr>
          <p:cNvPr id="8" name="TextBox 7"/>
          <p:cNvSpPr txBox="1"/>
          <p:nvPr/>
        </p:nvSpPr>
        <p:spPr>
          <a:xfrm>
            <a:off x="5657850" y="1587999"/>
            <a:ext cx="5350824" cy="369332"/>
          </a:xfrm>
          <a:prstGeom prst="rect">
            <a:avLst/>
          </a:prstGeom>
          <a:noFill/>
        </p:spPr>
        <p:txBody>
          <a:bodyPr wrap="none" rtlCol="0">
            <a:spAutoFit/>
          </a:bodyPr>
          <a:lstStyle/>
          <a:p>
            <a:r>
              <a:rPr lang="en-US" dirty="0"/>
              <a:t>Prevalence of fungal infections on bats at multiple sites</a:t>
            </a:r>
          </a:p>
        </p:txBody>
      </p:sp>
    </p:spTree>
    <p:extLst>
      <p:ext uri="{BB962C8B-B14F-4D97-AF65-F5344CB8AC3E}">
        <p14:creationId xmlns:p14="http://schemas.microsoft.com/office/powerpoint/2010/main" val="400655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926" y="365125"/>
            <a:ext cx="10426874" cy="1325563"/>
          </a:xfrm>
        </p:spPr>
        <p:txBody>
          <a:bodyPr/>
          <a:lstStyle/>
          <a:p>
            <a:r>
              <a:rPr lang="en-US" dirty="0"/>
              <a:t>Edward </a:t>
            </a:r>
            <a:r>
              <a:rPr lang="en-US" dirty="0" err="1"/>
              <a:t>Tufte</a:t>
            </a:r>
            <a:endParaRPr lang="en-US" dirty="0"/>
          </a:p>
        </p:txBody>
      </p:sp>
      <p:sp>
        <p:nvSpPr>
          <p:cNvPr id="3" name="Content Placeholder 2"/>
          <p:cNvSpPr>
            <a:spLocks noGrp="1"/>
          </p:cNvSpPr>
          <p:nvPr>
            <p:ph idx="1"/>
          </p:nvPr>
        </p:nvSpPr>
        <p:spPr>
          <a:xfrm>
            <a:off x="685800" y="1690688"/>
            <a:ext cx="3898726" cy="4623594"/>
          </a:xfrm>
        </p:spPr>
        <p:txBody>
          <a:bodyPr>
            <a:normAutofit/>
          </a:bodyPr>
          <a:lstStyle/>
          <a:p>
            <a:r>
              <a:rPr lang="en-US" dirty="0"/>
              <a:t>Direct labeling:</a:t>
            </a:r>
          </a:p>
          <a:p>
            <a:pPr marL="0" indent="0">
              <a:buNone/>
            </a:pPr>
            <a:r>
              <a:rPr lang="en-US" dirty="0"/>
              <a:t>Put the text on the figure</a:t>
            </a:r>
          </a:p>
        </p:txBody>
      </p:sp>
    </p:spTree>
    <p:extLst>
      <p:ext uri="{BB962C8B-B14F-4D97-AF65-F5344CB8AC3E}">
        <p14:creationId xmlns:p14="http://schemas.microsoft.com/office/powerpoint/2010/main" val="546004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labeling</a:t>
            </a:r>
          </a:p>
        </p:txBody>
      </p:sp>
      <p:pic>
        <p:nvPicPr>
          <p:cNvPr id="4" name="Picture 3"/>
          <p:cNvPicPr>
            <a:picLocks noChangeAspect="1"/>
          </p:cNvPicPr>
          <p:nvPr/>
        </p:nvPicPr>
        <p:blipFill>
          <a:blip r:embed="rId2"/>
          <a:stretch>
            <a:fillRect/>
          </a:stretch>
        </p:blipFill>
        <p:spPr>
          <a:xfrm>
            <a:off x="838200" y="1504949"/>
            <a:ext cx="5569286" cy="4672013"/>
          </a:xfrm>
          <a:prstGeom prst="rect">
            <a:avLst/>
          </a:prstGeom>
        </p:spPr>
      </p:pic>
      <p:pic>
        <p:nvPicPr>
          <p:cNvPr id="5" name="Picture 4"/>
          <p:cNvPicPr>
            <a:picLocks noChangeAspect="1"/>
          </p:cNvPicPr>
          <p:nvPr/>
        </p:nvPicPr>
        <p:blipFill>
          <a:blip r:embed="rId3"/>
          <a:stretch>
            <a:fillRect/>
          </a:stretch>
        </p:blipFill>
        <p:spPr>
          <a:xfrm>
            <a:off x="6826586" y="1504949"/>
            <a:ext cx="3650914" cy="5024914"/>
          </a:xfrm>
          <a:prstGeom prst="rect">
            <a:avLst/>
          </a:prstGeom>
        </p:spPr>
      </p:pic>
    </p:spTree>
    <p:extLst>
      <p:ext uri="{BB962C8B-B14F-4D97-AF65-F5344CB8AC3E}">
        <p14:creationId xmlns:p14="http://schemas.microsoft.com/office/powerpoint/2010/main" val="413559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Information Design</a:t>
            </a:r>
          </a:p>
        </p:txBody>
      </p:sp>
      <p:sp>
        <p:nvSpPr>
          <p:cNvPr id="3" name="Content Placeholder 2"/>
          <p:cNvSpPr>
            <a:spLocks noGrp="1"/>
          </p:cNvSpPr>
          <p:nvPr>
            <p:ph idx="1"/>
          </p:nvPr>
        </p:nvSpPr>
        <p:spPr/>
        <p:txBody>
          <a:bodyPr/>
          <a:lstStyle/>
          <a:p>
            <a:pPr marL="514350" indent="-514350">
              <a:buAutoNum type="arabicPeriod"/>
            </a:pPr>
            <a:r>
              <a:rPr lang="en-US" dirty="0"/>
              <a:t>Tell the truth</a:t>
            </a:r>
          </a:p>
          <a:p>
            <a:pPr marL="514350" indent="-514350">
              <a:buAutoNum type="arabicPeriod"/>
            </a:pPr>
            <a:r>
              <a:rPr lang="en-US" dirty="0"/>
              <a:t>Get to the point</a:t>
            </a:r>
          </a:p>
          <a:p>
            <a:pPr marL="514350" indent="-514350">
              <a:buAutoNum type="arabicPeriod"/>
            </a:pPr>
            <a:r>
              <a:rPr lang="en-US" dirty="0"/>
              <a:t>Pick the right tool for the job</a:t>
            </a:r>
          </a:p>
          <a:p>
            <a:pPr marL="514350" indent="-514350">
              <a:buAutoNum type="arabicPeriod"/>
            </a:pPr>
            <a:r>
              <a:rPr lang="en-US" dirty="0"/>
              <a:t>Highlight what is important</a:t>
            </a:r>
          </a:p>
          <a:p>
            <a:pPr marL="514350" indent="-514350">
              <a:buAutoNum type="arabicPeriod"/>
            </a:pPr>
            <a:r>
              <a:rPr lang="en-US" dirty="0"/>
              <a:t>Keep it simple</a:t>
            </a:r>
          </a:p>
        </p:txBody>
      </p:sp>
    </p:spTree>
    <p:extLst>
      <p:ext uri="{BB962C8B-B14F-4D97-AF65-F5344CB8AC3E}">
        <p14:creationId xmlns:p14="http://schemas.microsoft.com/office/powerpoint/2010/main" val="450823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69900" y="60900"/>
            <a:ext cx="5448300" cy="6797100"/>
          </a:xfrm>
          <a:prstGeom prst="rect">
            <a:avLst/>
          </a:prstGeom>
        </p:spPr>
      </p:pic>
      <p:sp>
        <p:nvSpPr>
          <p:cNvPr id="5" name="Rectangle 4"/>
          <p:cNvSpPr/>
          <p:nvPr/>
        </p:nvSpPr>
        <p:spPr>
          <a:xfrm>
            <a:off x="6217642" y="971470"/>
            <a:ext cx="2113557" cy="3600986"/>
          </a:xfrm>
          <a:prstGeom prst="rect">
            <a:avLst/>
          </a:prstGeom>
        </p:spPr>
        <p:txBody>
          <a:bodyPr wrap="square">
            <a:spAutoFit/>
          </a:bodyPr>
          <a:lstStyle/>
          <a:p>
            <a:r>
              <a:rPr lang="en-US" sz="1200" b="0" i="0" dirty="0">
                <a:solidFill>
                  <a:srgbClr val="333333"/>
                </a:solidFill>
                <a:effectLst/>
                <a:latin typeface="Open Sans" charset="0"/>
              </a:rPr>
              <a:t>The graph shows the relationship between </a:t>
            </a:r>
            <a:r>
              <a:rPr lang="en-US" sz="1200" b="0" i="0" dirty="0" err="1">
                <a:solidFill>
                  <a:srgbClr val="333333"/>
                </a:solidFill>
                <a:effectLst/>
                <a:latin typeface="Open Sans" charset="0"/>
              </a:rPr>
              <a:t>cort</a:t>
            </a:r>
            <a:r>
              <a:rPr lang="en-US" sz="1200" b="0" i="0" dirty="0">
                <a:solidFill>
                  <a:srgbClr val="333333"/>
                </a:solidFill>
                <a:effectLst/>
                <a:latin typeface="Open Sans" charset="0"/>
              </a:rPr>
              <a:t> and noise in all three species and two life stages. Baseline </a:t>
            </a:r>
            <a:r>
              <a:rPr lang="en-US" sz="1200" b="0" i="0" dirty="0" err="1">
                <a:solidFill>
                  <a:srgbClr val="333333"/>
                </a:solidFill>
                <a:effectLst/>
                <a:latin typeface="Open Sans" charset="0"/>
              </a:rPr>
              <a:t>cort</a:t>
            </a:r>
            <a:r>
              <a:rPr lang="en-US" sz="1200" b="0" i="0" dirty="0">
                <a:solidFill>
                  <a:srgbClr val="333333"/>
                </a:solidFill>
                <a:effectLst/>
                <a:latin typeface="Open Sans" charset="0"/>
              </a:rPr>
              <a:t> levels for both adults and nestlings were negatively affected by noise (</a:t>
            </a:r>
            <a:r>
              <a:rPr lang="en-US" sz="1200" b="0" i="1" dirty="0">
                <a:solidFill>
                  <a:srgbClr val="333333"/>
                </a:solidFill>
                <a:effectLst/>
                <a:latin typeface="Open Sans" charset="0"/>
              </a:rPr>
              <a:t>Left</a:t>
            </a:r>
            <a:r>
              <a:rPr lang="en-US" sz="1200" b="0" i="0" dirty="0">
                <a:solidFill>
                  <a:srgbClr val="333333"/>
                </a:solidFill>
                <a:effectLst/>
                <a:latin typeface="Open Sans" charset="0"/>
              </a:rPr>
              <a:t> and </a:t>
            </a:r>
            <a:r>
              <a:rPr lang="en-US" sz="1200" b="0" i="1" dirty="0">
                <a:solidFill>
                  <a:srgbClr val="333333"/>
                </a:solidFill>
                <a:effectLst/>
                <a:latin typeface="Open Sans" charset="0"/>
              </a:rPr>
              <a:t>Center Columns</a:t>
            </a:r>
            <a:r>
              <a:rPr lang="en-US" sz="1200" b="0" i="0" dirty="0">
                <a:solidFill>
                  <a:srgbClr val="333333"/>
                </a:solidFill>
                <a:effectLst/>
                <a:latin typeface="Open Sans" charset="0"/>
              </a:rPr>
              <a:t>, respectively), while acute stress-induced </a:t>
            </a:r>
            <a:r>
              <a:rPr lang="en-US" sz="1200" b="0" i="0" dirty="0" err="1">
                <a:solidFill>
                  <a:srgbClr val="333333"/>
                </a:solidFill>
                <a:effectLst/>
                <a:latin typeface="Open Sans" charset="0"/>
              </a:rPr>
              <a:t>cort</a:t>
            </a:r>
            <a:r>
              <a:rPr lang="en-US" sz="1200" b="0" i="0" dirty="0">
                <a:solidFill>
                  <a:srgbClr val="333333"/>
                </a:solidFill>
                <a:effectLst/>
                <a:latin typeface="Open Sans" charset="0"/>
              </a:rPr>
              <a:t> levels in nestlings were positively affected by noise (</a:t>
            </a:r>
            <a:r>
              <a:rPr lang="en-US" sz="1200" b="0" i="1" dirty="0">
                <a:solidFill>
                  <a:srgbClr val="333333"/>
                </a:solidFill>
                <a:effectLst/>
                <a:latin typeface="Open Sans" charset="0"/>
              </a:rPr>
              <a:t>Right Column</a:t>
            </a:r>
            <a:r>
              <a:rPr lang="en-US" sz="1200" b="0" i="0" dirty="0">
                <a:solidFill>
                  <a:srgbClr val="333333"/>
                </a:solidFill>
                <a:effectLst/>
                <a:latin typeface="Open Sans" charset="0"/>
              </a:rPr>
              <a:t>). For each model, the effect of noise was consistent across species, irrespective of species-specific </a:t>
            </a:r>
            <a:r>
              <a:rPr lang="en-US" sz="1200" b="0" i="0" dirty="0" err="1">
                <a:solidFill>
                  <a:srgbClr val="333333"/>
                </a:solidFill>
                <a:effectLst/>
                <a:latin typeface="Open Sans" charset="0"/>
              </a:rPr>
              <a:t>cort</a:t>
            </a:r>
            <a:r>
              <a:rPr lang="en-US" sz="1200" b="0" i="0" dirty="0">
                <a:solidFill>
                  <a:srgbClr val="333333"/>
                </a:solidFill>
                <a:effectLst/>
                <a:latin typeface="Open Sans" charset="0"/>
              </a:rPr>
              <a:t> levels. The gray-shaded areas indicate the 85% CIs for each estimated effect.</a:t>
            </a:r>
            <a:endParaRPr lang="en-US" sz="1200" dirty="0"/>
          </a:p>
        </p:txBody>
      </p:sp>
      <p:sp>
        <p:nvSpPr>
          <p:cNvPr id="6" name="Rectangle 5"/>
          <p:cNvSpPr/>
          <p:nvPr/>
        </p:nvSpPr>
        <p:spPr>
          <a:xfrm>
            <a:off x="4648200" y="6125179"/>
            <a:ext cx="6096000" cy="369332"/>
          </a:xfrm>
          <a:prstGeom prst="rect">
            <a:avLst/>
          </a:prstGeom>
        </p:spPr>
        <p:txBody>
          <a:bodyPr>
            <a:spAutoFit/>
          </a:bodyPr>
          <a:lstStyle/>
          <a:p>
            <a:r>
              <a:rPr lang="en-US" b="0" i="0" dirty="0">
                <a:solidFill>
                  <a:srgbClr val="333333"/>
                </a:solidFill>
                <a:effectLst/>
                <a:latin typeface="Open Sans" charset="0"/>
              </a:rPr>
              <a:t>Kleist 2018 PNAS</a:t>
            </a:r>
            <a:endParaRPr lang="en-US" dirty="0"/>
          </a:p>
        </p:txBody>
      </p:sp>
    </p:spTree>
    <p:extLst>
      <p:ext uri="{BB962C8B-B14F-4D97-AF65-F5344CB8AC3E}">
        <p14:creationId xmlns:p14="http://schemas.microsoft.com/office/powerpoint/2010/main" val="1246848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06352" y="471031"/>
            <a:ext cx="6732648" cy="6201400"/>
          </a:xfrm>
          <a:prstGeom prst="rect">
            <a:avLst/>
          </a:prstGeom>
        </p:spPr>
      </p:pic>
      <p:sp>
        <p:nvSpPr>
          <p:cNvPr id="5" name="Rectangle 4"/>
          <p:cNvSpPr/>
          <p:nvPr/>
        </p:nvSpPr>
        <p:spPr>
          <a:xfrm>
            <a:off x="7769179" y="1450638"/>
            <a:ext cx="3759200" cy="3323987"/>
          </a:xfrm>
          <a:prstGeom prst="rect">
            <a:avLst/>
          </a:prstGeom>
        </p:spPr>
        <p:txBody>
          <a:bodyPr wrap="square">
            <a:spAutoFit/>
          </a:bodyPr>
          <a:lstStyle/>
          <a:p>
            <a:r>
              <a:rPr lang="en-US" sz="1400" b="0" i="0" dirty="0">
                <a:solidFill>
                  <a:srgbClr val="333333"/>
                </a:solidFill>
                <a:effectLst/>
                <a:latin typeface="Open Sans" charset="0"/>
              </a:rPr>
              <a:t>Dengue epidemiology in Pakistan in 2013. (</a:t>
            </a:r>
            <a:r>
              <a:rPr lang="en-US" sz="1400" b="0" i="1" dirty="0">
                <a:solidFill>
                  <a:srgbClr val="333333"/>
                </a:solidFill>
                <a:effectLst/>
                <a:latin typeface="Open Sans" charset="0"/>
              </a:rPr>
              <a:t>A</a:t>
            </a:r>
            <a:r>
              <a:rPr lang="en-US" sz="1400" b="0" i="0" dirty="0">
                <a:solidFill>
                  <a:srgbClr val="333333"/>
                </a:solidFill>
                <a:effectLst/>
                <a:latin typeface="Open Sans" charset="0"/>
              </a:rPr>
              <a:t>) The location of dengue cases throughout Pakistan and the number of cases per week by tehsil. Tehsils that reported at least 15 cases are shown on the map with corresponding color shown in the time series. The majority of cases were reported in Karachi (gray), Lahore (blue), and Mingora (orange). The dengue season in the entire country lasted 35 </a:t>
            </a:r>
            <a:r>
              <a:rPr lang="en-US" sz="1400" b="0" i="0" dirty="0" err="1">
                <a:solidFill>
                  <a:srgbClr val="333333"/>
                </a:solidFill>
                <a:effectLst/>
                <a:latin typeface="Open Sans" charset="0"/>
              </a:rPr>
              <a:t>wk</a:t>
            </a:r>
            <a:r>
              <a:rPr lang="en-US" sz="1400" b="0" i="0" dirty="0">
                <a:solidFill>
                  <a:srgbClr val="333333"/>
                </a:solidFill>
                <a:effectLst/>
                <a:latin typeface="Open Sans" charset="0"/>
              </a:rPr>
              <a:t>, with the first reported case in Karachi during week 18 (end of April). (</a:t>
            </a:r>
            <a:r>
              <a:rPr lang="en-US" sz="1400" b="0" i="1" dirty="0">
                <a:solidFill>
                  <a:srgbClr val="333333"/>
                </a:solidFill>
                <a:effectLst/>
                <a:latin typeface="Open Sans" charset="0"/>
              </a:rPr>
              <a:t>B</a:t>
            </a:r>
            <a:r>
              <a:rPr lang="en-US" sz="1400" b="0" i="0" dirty="0">
                <a:solidFill>
                  <a:srgbClr val="333333"/>
                </a:solidFill>
                <a:effectLst/>
                <a:latin typeface="Open Sans" charset="0"/>
              </a:rPr>
              <a:t>) The reported cases (red), temperature (blue), and model fit (black) for Karachi are shown. Using the case and temperature data, the human and vector population dynamics were modeled (</a:t>
            </a:r>
            <a:r>
              <a:rPr lang="en-US" sz="1400" b="1" i="1" u="none" strike="noStrike" dirty="0">
                <a:solidFill>
                  <a:srgbClr val="005A96"/>
                </a:solidFill>
                <a:effectLst/>
                <a:latin typeface="Open Sans" charset="0"/>
                <a:hlinkClick r:id="rId3"/>
              </a:rPr>
              <a:t>Materials and Methods</a:t>
            </a:r>
            <a:r>
              <a:rPr lang="en-US" sz="1400" b="0" i="0" dirty="0">
                <a:solidFill>
                  <a:srgbClr val="333333"/>
                </a:solidFill>
                <a:effectLst/>
                <a:latin typeface="Open Sans" charset="0"/>
              </a:rPr>
              <a:t>).</a:t>
            </a:r>
            <a:endParaRPr lang="en-US" sz="1400" dirty="0"/>
          </a:p>
        </p:txBody>
      </p:sp>
      <p:sp>
        <p:nvSpPr>
          <p:cNvPr id="6" name="TextBox 5"/>
          <p:cNvSpPr txBox="1"/>
          <p:nvPr/>
        </p:nvSpPr>
        <p:spPr>
          <a:xfrm>
            <a:off x="7658100" y="5994400"/>
            <a:ext cx="2373086" cy="369332"/>
          </a:xfrm>
          <a:prstGeom prst="rect">
            <a:avLst/>
          </a:prstGeom>
          <a:noFill/>
        </p:spPr>
        <p:txBody>
          <a:bodyPr wrap="none" rtlCol="0">
            <a:spAutoFit/>
          </a:bodyPr>
          <a:lstStyle/>
          <a:p>
            <a:r>
              <a:rPr lang="en-US" dirty="0" err="1"/>
              <a:t>Wesolowski</a:t>
            </a:r>
            <a:r>
              <a:rPr lang="en-US" dirty="0"/>
              <a:t> 2015 PNAS</a:t>
            </a:r>
          </a:p>
        </p:txBody>
      </p:sp>
    </p:spTree>
    <p:extLst>
      <p:ext uri="{BB962C8B-B14F-4D97-AF65-F5344CB8AC3E}">
        <p14:creationId xmlns:p14="http://schemas.microsoft.com/office/powerpoint/2010/main" val="883279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603695" y="0"/>
            <a:ext cx="8984609" cy="6858000"/>
          </a:xfrm>
          <a:prstGeom prst="rect">
            <a:avLst/>
          </a:prstGeom>
        </p:spPr>
      </p:pic>
      <p:sp>
        <p:nvSpPr>
          <p:cNvPr id="5" name="TextBox 4"/>
          <p:cNvSpPr txBox="1"/>
          <p:nvPr/>
        </p:nvSpPr>
        <p:spPr>
          <a:xfrm>
            <a:off x="9033461" y="6286500"/>
            <a:ext cx="2976199" cy="369332"/>
          </a:xfrm>
          <a:prstGeom prst="rect">
            <a:avLst/>
          </a:prstGeom>
          <a:noFill/>
        </p:spPr>
        <p:txBody>
          <a:bodyPr wrap="none" rtlCol="0">
            <a:spAutoFit/>
          </a:bodyPr>
          <a:lstStyle/>
          <a:p>
            <a:r>
              <a:rPr lang="en-US" dirty="0"/>
              <a:t>Kilpatrick 2006 Proc. Roy. Soc.</a:t>
            </a:r>
          </a:p>
        </p:txBody>
      </p:sp>
    </p:spTree>
    <p:extLst>
      <p:ext uri="{BB962C8B-B14F-4D97-AF65-F5344CB8AC3E}">
        <p14:creationId xmlns:p14="http://schemas.microsoft.com/office/powerpoint/2010/main" val="783428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ggplot2</a:t>
            </a:r>
          </a:p>
        </p:txBody>
      </p:sp>
      <p:sp>
        <p:nvSpPr>
          <p:cNvPr id="3" name="Content Placeholder 2"/>
          <p:cNvSpPr>
            <a:spLocks noGrp="1"/>
          </p:cNvSpPr>
          <p:nvPr>
            <p:ph idx="1"/>
          </p:nvPr>
        </p:nvSpPr>
        <p:spPr/>
        <p:txBody>
          <a:bodyPr>
            <a:normAutofit lnSpcReduction="10000"/>
          </a:bodyPr>
          <a:lstStyle/>
          <a:p>
            <a:r>
              <a:rPr lang="en-US" dirty="0"/>
              <a:t>Best website for help: </a:t>
            </a:r>
            <a:r>
              <a:rPr lang="en-US" dirty="0">
                <a:hlinkClick r:id="rId3"/>
              </a:rPr>
              <a:t>http://ggplot2.tidyverse.org/reference/</a:t>
            </a:r>
            <a:r>
              <a:rPr lang="en-US" dirty="0"/>
              <a:t> </a:t>
            </a:r>
          </a:p>
          <a:p>
            <a:r>
              <a:rPr lang="en-US" b="1" dirty="0"/>
              <a:t>aesthetic mappings</a:t>
            </a:r>
            <a:r>
              <a:rPr lang="en-US" dirty="0"/>
              <a:t>: between variables in the data frame and </a:t>
            </a:r>
            <a:r>
              <a:rPr lang="en-US" b="1" dirty="0"/>
              <a:t>aesthetics</a:t>
            </a:r>
            <a:r>
              <a:rPr lang="en-US" dirty="0"/>
              <a:t>, or graphical attributes (x position, y position, size, </a:t>
            </a:r>
            <a:r>
              <a:rPr lang="en-US" dirty="0" err="1"/>
              <a:t>colour</a:t>
            </a:r>
            <a:r>
              <a:rPr lang="en-US" dirty="0"/>
              <a:t> ...)</a:t>
            </a:r>
          </a:p>
          <a:p>
            <a:r>
              <a:rPr lang="en-US" dirty="0"/>
              <a:t>first two show up as (e.g.) </a:t>
            </a:r>
            <a:r>
              <a:rPr lang="en-US" dirty="0" err="1"/>
              <a:t>ggplot</a:t>
            </a:r>
            <a:r>
              <a:rPr lang="en-US" dirty="0"/>
              <a:t>(</a:t>
            </a:r>
            <a:r>
              <a:rPr lang="en-US" dirty="0" err="1"/>
              <a:t>my_data</a:t>
            </a:r>
            <a:r>
              <a:rPr lang="en-US" dirty="0"/>
              <a:t>, </a:t>
            </a:r>
            <a:r>
              <a:rPr lang="en-US" dirty="0" err="1"/>
              <a:t>aes</a:t>
            </a:r>
            <a:r>
              <a:rPr lang="en-US" dirty="0"/>
              <a:t>(x=</a:t>
            </a:r>
            <a:r>
              <a:rPr lang="en-US" dirty="0" err="1"/>
              <a:t>age,y</a:t>
            </a:r>
            <a:r>
              <a:rPr lang="en-US" dirty="0"/>
              <a:t>=</a:t>
            </a:r>
            <a:r>
              <a:rPr lang="en-US" dirty="0" err="1"/>
              <a:t>rootgrowth,colour</a:t>
            </a:r>
            <a:r>
              <a:rPr lang="en-US" dirty="0"/>
              <a:t>=phosphate))</a:t>
            </a:r>
          </a:p>
          <a:p>
            <a:r>
              <a:rPr lang="en-US" b="1" dirty="0" err="1"/>
              <a:t>geoms</a:t>
            </a:r>
            <a:r>
              <a:rPr lang="en-US" dirty="0"/>
              <a:t>:</a:t>
            </a:r>
          </a:p>
          <a:p>
            <a:pPr lvl="1"/>
            <a:r>
              <a:rPr lang="en-US" dirty="0"/>
              <a:t>simple: </a:t>
            </a:r>
            <a:r>
              <a:rPr lang="en-US" dirty="0" err="1"/>
              <a:t>geom_point</a:t>
            </a:r>
            <a:r>
              <a:rPr lang="en-US" dirty="0"/>
              <a:t>, </a:t>
            </a:r>
            <a:r>
              <a:rPr lang="en-US" dirty="0" err="1"/>
              <a:t>geom_line</a:t>
            </a:r>
            <a:r>
              <a:rPr lang="en-US" dirty="0"/>
              <a:t>:</a:t>
            </a:r>
          </a:p>
          <a:p>
            <a:pPr lvl="1"/>
            <a:r>
              <a:rPr lang="en-US" dirty="0"/>
              <a:t>For great reference: </a:t>
            </a:r>
            <a:r>
              <a:rPr lang="en-US" dirty="0">
                <a:hlinkClick r:id="rId4"/>
              </a:rPr>
              <a:t>www.r-graph-gallery.com</a:t>
            </a:r>
            <a:endParaRPr lang="en-US" dirty="0"/>
          </a:p>
          <a:p>
            <a:pPr marL="457200" lvl="1" indent="0">
              <a:buNone/>
            </a:pPr>
            <a:endParaRPr lang="en-US" dirty="0"/>
          </a:p>
          <a:p>
            <a:pPr lvl="1"/>
            <a:r>
              <a:rPr lang="en-US" dirty="0"/>
              <a:t>SWITCH TO CONSOLE</a:t>
            </a:r>
          </a:p>
          <a:p>
            <a:endParaRPr lang="en-US" dirty="0"/>
          </a:p>
        </p:txBody>
      </p:sp>
    </p:spTree>
    <p:extLst>
      <p:ext uri="{BB962C8B-B14F-4D97-AF65-F5344CB8AC3E}">
        <p14:creationId xmlns:p14="http://schemas.microsoft.com/office/powerpoint/2010/main" val="1576702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2130</TotalTime>
  <Words>1868</Words>
  <Application>Microsoft Macintosh PowerPoint</Application>
  <PresentationFormat>Widescreen</PresentationFormat>
  <Paragraphs>189</Paragraphs>
  <Slides>33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Open Sans</vt:lpstr>
      <vt:lpstr>Office Theme</vt:lpstr>
      <vt:lpstr>Data Visualization</vt:lpstr>
      <vt:lpstr>Github and assignment housekeeping</vt:lpstr>
      <vt:lpstr>Preparation</vt:lpstr>
      <vt:lpstr>Goals</vt:lpstr>
      <vt:lpstr>Check-In</vt:lpstr>
      <vt:lpstr>Why do We Make Graphs and Figures?</vt:lpstr>
      <vt:lpstr>In-Class Exercise: How do we use figures to visualize different types of data?</vt:lpstr>
      <vt:lpstr>In-Class Exercise: How do we use figures to visualize different types of data?</vt:lpstr>
      <vt:lpstr>In-Class Exercise: How do we use figures to visualize different types of data?</vt:lpstr>
      <vt:lpstr>In-Class Exercise: How do we use figures to visualize different types of data?</vt:lpstr>
      <vt:lpstr>In-Class Exercise: How do we use figures to visualize different types of data?</vt:lpstr>
      <vt:lpstr>What features of a figure are most important? </vt:lpstr>
      <vt:lpstr>What features of a figure are most important? </vt:lpstr>
      <vt:lpstr>What features of a figure are most important? </vt:lpstr>
      <vt:lpstr>What features of a figure are most important? </vt:lpstr>
      <vt:lpstr>What features of a figure are most important? </vt:lpstr>
      <vt:lpstr>What features of a figure are most important? </vt:lpstr>
      <vt:lpstr>Histograms   Display the distribution of a single quantitative variable across a dataset</vt:lpstr>
      <vt:lpstr>Boxplots   Display the distribution of a single quantitative variable separated according to a categorical variable</vt:lpstr>
      <vt:lpstr>Scatterplots   Display the value of each individual case for 2 separate quantitative variables</vt:lpstr>
      <vt:lpstr>Some history on data visualization</vt:lpstr>
      <vt:lpstr>Cleveland &amp; McGill 1984 Jour. Of the American Statistical Association. </vt:lpstr>
      <vt:lpstr>Hierarchy (most to least accurate in perception of quantitative data)</vt:lpstr>
      <vt:lpstr>Examples of the elementary perceptual task</vt:lpstr>
      <vt:lpstr>Edward Tufte</vt:lpstr>
      <vt:lpstr>Edward Tufte</vt:lpstr>
      <vt:lpstr>Edward Tufte</vt:lpstr>
      <vt:lpstr>Direct labeling</vt:lpstr>
      <vt:lpstr>Principles of Information Design</vt:lpstr>
      <vt:lpstr>PowerPoint Presentation</vt:lpstr>
      <vt:lpstr>PowerPoint Presentation</vt:lpstr>
      <vt:lpstr>PowerPoint Presentation</vt:lpstr>
      <vt:lpstr>ggplot2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dc:title>
  <dc:creator>Kate Langwig</dc:creator>
  <cp:lastModifiedBy>Kate Langwig</cp:lastModifiedBy>
  <cp:revision>50</cp:revision>
  <dcterms:created xsi:type="dcterms:W3CDTF">2018-01-29T15:39:11Z</dcterms:created>
  <dcterms:modified xsi:type="dcterms:W3CDTF">2026-02-16T19:49:42Z</dcterms:modified>
</cp:coreProperties>
</file>