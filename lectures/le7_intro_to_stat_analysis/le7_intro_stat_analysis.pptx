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306" r:id="rId4"/>
    <p:sldId id="307" r:id="rId5"/>
    <p:sldId id="308" r:id="rId6"/>
    <p:sldId id="258" r:id="rId7"/>
    <p:sldId id="287" r:id="rId8"/>
    <p:sldId id="268" r:id="rId9"/>
    <p:sldId id="269" r:id="rId10"/>
    <p:sldId id="271" r:id="rId11"/>
    <p:sldId id="288" r:id="rId12"/>
    <p:sldId id="290" r:id="rId13"/>
    <p:sldId id="291" r:id="rId14"/>
    <p:sldId id="292" r:id="rId15"/>
    <p:sldId id="272" r:id="rId16"/>
    <p:sldId id="262" r:id="rId17"/>
    <p:sldId id="266" r:id="rId18"/>
    <p:sldId id="274" r:id="rId19"/>
    <p:sldId id="278" r:id="rId20"/>
    <p:sldId id="276" r:id="rId21"/>
    <p:sldId id="277" r:id="rId22"/>
    <p:sldId id="279" r:id="rId23"/>
    <p:sldId id="280" r:id="rId24"/>
    <p:sldId id="284" r:id="rId25"/>
    <p:sldId id="309" r:id="rId26"/>
    <p:sldId id="296" r:id="rId27"/>
    <p:sldId id="298" r:id="rId28"/>
    <p:sldId id="297" r:id="rId29"/>
    <p:sldId id="299" r:id="rId30"/>
    <p:sldId id="301" r:id="rId31"/>
    <p:sldId id="310" r:id="rId32"/>
    <p:sldId id="311" r:id="rId33"/>
    <p:sldId id="289" r:id="rId34"/>
    <p:sldId id="312" r:id="rId35"/>
    <p:sldId id="31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e Langwig" initials="K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/>
    <p:restoredTop sz="94517"/>
  </p:normalViewPr>
  <p:slideViewPr>
    <p:cSldViewPr snapToGrid="0" snapToObjects="1">
      <p:cViewPr varScale="1">
        <p:scale>
          <a:sx n="113" d="100"/>
          <a:sy n="113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5A16-C907-924E-9309-D28CB357FA15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30E6E-F7EB-0245-AF70-3D1BBC963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135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biometry.github.io</a:t>
            </a:r>
            <a:r>
              <a:rPr lang="en-US" dirty="0"/>
              <a:t>/APES//</a:t>
            </a:r>
            <a:r>
              <a:rPr lang="en-US" dirty="0" err="1"/>
              <a:t>LectureNotes</a:t>
            </a:r>
            <a:r>
              <a:rPr lang="en-US" dirty="0"/>
              <a:t>/</a:t>
            </a:r>
            <a:r>
              <a:rPr lang="en-US" dirty="0" err="1"/>
              <a:t>StatsCafe</a:t>
            </a:r>
            <a:r>
              <a:rPr lang="en-US" dirty="0"/>
              <a:t>/</a:t>
            </a:r>
            <a:r>
              <a:rPr lang="en-US" dirty="0" err="1"/>
              <a:t>Linear_models_jags.html</a:t>
            </a:r>
            <a:r>
              <a:rPr lang="en-US" dirty="0"/>
              <a:t>; https://</a:t>
            </a:r>
            <a:r>
              <a:rPr lang="en-US" dirty="0" err="1"/>
              <a:t>theoreticalecology.wordpress.com</a:t>
            </a:r>
            <a:r>
              <a:rPr lang="en-US" dirty="0"/>
              <a:t>/2010/09/17/metropolis-</a:t>
            </a:r>
            <a:r>
              <a:rPr lang="en-US" dirty="0" err="1"/>
              <a:t>hastings</a:t>
            </a:r>
            <a:r>
              <a:rPr lang="en-US" dirty="0"/>
              <a:t>-</a:t>
            </a:r>
            <a:r>
              <a:rPr lang="en-US" dirty="0" err="1"/>
              <a:t>mcmc</a:t>
            </a:r>
            <a:r>
              <a:rPr lang="en-US" dirty="0"/>
              <a:t>-in-r/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30E6E-F7EB-0245-AF70-3D1BBC96364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4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72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5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801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2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5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4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19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4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6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41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7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CFA25-B096-7943-A865-C4385416DEAE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32A16-6C87-2E44-B0CA-0C55EA59CB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5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 to statistical analysis</a:t>
            </a:r>
          </a:p>
        </p:txBody>
      </p:sp>
    </p:spTree>
    <p:extLst>
      <p:ext uri="{BB962C8B-B14F-4D97-AF65-F5344CB8AC3E}">
        <p14:creationId xmlns:p14="http://schemas.microsoft.com/office/powerpoint/2010/main" val="54947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Articulate some statistical philosophies and describe similarities and differences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dirty="0"/>
              <a:t>Understand effect sizes and their importance</a:t>
            </a:r>
          </a:p>
          <a:p>
            <a:endParaRPr lang="en-US" sz="3600" dirty="0"/>
          </a:p>
          <a:p>
            <a:r>
              <a:rPr lang="en-US" sz="3600" dirty="0"/>
              <a:t>Introduce two-sample tests</a:t>
            </a:r>
          </a:p>
        </p:txBody>
      </p:sp>
    </p:spTree>
    <p:extLst>
      <p:ext uri="{BB962C8B-B14F-4D97-AF65-F5344CB8AC3E}">
        <p14:creationId xmlns:p14="http://schemas.microsoft.com/office/powerpoint/2010/main" val="39236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A368-2E92-2A47-B3E4-4DAE0478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DC34-1BE6-2A4D-8B48-E6E9BF98F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types of models: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mathematical/computational model </a:t>
            </a:r>
            <a:r>
              <a:rPr lang="en-US" dirty="0"/>
              <a:t>is an abstract model that uses mathematical language to describe the behavior of a system</a:t>
            </a:r>
          </a:p>
          <a:p>
            <a:pPr lvl="2"/>
            <a:r>
              <a:rPr lang="en-US" dirty="0"/>
              <a:t>Techniques vary, but often formulated using ODEs or PDEs</a:t>
            </a:r>
          </a:p>
          <a:p>
            <a:pPr lvl="3"/>
            <a:r>
              <a:rPr lang="en-US" dirty="0"/>
              <a:t>Examples: predator-prey models, species competition models, SIR models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 </a:t>
            </a:r>
            <a:r>
              <a:rPr lang="en-US" b="1" dirty="0"/>
              <a:t>statistical model</a:t>
            </a:r>
            <a:r>
              <a:rPr lang="en-US" dirty="0"/>
              <a:t> attempts to describe relationship between observed quantities and independent variables</a:t>
            </a:r>
          </a:p>
          <a:p>
            <a:pPr lvl="2"/>
            <a:r>
              <a:rPr lang="en-US" dirty="0"/>
              <a:t>Techniques include linear models, generalized linear models, GAMMs, PCAs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Developing mathematical models is different from statistical analyses of data </a:t>
            </a:r>
          </a:p>
        </p:txBody>
      </p:sp>
    </p:spTree>
    <p:extLst>
      <p:ext uri="{BB962C8B-B14F-4D97-AF65-F5344CB8AC3E}">
        <p14:creationId xmlns:p14="http://schemas.microsoft.com/office/powerpoint/2010/main" val="180632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58F8-7120-EC4B-8177-E755DB1B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build a mathematical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E65A-8D19-B846-A3C9-A345CA788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Goals vary, but often focus on: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Understanding nature and how something changes over time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Making predictions about something that is going to happen in the future</a:t>
            </a:r>
          </a:p>
          <a:p>
            <a:endParaRPr lang="en-US" dirty="0"/>
          </a:p>
          <a:p>
            <a:r>
              <a:rPr lang="en-US" dirty="0"/>
              <a:t>Example: How many COVID-cases will occur on May 15 in Blacksburg?</a:t>
            </a:r>
          </a:p>
          <a:p>
            <a:pPr lvl="1"/>
            <a:r>
              <a:rPr lang="en-US" dirty="0"/>
              <a:t>This is a difficult problem to solve with statistics</a:t>
            </a:r>
          </a:p>
          <a:p>
            <a:pPr lvl="2"/>
            <a:r>
              <a:rPr lang="en-US" dirty="0"/>
              <a:t>Input: cases in previous time point, vaccine distribution, vaccine effectiveness, strain replacement and transmissibility, number of susceptible individuals remaining</a:t>
            </a:r>
          </a:p>
          <a:p>
            <a:pPr lvl="1"/>
            <a:r>
              <a:rPr lang="en-US" dirty="0"/>
              <a:t>A mathematical model is a better tool to solve this problem</a:t>
            </a:r>
          </a:p>
        </p:txBody>
      </p:sp>
    </p:spTree>
    <p:extLst>
      <p:ext uri="{BB962C8B-B14F-4D97-AF65-F5344CB8AC3E}">
        <p14:creationId xmlns:p14="http://schemas.microsoft.com/office/powerpoint/2010/main" val="3550102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5996F-02E6-C143-9CC8-61AA70E6E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Merging mathematical models with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BA5BB-F412-4049-8AB7-B053373A8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Mathematical models can be fully built and simulated</a:t>
            </a:r>
          </a:p>
          <a:p>
            <a:endParaRPr lang="en-US" dirty="0"/>
          </a:p>
          <a:p>
            <a:r>
              <a:rPr lang="en-US" dirty="0"/>
              <a:t>Determining the accuracy of a mathematical model usually requires statistics!</a:t>
            </a:r>
          </a:p>
          <a:p>
            <a:endParaRPr lang="en-US" dirty="0"/>
          </a:p>
          <a:p>
            <a:r>
              <a:rPr lang="en-US" dirty="0"/>
              <a:t>“Model fitting” or “Model inference” is the term used for this blend</a:t>
            </a:r>
          </a:p>
          <a:p>
            <a:r>
              <a:rPr lang="en-US" dirty="0"/>
              <a:t>Can be done in either Bayesian or Frequentist framework</a:t>
            </a:r>
          </a:p>
          <a:p>
            <a:pPr lvl="1"/>
            <a:r>
              <a:rPr lang="en-US" dirty="0"/>
              <a:t>Guess a value for a parameter</a:t>
            </a:r>
          </a:p>
          <a:p>
            <a:pPr lvl="1"/>
            <a:r>
              <a:rPr lang="en-US" dirty="0"/>
              <a:t>Simulate model based on guessed values</a:t>
            </a:r>
          </a:p>
          <a:p>
            <a:pPr lvl="1"/>
            <a:r>
              <a:rPr lang="en-US" dirty="0"/>
              <a:t>Get an outcome (maybe # of individuals infected)</a:t>
            </a:r>
          </a:p>
          <a:p>
            <a:pPr lvl="1"/>
            <a:r>
              <a:rPr lang="en-US" dirty="0"/>
              <a:t>Compare simulated outcome to real outcome, calculate error</a:t>
            </a:r>
          </a:p>
          <a:p>
            <a:pPr lvl="1"/>
            <a:r>
              <a:rPr lang="en-US" dirty="0"/>
              <a:t>Based on error, make a new guess</a:t>
            </a:r>
            <a:br>
              <a:rPr lang="en-US" dirty="0"/>
            </a:br>
            <a:endParaRPr lang="en-US" dirty="0"/>
          </a:p>
          <a:p>
            <a:r>
              <a:rPr lang="en-US" dirty="0"/>
              <a:t>Most of the sophisticated fitting algorithms are based on how you choose a guess and how you evaluate the error </a:t>
            </a:r>
          </a:p>
          <a:p>
            <a:pPr lvl="1"/>
            <a:r>
              <a:rPr lang="en-US" dirty="0"/>
              <a:t>Bayesian – algorithm: Gibbs sampling – function “jags” in R2jags</a:t>
            </a:r>
          </a:p>
          <a:p>
            <a:pPr lvl="1"/>
            <a:r>
              <a:rPr lang="en-US" dirty="0"/>
              <a:t>Frequentist – algorithm: </a:t>
            </a:r>
            <a:r>
              <a:rPr lang="en-US" dirty="0" err="1"/>
              <a:t>Nelder</a:t>
            </a:r>
            <a:r>
              <a:rPr lang="en-US" dirty="0"/>
              <a:t>-Mead - function ”</a:t>
            </a:r>
            <a:r>
              <a:rPr lang="en-US" dirty="0" err="1"/>
              <a:t>optim</a:t>
            </a:r>
            <a:r>
              <a:rPr lang="en-US" dirty="0"/>
              <a:t>” in R </a:t>
            </a:r>
          </a:p>
        </p:txBody>
      </p:sp>
    </p:spTree>
    <p:extLst>
      <p:ext uri="{BB962C8B-B14F-4D97-AF65-F5344CB8AC3E}">
        <p14:creationId xmlns:p14="http://schemas.microsoft.com/office/powerpoint/2010/main" val="2366520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8151"/>
            <a:ext cx="10515600" cy="4351338"/>
          </a:xfrm>
        </p:spPr>
        <p:txBody>
          <a:bodyPr/>
          <a:lstStyle/>
          <a:p>
            <a:pPr fontAlgn="auto"/>
            <a:r>
              <a:rPr lang="en-US" dirty="0"/>
              <a:t>We use statistics to confirm effects, estimate parameters, and predict outcomes </a:t>
            </a:r>
          </a:p>
          <a:p>
            <a:r>
              <a:rPr lang="en-US" dirty="0"/>
              <a:t>It usually rains when I’m in Cape Town, but mostly on Sunday. </a:t>
            </a:r>
            <a:endParaRPr lang="en-US" dirty="0">
              <a:effectLst/>
            </a:endParaRPr>
          </a:p>
          <a:p>
            <a:r>
              <a:rPr lang="en-US" dirty="0"/>
              <a:t> </a:t>
            </a:r>
            <a:r>
              <a:rPr lang="en-US" i="1" dirty="0"/>
              <a:t>Confirmation: </a:t>
            </a:r>
            <a:r>
              <a:rPr lang="en-US" dirty="0"/>
              <a:t>In Cape Town, it rains more on Sundays than other days </a:t>
            </a:r>
            <a:endParaRPr lang="en-US" dirty="0">
              <a:effectLst/>
            </a:endParaRPr>
          </a:p>
          <a:p>
            <a:r>
              <a:rPr lang="en-US" dirty="0"/>
              <a:t> </a:t>
            </a:r>
            <a:r>
              <a:rPr lang="en-US" i="1" dirty="0"/>
              <a:t>Estimation: </a:t>
            </a:r>
            <a:r>
              <a:rPr lang="en-US" dirty="0"/>
              <a:t>In Cape Town, the </a:t>
            </a:r>
            <a:r>
              <a:rPr lang="en-US" i="1" dirty="0"/>
              <a:t>odds </a:t>
            </a:r>
            <a:r>
              <a:rPr lang="en-US" dirty="0"/>
              <a:t>of rain on Sunday are 1.6–2.2 times higher than on other days </a:t>
            </a:r>
            <a:endParaRPr lang="en-US" dirty="0">
              <a:effectLst/>
            </a:endParaRPr>
          </a:p>
          <a:p>
            <a:r>
              <a:rPr lang="en-US" dirty="0"/>
              <a:t> </a:t>
            </a:r>
            <a:r>
              <a:rPr lang="en-US" i="1" dirty="0"/>
              <a:t>Prediction: </a:t>
            </a:r>
            <a:r>
              <a:rPr lang="en-US" dirty="0"/>
              <a:t>I am confident that it will rain at least one Sunday the next time I travel to Cape Town for 4 weeks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44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Frequentist</a:t>
            </a:r>
          </a:p>
          <a:p>
            <a:endParaRPr lang="en-US" dirty="0"/>
          </a:p>
          <a:p>
            <a:r>
              <a:rPr lang="en-US" dirty="0"/>
              <a:t>Bayesians</a:t>
            </a:r>
          </a:p>
        </p:txBody>
      </p:sp>
    </p:spTree>
    <p:extLst>
      <p:ext uri="{BB962C8B-B14F-4D97-AF65-F5344CB8AC3E}">
        <p14:creationId xmlns:p14="http://schemas.microsoft.com/office/powerpoint/2010/main" val="2464383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Vitamin 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know if vitamin A supplements improve the health of village children</a:t>
            </a:r>
          </a:p>
          <a:p>
            <a:endParaRPr lang="en-US" dirty="0"/>
          </a:p>
          <a:p>
            <a:r>
              <a:rPr lang="en-US" dirty="0"/>
              <a:t>How will we know height differences are due to our treatment?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24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Vitamin 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want to know if vitamin A supplements improve the health of village children</a:t>
            </a:r>
          </a:p>
          <a:p>
            <a:endParaRPr lang="en-US" dirty="0"/>
          </a:p>
          <a:p>
            <a:r>
              <a:rPr lang="en-US" dirty="0"/>
              <a:t>How will we know height differences are due to our treatment?</a:t>
            </a:r>
          </a:p>
          <a:p>
            <a:r>
              <a:rPr lang="en-US" dirty="0"/>
              <a:t>We want the two groups to start from the same point – independent randomization of each individual</a:t>
            </a:r>
          </a:p>
          <a:p>
            <a:r>
              <a:rPr lang="en-US" dirty="0"/>
              <a:t>We may measure </a:t>
            </a:r>
            <a:r>
              <a:rPr lang="en-US" i="1" dirty="0"/>
              <a:t>changes</a:t>
            </a:r>
            <a:r>
              <a:rPr lang="en-US" dirty="0"/>
              <a:t> in height</a:t>
            </a:r>
          </a:p>
          <a:p>
            <a:r>
              <a:rPr lang="en-US" dirty="0"/>
              <a:t>Or </a:t>
            </a:r>
            <a:r>
              <a:rPr lang="en-US" i="1" dirty="0"/>
              <a:t>control for</a:t>
            </a:r>
            <a:r>
              <a:rPr lang="en-US" dirty="0"/>
              <a:t> other factors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do we hope to 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vitamin A good for these children?</a:t>
            </a:r>
          </a:p>
          <a:p>
            <a:endParaRPr lang="en-US" dirty="0"/>
          </a:p>
          <a:p>
            <a:r>
              <a:rPr lang="en-US" dirty="0"/>
              <a:t>How sure are we?</a:t>
            </a:r>
          </a:p>
          <a:p>
            <a:endParaRPr lang="en-US" dirty="0"/>
          </a:p>
          <a:p>
            <a:r>
              <a:rPr lang="en-US" dirty="0"/>
              <a:t>How good do we think it is?</a:t>
            </a:r>
          </a:p>
          <a:p>
            <a:endParaRPr lang="en-US" dirty="0"/>
          </a:p>
          <a:p>
            <a:r>
              <a:rPr lang="en-US" dirty="0"/>
              <a:t>How sure are we about that?</a:t>
            </a:r>
          </a:p>
        </p:txBody>
      </p:sp>
    </p:spTree>
    <p:extLst>
      <p:ext uri="{BB962C8B-B14F-4D97-AF65-F5344CB8AC3E}">
        <p14:creationId xmlns:p14="http://schemas.microsoft.com/office/powerpoint/2010/main" val="127018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(a type of statistician)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null model</a:t>
            </a:r>
          </a:p>
          <a:p>
            <a:endParaRPr lang="en-US" dirty="0"/>
          </a:p>
          <a:p>
            <a:r>
              <a:rPr lang="en-US" dirty="0"/>
              <a:t>Test whether the effect you see could be due to chance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Another way of saying this: What is the probability that I randomly obtained an effect that is at least as extreme as the effect I observed?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statistics, we call this the p-value</a:t>
            </a:r>
          </a:p>
          <a:p>
            <a:pPr lvl="2"/>
            <a:r>
              <a:rPr lang="en-US" dirty="0"/>
              <a:t>Typically, statisticians recommend a &lt;5% chance, or P&lt;0.05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12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Height measurements:</a:t>
            </a:r>
            <a:br>
              <a:rPr lang="en-US" dirty="0"/>
            </a:br>
            <a:r>
              <a:rPr lang="en-US" b="1" dirty="0"/>
              <a:t>Does group A have significantly higher heights than group B? 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990247"/>
            <a:ext cx="54292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charset="0"/>
              </a:rPr>
              <a:t>Test whether the effect you see </a:t>
            </a:r>
            <a:r>
              <a:rPr lang="en-US" sz="2800" b="0" i="1" dirty="0">
                <a:solidFill>
                  <a:srgbClr val="000000"/>
                </a:solidFill>
                <a:effectLst/>
                <a:latin typeface="Times New Roman" charset="0"/>
              </a:rPr>
              <a:t>or a larger effect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charset="0"/>
              </a:rPr>
              <a:t> could be due to chance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charset="0"/>
              </a:rPr>
              <a:t>This probability is the P-value</a:t>
            </a:r>
          </a:p>
          <a:p>
            <a:br>
              <a:rPr lang="en-US" sz="2800" dirty="0"/>
            </a:b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798240" y="3930927"/>
            <a:ext cx="3776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Mean diff is 3.676 cm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2" y="1771130"/>
            <a:ext cx="4662183" cy="45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2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measurements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1429" y="1027906"/>
            <a:ext cx="527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Scramble 1000 times, and each </a:t>
            </a:r>
            <a:r>
              <a:rPr lang="en-US"/>
              <a:t>time calculate a mean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2" y="1349097"/>
            <a:ext cx="5339443" cy="51636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1" y="1517534"/>
            <a:ext cx="4991099" cy="482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91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902043" cy="1325563"/>
          </a:xfrm>
        </p:spPr>
        <p:txBody>
          <a:bodyPr/>
          <a:lstStyle/>
          <a:p>
            <a:r>
              <a:rPr lang="en-US" dirty="0"/>
              <a:t>Plot distribution of mean differences (null </a:t>
            </a:r>
            <a:r>
              <a:rPr lang="en-US" dirty="0" err="1"/>
              <a:t>dist</a:t>
            </a:r>
            <a:r>
              <a:rPr lang="en-US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74429" y="2922813"/>
            <a:ext cx="349431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3.67 cm was less than 2 observations out of 1000</a:t>
            </a:r>
          </a:p>
          <a:p>
            <a:endParaRPr lang="en-US" sz="2800" dirty="0"/>
          </a:p>
          <a:p>
            <a:r>
              <a:rPr lang="en-US" sz="2800" dirty="0"/>
              <a:t>2/1000 = 0.002</a:t>
            </a:r>
          </a:p>
          <a:p>
            <a:r>
              <a:rPr lang="en-US" sz="2800" dirty="0"/>
              <a:t>P = 0.002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99" y="1690688"/>
            <a:ext cx="4795158" cy="4637293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5845629" y="4555671"/>
            <a:ext cx="228600" cy="636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52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does it mean to find a significant P-value for some effect in this experiment?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It means that the difference between the treatments is unlikely to be due to chance</a:t>
            </a:r>
          </a:p>
          <a:p>
            <a:endParaRPr lang="en-US" dirty="0"/>
          </a:p>
          <a:p>
            <a:r>
              <a:rPr lang="en-US" dirty="0"/>
              <a:t>But, it doesn’t provide much insight into our other questions (e.g. how good? </a:t>
            </a:r>
          </a:p>
        </p:txBody>
      </p:sp>
    </p:spTree>
    <p:extLst>
      <p:ext uri="{BB962C8B-B14F-4D97-AF65-F5344CB8AC3E}">
        <p14:creationId xmlns:p14="http://schemas.microsoft.com/office/powerpoint/2010/main" val="154510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Pair p-values with quantitative measures of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 </a:t>
            </a:r>
            <a:r>
              <a:rPr lang="en-US" i="1" dirty="0"/>
              <a:t>P values</a:t>
            </a:r>
            <a:r>
              <a:rPr lang="en-US" dirty="0"/>
              <a:t> to say how sure we are that we have seen some effect</a:t>
            </a:r>
          </a:p>
          <a:p>
            <a:endParaRPr lang="en-US" dirty="0"/>
          </a:p>
          <a:p>
            <a:r>
              <a:rPr lang="en-US" dirty="0"/>
              <a:t>We use statistics (like confidence intervals, model coefficients/parameters</a:t>
            </a:r>
            <a:r>
              <a:rPr lang="en-US" i="1" dirty="0"/>
              <a:t>)</a:t>
            </a:r>
            <a:r>
              <a:rPr lang="en-US" dirty="0"/>
              <a:t> to describe the magnitude of that effect</a:t>
            </a:r>
          </a:p>
          <a:p>
            <a:endParaRPr lang="en-US" dirty="0"/>
          </a:p>
          <a:p>
            <a:r>
              <a:rPr lang="en-US" b="1" u="sng" dirty="0"/>
              <a:t>WE DO NOT USE P-VALUES ALONE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889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does it mean if I find a significant P-value for some effect?</a:t>
            </a:r>
          </a:p>
          <a:p>
            <a:pPr lvl="1"/>
            <a:endParaRPr lang="en-US" sz="3600" dirty="0"/>
          </a:p>
          <a:p>
            <a:pPr lvl="1"/>
            <a:r>
              <a:rPr lang="en-US" sz="3600" dirty="0"/>
              <a:t>It means that the effect is unlikely to be due to chance alone (but the converse isn’t true)</a:t>
            </a:r>
          </a:p>
          <a:p>
            <a:pPr lvl="1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29795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Because what is a P values really telling you?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 high P value (e.g. P = 0.62) means we can’t see the sign of the effect clearly 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A low P value (e.g. P = 0.00001) means we can see the effect clearly </a:t>
            </a:r>
            <a:br>
              <a:rPr lang="en-US" sz="3600" dirty="0"/>
            </a:b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48097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 P-values (e.g. 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I have a low P-value, then I can see something clearly</a:t>
            </a:r>
          </a:p>
          <a:p>
            <a:endParaRPr lang="en-US" dirty="0"/>
          </a:p>
          <a:p>
            <a:r>
              <a:rPr lang="en-US" dirty="0"/>
              <a:t>This is great, but it is usually better to focus on what I see than the P-value</a:t>
            </a:r>
          </a:p>
          <a:p>
            <a:endParaRPr lang="en-US" dirty="0"/>
          </a:p>
          <a:p>
            <a:r>
              <a:rPr lang="en-US" dirty="0"/>
              <a:t>VERY IMPORTANT: directionality</a:t>
            </a:r>
          </a:p>
          <a:p>
            <a:r>
              <a:rPr lang="en-US" dirty="0"/>
              <a:t>Do not write: These things are significantly different. (Who cares? Everything is different)</a:t>
            </a:r>
          </a:p>
          <a:p>
            <a:r>
              <a:rPr lang="en-US" dirty="0"/>
              <a:t>Write: X is significantly higher than y (magnitude, error, p-value)</a:t>
            </a:r>
          </a:p>
        </p:txBody>
      </p:sp>
    </p:spTree>
    <p:extLst>
      <p:ext uri="{BB962C8B-B14F-4D97-AF65-F5344CB8AC3E}">
        <p14:creationId xmlns:p14="http://schemas.microsoft.com/office/powerpoint/2010/main" val="1863163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Statistical Error in 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Type I (</a:t>
            </a:r>
            <a:r>
              <a:rPr lang="en-US" i="1" dirty="0"/>
              <a:t>False positive:</a:t>
            </a:r>
            <a:r>
              <a:rPr lang="en-US" dirty="0"/>
              <a:t>) in the hypothetical case that the effect is exactly zero, what is the probability of falsely finding an effect</a:t>
            </a:r>
          </a:p>
          <a:p>
            <a:pPr lvl="1"/>
            <a:r>
              <a:rPr lang="en-US" dirty="0"/>
              <a:t>Should be less than or equal to my P-value</a:t>
            </a:r>
          </a:p>
          <a:p>
            <a:pPr lvl="1"/>
            <a:endParaRPr lang="en-US" dirty="0"/>
          </a:p>
          <a:p>
            <a:r>
              <a:rPr lang="en-US" dirty="0"/>
              <a:t>Type II (</a:t>
            </a:r>
            <a:r>
              <a:rPr lang="en-US" i="1" dirty="0"/>
              <a:t>False negative:</a:t>
            </a:r>
            <a:r>
              <a:rPr lang="en-US" dirty="0"/>
              <a:t>) what is the probability of failing to find an effect that is there?</a:t>
            </a:r>
          </a:p>
          <a:p>
            <a:pPr lvl="1"/>
            <a:r>
              <a:rPr lang="en-US" dirty="0"/>
              <a:t>Useful, but can only be asked for a specific hypothetical effect </a:t>
            </a:r>
            <a:r>
              <a:rPr lang="en-US" i="1" dirty="0"/>
              <a:t>size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types of error are useful to analyze </a:t>
            </a:r>
            <a:r>
              <a:rPr lang="en-US" b="1" dirty="0"/>
              <a:t>power</a:t>
            </a:r>
            <a:r>
              <a:rPr lang="en-US" dirty="0"/>
              <a:t> and </a:t>
            </a:r>
            <a:r>
              <a:rPr lang="en-US" b="1" dirty="0"/>
              <a:t>validity</a:t>
            </a:r>
            <a:r>
              <a:rPr lang="en-US" dirty="0"/>
              <a:t> of a statistical design</a:t>
            </a:r>
          </a:p>
          <a:p>
            <a:pPr lvl="1"/>
            <a:r>
              <a:rPr lang="en-US" dirty="0"/>
              <a:t>You should do these analyses </a:t>
            </a:r>
            <a:r>
              <a:rPr lang="en-US" i="1" dirty="0"/>
              <a:t>before</a:t>
            </a:r>
            <a:r>
              <a:rPr lang="en-US" dirty="0"/>
              <a:t> you collect data, not after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180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(?) ways of thinking about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Sign error:</a:t>
            </a:r>
            <a:r>
              <a:rPr lang="en-US" dirty="0"/>
              <a:t> if I think an effect is positive, when it’s really negative (or vice versa)</a:t>
            </a:r>
          </a:p>
          <a:p>
            <a:endParaRPr lang="en-US" dirty="0"/>
          </a:p>
          <a:p>
            <a:r>
              <a:rPr lang="en-US" i="1" dirty="0"/>
              <a:t>Magnitude error:</a:t>
            </a:r>
            <a:r>
              <a:rPr lang="en-US" dirty="0"/>
              <a:t> if I think an effect is small, when it’s really large (or vice versa)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704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P-values (e.g. greater than 0.1)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p-values denote something that you can not see clearly</a:t>
            </a:r>
          </a:p>
          <a:p>
            <a:endParaRPr lang="en-US" dirty="0"/>
          </a:p>
          <a:p>
            <a:r>
              <a:rPr lang="en-US" dirty="0"/>
              <a:t>It </a:t>
            </a:r>
            <a:r>
              <a:rPr lang="en-US" i="1" dirty="0"/>
              <a:t>may</a:t>
            </a:r>
            <a:r>
              <a:rPr lang="en-US" dirty="0"/>
              <a:t> be because the effect small (possibly).</a:t>
            </a:r>
          </a:p>
          <a:p>
            <a:endParaRPr lang="en-US" dirty="0"/>
          </a:p>
          <a:p>
            <a:r>
              <a:rPr lang="en-US" dirty="0"/>
              <a:t>High p-values should not be used to be advance your conclusion.</a:t>
            </a:r>
          </a:p>
        </p:txBody>
      </p:sp>
    </p:spTree>
    <p:extLst>
      <p:ext uri="{BB962C8B-B14F-4D97-AF65-F5344CB8AC3E}">
        <p14:creationId xmlns:p14="http://schemas.microsoft.com/office/powerpoint/2010/main" val="688981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causes high P-values?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Small differences</a:t>
            </a:r>
          </a:p>
          <a:p>
            <a:endParaRPr lang="en-US" dirty="0"/>
          </a:p>
          <a:p>
            <a:r>
              <a:rPr lang="en-US" dirty="0"/>
              <a:t>Less data</a:t>
            </a:r>
          </a:p>
          <a:p>
            <a:endParaRPr lang="en-US" dirty="0"/>
          </a:p>
          <a:p>
            <a:r>
              <a:rPr lang="en-US" dirty="0"/>
              <a:t>More noise</a:t>
            </a:r>
          </a:p>
          <a:p>
            <a:endParaRPr lang="en-US" dirty="0"/>
          </a:p>
          <a:p>
            <a:r>
              <a:rPr lang="en-US" dirty="0"/>
              <a:t>An inappropriate model</a:t>
            </a:r>
          </a:p>
          <a:p>
            <a:endParaRPr lang="en-US" dirty="0"/>
          </a:p>
          <a:p>
            <a:r>
              <a:rPr lang="en-US" dirty="0"/>
              <a:t>A lower P-value means that your evidence for difference is better, but a higher P-value means that your evidence for similarity is </a:t>
            </a:r>
            <a:r>
              <a:rPr lang="en-US" i="1" dirty="0"/>
              <a:t>better </a:t>
            </a:r>
            <a:r>
              <a:rPr lang="en-US" dirty="0"/>
              <a:t>OR </a:t>
            </a:r>
            <a:r>
              <a:rPr lang="en-US" i="1" dirty="0"/>
              <a:t>worse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87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can’t build statistical confidence that something is small by failing to see it clearly</a:t>
            </a:r>
          </a:p>
          <a:p>
            <a:endParaRPr lang="en-US" dirty="0"/>
          </a:p>
          <a:p>
            <a:r>
              <a:rPr lang="en-US" dirty="0"/>
              <a:t>We must instead see clearly that it is small</a:t>
            </a:r>
          </a:p>
          <a:p>
            <a:endParaRPr lang="en-US" dirty="0"/>
          </a:p>
          <a:p>
            <a:r>
              <a:rPr lang="en-US" dirty="0"/>
              <a:t>Small effects require lots of data</a:t>
            </a:r>
          </a:p>
        </p:txBody>
      </p:sp>
    </p:spTree>
    <p:extLst>
      <p:ext uri="{BB962C8B-B14F-4D97-AF65-F5344CB8AC3E}">
        <p14:creationId xmlns:p14="http://schemas.microsoft.com/office/powerpoint/2010/main" val="741183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D80D-7802-65A2-0867-3E1F3347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51C0-8355-7717-E017-72A951EF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Paradigms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3838B-9FFC-1E17-6307-051D16042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Frequentist</a:t>
            </a:r>
          </a:p>
          <a:p>
            <a:endParaRPr lang="en-US" dirty="0"/>
          </a:p>
          <a:p>
            <a:r>
              <a:rPr lang="en-US" dirty="0"/>
              <a:t>Bayesians</a:t>
            </a:r>
          </a:p>
        </p:txBody>
      </p:sp>
    </p:spTree>
    <p:extLst>
      <p:ext uri="{BB962C8B-B14F-4D97-AF65-F5344CB8AC3E}">
        <p14:creationId xmlns:p14="http://schemas.microsoft.com/office/powerpoint/2010/main" val="393768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 complete model world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 conditional probability to calculate the probability you want</a:t>
            </a:r>
          </a:p>
          <a:p>
            <a:endParaRPr lang="en-US" dirty="0"/>
          </a:p>
          <a:p>
            <a:r>
              <a:rPr lang="en-US" dirty="0"/>
              <a:t>Assumes observed data are true while parameter values have probability distributions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47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go from a </a:t>
            </a:r>
            <a:r>
              <a:rPr lang="en-US" i="1" dirty="0"/>
              <a:t>statistical model</a:t>
            </a:r>
            <a:r>
              <a:rPr lang="en-US" dirty="0"/>
              <a:t> of how our data are generated, to a probability model of parameter values</a:t>
            </a:r>
          </a:p>
          <a:p>
            <a:endParaRPr lang="en-US" dirty="0"/>
          </a:p>
          <a:p>
            <a:pPr lvl="1"/>
            <a:r>
              <a:rPr lang="en-US" dirty="0"/>
              <a:t>Requires </a:t>
            </a:r>
            <a:r>
              <a:rPr lang="en-US" i="1" dirty="0"/>
              <a:t>prior</a:t>
            </a:r>
            <a:r>
              <a:rPr lang="en-US" dirty="0"/>
              <a:t> distributions describing the assumed likelihood of parameters before these observations are made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 Bayes theorem to calculate posterior distribution – likelihood after taking data into account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2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my hypothesized parameter values?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is the part that makes frequentists sweaty</a:t>
            </a:r>
          </a:p>
          <a:p>
            <a:endParaRPr lang="en-US" dirty="0"/>
          </a:p>
          <a:p>
            <a:r>
              <a:rPr lang="en-US" dirty="0"/>
              <a:t>Bayesians will often say they are choosing “uniform priors”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still need to specify some parameter space by which this parameter exists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88" y="3193143"/>
            <a:ext cx="3003484" cy="208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857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Vitamin A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frequentist can do a clear analysis right away</a:t>
            </a:r>
          </a:p>
          <a:p>
            <a:endParaRPr lang="en-US" dirty="0"/>
          </a:p>
          <a:p>
            <a:r>
              <a:rPr lang="en-US" dirty="0"/>
              <a:t>A Bayesian needs a ton of assumptions – will try to make “uninformative” assumptions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63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Statistics are not a magic machine that gives you the right answer</a:t>
            </a:r>
          </a:p>
          <a:p>
            <a:endParaRPr lang="en-US" dirty="0"/>
          </a:p>
          <a:p>
            <a:r>
              <a:rPr lang="en-US" dirty="0"/>
              <a:t>If you are to be a serious scientist in a noisy world, you should have your own philosophy of statistics</a:t>
            </a:r>
          </a:p>
          <a:p>
            <a:pPr lvl="1"/>
            <a:r>
              <a:rPr lang="en-US" dirty="0"/>
              <a:t>(Mine is do it a few different ways, if you get the same answer, it’s probably right)</a:t>
            </a:r>
          </a:p>
          <a:p>
            <a:endParaRPr lang="en-US" dirty="0"/>
          </a:p>
          <a:p>
            <a:pPr lvl="1"/>
            <a:r>
              <a:rPr lang="en-US" dirty="0"/>
              <a:t>Be pragmatic: your goal is to do science, not get caught by theoretical considerations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Be honest: it’s harder than it sounds.</a:t>
            </a:r>
          </a:p>
        </p:txBody>
      </p:sp>
    </p:spTree>
    <p:extLst>
      <p:ext uri="{BB962C8B-B14F-4D97-AF65-F5344CB8AC3E}">
        <p14:creationId xmlns:p14="http://schemas.microsoft.com/office/powerpoint/2010/main" val="6607743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B0B6-FF46-2248-87C1-42576F40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“Classical”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B95E-DFBD-A64E-A691-6375B64E9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lots of pre-packaged tests implemented in R</a:t>
            </a:r>
          </a:p>
          <a:p>
            <a:endParaRPr lang="en-US" dirty="0"/>
          </a:p>
          <a:p>
            <a:r>
              <a:rPr lang="en-US" dirty="0"/>
              <a:t>We’ll talk about t-tests but know there are TONS more of these</a:t>
            </a:r>
          </a:p>
        </p:txBody>
      </p:sp>
    </p:spTree>
    <p:extLst>
      <p:ext uri="{BB962C8B-B14F-4D97-AF65-F5344CB8AC3E}">
        <p14:creationId xmlns:p14="http://schemas.microsoft.com/office/powerpoint/2010/main" val="3544176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C443-7325-749C-629F-507ACE8B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Two-Group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2835-C16E-3B7C-9818-E8D1ED4A7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Question: Does continuous variable X vary between these two groups?</a:t>
            </a:r>
          </a:p>
          <a:p>
            <a:r>
              <a:rPr lang="en-US" dirty="0"/>
              <a:t>Null Hypothesis: The difference between the groups is due to chance.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27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 (two-sample, one-sample, paired)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Two-sample: Used to ask if two means are significantly different</a:t>
            </a:r>
          </a:p>
          <a:p>
            <a:pPr lvl="1"/>
            <a:r>
              <a:rPr lang="en-US" dirty="0"/>
              <a:t>Often called a Student’s t-test, unpaired t-test, or independent samples t-test</a:t>
            </a:r>
          </a:p>
          <a:p>
            <a:pPr lvl="1"/>
            <a:endParaRPr lang="en-US" dirty="0"/>
          </a:p>
          <a:p>
            <a:r>
              <a:rPr lang="en-US" dirty="0"/>
              <a:t>One-sample: Used to ask if one thing is significantly different from some value (e.g. confidence intervals)</a:t>
            </a:r>
          </a:p>
          <a:p>
            <a:endParaRPr lang="en-US" dirty="0"/>
          </a:p>
          <a:p>
            <a:r>
              <a:rPr lang="en-US" dirty="0"/>
              <a:t>Paired: Used to ask if two samples from the same “unit” (e.g. plot, person, site) are significantly different</a:t>
            </a:r>
          </a:p>
          <a:p>
            <a:pPr lvl="1"/>
            <a:r>
              <a:rPr lang="en-US" dirty="0"/>
              <a:t>E.g. Was bat infection on more or less after our treatment?</a:t>
            </a:r>
          </a:p>
          <a:p>
            <a:pPr lvl="1"/>
            <a:r>
              <a:rPr lang="en-US" dirty="0"/>
              <a:t>The unit could be an individual bat, (e.g. Susie before treatment or Susie after treatment) OR the unit could be prevalence of infection at a site (e.g. Bear Cave before and after treatment)</a:t>
            </a:r>
          </a:p>
          <a:p>
            <a:pPr lvl="1"/>
            <a:r>
              <a:rPr lang="en-US" dirty="0"/>
              <a:t>The many units would then be 15 bats measured before and after treatment, or 15 caves measured before and after treatment</a:t>
            </a:r>
          </a:p>
          <a:p>
            <a:r>
              <a:rPr lang="en-US" dirty="0"/>
              <a:t>To use a T-test, each of the two populations should follow a normal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1227985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T-test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slightly silly nuance is that a classical student’s t-test assumes variances are also equal</a:t>
            </a:r>
          </a:p>
          <a:p>
            <a:endParaRPr lang="en-US" dirty="0"/>
          </a:p>
          <a:p>
            <a:r>
              <a:rPr lang="en-US" dirty="0"/>
              <a:t>If you don’t want to add that assumption, you are technically doing Welch’s t-test (and this is the default in R)</a:t>
            </a:r>
          </a:p>
        </p:txBody>
      </p:sp>
    </p:spTree>
    <p:extLst>
      <p:ext uri="{BB962C8B-B14F-4D97-AF65-F5344CB8AC3E}">
        <p14:creationId xmlns:p14="http://schemas.microsoft.com/office/powerpoint/2010/main" val="726402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R</a:t>
            </a:r>
            <a:r>
              <a:rPr lang="mr-IN" dirty="0"/>
              <a:t>…</a:t>
            </a:r>
            <a:r>
              <a:rPr lang="en-US" dirty="0"/>
              <a:t>.t-tests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30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4892</TotalTime>
  <Words>1785</Words>
  <Application>Microsoft Macintosh PowerPoint</Application>
  <PresentationFormat>Widescreen</PresentationFormat>
  <Paragraphs>220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Times New Roman</vt:lpstr>
      <vt:lpstr>Office Theme</vt:lpstr>
      <vt:lpstr>Week 7</vt:lpstr>
      <vt:lpstr>Goals</vt:lpstr>
      <vt:lpstr>What is a model?</vt:lpstr>
      <vt:lpstr>Why build a mathematical model?</vt:lpstr>
      <vt:lpstr>Merging mathematical models with statistics</vt:lpstr>
      <vt:lpstr>How to use statistics</vt:lpstr>
      <vt:lpstr>Statistical Paradigms</vt:lpstr>
      <vt:lpstr>Vitamin A example</vt:lpstr>
      <vt:lpstr>Vitamin A example</vt:lpstr>
      <vt:lpstr>What do we hope to learn?</vt:lpstr>
      <vt:lpstr>Frequentist (a type of statistician) paradigm</vt:lpstr>
      <vt:lpstr>Height measurements: Does group A have significantly higher heights than group B? </vt:lpstr>
      <vt:lpstr>Height measurements</vt:lpstr>
      <vt:lpstr>Plot distribution of mean differences (null dist)</vt:lpstr>
      <vt:lpstr>What does it mean to find a significant P-value for some effect in this experiment?</vt:lpstr>
      <vt:lpstr>Pair p-values with quantitative measures of difference</vt:lpstr>
      <vt:lpstr>P-values</vt:lpstr>
      <vt:lpstr>Because what is a P values really telling you? </vt:lpstr>
      <vt:lpstr>Low P-values (e.g. P &lt; 0.05)</vt:lpstr>
      <vt:lpstr>Types of Statistical Error in Hypothesis Testing</vt:lpstr>
      <vt:lpstr>Improved (?) ways of thinking about error</vt:lpstr>
      <vt:lpstr>High P-values (e.g. greater than 0.1)</vt:lpstr>
      <vt:lpstr>What causes high P-values? </vt:lpstr>
      <vt:lpstr>Small effects</vt:lpstr>
      <vt:lpstr>Statistical Paradigms</vt:lpstr>
      <vt:lpstr>Bayesians</vt:lpstr>
      <vt:lpstr>Bayesian Inference</vt:lpstr>
      <vt:lpstr>What are my hypothesized parameter values?</vt:lpstr>
      <vt:lpstr>Vitamin A study</vt:lpstr>
      <vt:lpstr>Your philosophy</vt:lpstr>
      <vt:lpstr>“Classical” tests</vt:lpstr>
      <vt:lpstr>Two-Group Tests</vt:lpstr>
      <vt:lpstr>T-test (two-sample, one-sample, paired)</vt:lpstr>
      <vt:lpstr>T-test variance</vt:lpstr>
      <vt:lpstr>Go to R….t-tests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</dc:title>
  <dc:creator>Kate Langwig</dc:creator>
  <cp:lastModifiedBy>Kate Langwig</cp:lastModifiedBy>
  <cp:revision>58</cp:revision>
  <dcterms:created xsi:type="dcterms:W3CDTF">2018-02-05T18:50:27Z</dcterms:created>
  <dcterms:modified xsi:type="dcterms:W3CDTF">2026-02-16T20:55:23Z</dcterms:modified>
</cp:coreProperties>
</file>