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7" r:id="rId2"/>
    <p:sldId id="257" r:id="rId3"/>
    <p:sldId id="262" r:id="rId4"/>
    <p:sldId id="276" r:id="rId5"/>
    <p:sldId id="260" r:id="rId6"/>
    <p:sldId id="261" r:id="rId7"/>
    <p:sldId id="259" r:id="rId8"/>
    <p:sldId id="263" r:id="rId9"/>
    <p:sldId id="264" r:id="rId10"/>
    <p:sldId id="265" r:id="rId11"/>
    <p:sldId id="266" r:id="rId12"/>
    <p:sldId id="268" r:id="rId13"/>
    <p:sldId id="269" r:id="rId14"/>
    <p:sldId id="267" r:id="rId15"/>
    <p:sldId id="270" r:id="rId16"/>
    <p:sldId id="271"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24"/>
    <p:restoredTop sz="95801"/>
  </p:normalViewPr>
  <p:slideViewPr>
    <p:cSldViewPr snapToGrid="0" snapToObjects="1">
      <p:cViewPr varScale="1">
        <p:scale>
          <a:sx n="67" d="100"/>
          <a:sy n="67" d="100"/>
        </p:scale>
        <p:origin x="460" y="4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835629-0164-2147-93FB-941236A9A698}" type="datetimeFigureOut">
              <a:rPr lang="en-US" smtClean="0"/>
              <a:t>3/23/2020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1F5137-E3F1-E64A-A858-EBCD7FE462B5}" type="slidenum">
              <a:rPr lang="en-US" smtClean="0"/>
              <a:t>‹#›</a:t>
            </a:fld>
            <a:endParaRPr lang="en-US"/>
          </a:p>
        </p:txBody>
      </p:sp>
    </p:spTree>
    <p:extLst>
      <p:ext uri="{BB962C8B-B14F-4D97-AF65-F5344CB8AC3E}">
        <p14:creationId xmlns:p14="http://schemas.microsoft.com/office/powerpoint/2010/main" val="2883436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biointeractive.org/classroom-resources/asking-scientific-question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PowerPoint slides guide Parts 2 and 3 of the activity “Asking Scientific Questions.” Additional downloads and information related to pedagogy and implementation can be found on this resource’s webpage: </a:t>
            </a:r>
            <a:r>
              <a:rPr lang="en-US" dirty="0">
                <a:hlinkClick r:id="rId3"/>
              </a:rPr>
              <a:t>https://www.biointeractive.org/classroom-resources/asking-scientific-questions</a:t>
            </a:r>
            <a:endParaRPr lang="en-US" dirty="0"/>
          </a:p>
        </p:txBody>
      </p:sp>
      <p:sp>
        <p:nvSpPr>
          <p:cNvPr id="4" name="Slide Number Placeholder 3"/>
          <p:cNvSpPr>
            <a:spLocks noGrp="1"/>
          </p:cNvSpPr>
          <p:nvPr>
            <p:ph type="sldNum" sz="quarter" idx="5"/>
          </p:nvPr>
        </p:nvSpPr>
        <p:spPr/>
        <p:txBody>
          <a:bodyPr/>
          <a:lstStyle/>
          <a:p>
            <a:fld id="{B41F5137-E3F1-E64A-A858-EBCD7FE462B5}" type="slidenum">
              <a:rPr lang="en-US" smtClean="0"/>
              <a:t>1</a:t>
            </a:fld>
            <a:endParaRPr lang="en-US"/>
          </a:p>
        </p:txBody>
      </p:sp>
    </p:spTree>
    <p:extLst>
      <p:ext uri="{BB962C8B-B14F-4D97-AF65-F5344CB8AC3E}">
        <p14:creationId xmlns:p14="http://schemas.microsoft.com/office/powerpoint/2010/main" val="2574915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Students should discuss their ideas first; then they can discuss them along with the "textbook" definition of science. The purpose of this slide is to pivot that discussion to cause and effect.</a:t>
            </a:r>
          </a:p>
        </p:txBody>
      </p:sp>
      <p:sp>
        <p:nvSpPr>
          <p:cNvPr id="4" name="Slide Number Placeholder 3"/>
          <p:cNvSpPr>
            <a:spLocks noGrp="1"/>
          </p:cNvSpPr>
          <p:nvPr>
            <p:ph type="sldNum" sz="quarter" idx="5"/>
          </p:nvPr>
        </p:nvSpPr>
        <p:spPr/>
        <p:txBody>
          <a:bodyPr/>
          <a:lstStyle/>
          <a:p>
            <a:fld id="{B41F5137-E3F1-E64A-A858-EBCD7FE462B5}" type="slidenum">
              <a:rPr lang="en-US" smtClean="0"/>
              <a:t>5</a:t>
            </a:fld>
            <a:endParaRPr lang="en-US"/>
          </a:p>
        </p:txBody>
      </p:sp>
    </p:spTree>
    <p:extLst>
      <p:ext uri="{BB962C8B-B14F-4D97-AF65-F5344CB8AC3E}">
        <p14:creationId xmlns:p14="http://schemas.microsoft.com/office/powerpoint/2010/main" val="4246052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ea typeface="+mn-ea"/>
                <a:cs typeface="+mn-cs"/>
              </a:rPr>
              <a:t>Scientists ask many different types of questions for many different purposes. Six common types of studies are hypothesis-driven research, measuring specific values, measuring functions or relationships, constructing models, making observations and identifying patterns, and improving a product or process, including developing new scientific tools.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ea typeface="+mn-ea"/>
                <a:cs typeface="+mn-cs"/>
              </a:rPr>
              <a:t>Though many types of studies are used in science, scientists put a high degree of emphasis of asking scientific questions to determine cause and effect because the search for causes has led to some of the most important insights offered by science.</a:t>
            </a:r>
            <a:endParaRPr lang="en-US" dirty="0"/>
          </a:p>
        </p:txBody>
      </p:sp>
      <p:sp>
        <p:nvSpPr>
          <p:cNvPr id="4" name="Slide Number Placeholder 3"/>
          <p:cNvSpPr>
            <a:spLocks noGrp="1"/>
          </p:cNvSpPr>
          <p:nvPr>
            <p:ph type="sldNum" sz="quarter" idx="5"/>
          </p:nvPr>
        </p:nvSpPr>
        <p:spPr/>
        <p:txBody>
          <a:bodyPr/>
          <a:lstStyle/>
          <a:p>
            <a:fld id="{B41F5137-E3F1-E64A-A858-EBCD7FE462B5}" type="slidenum">
              <a:rPr lang="en-US" smtClean="0"/>
              <a:t>6</a:t>
            </a:fld>
            <a:endParaRPr lang="en-US"/>
          </a:p>
        </p:txBody>
      </p:sp>
    </p:spTree>
    <p:extLst>
      <p:ext uri="{BB962C8B-B14F-4D97-AF65-F5344CB8AC3E}">
        <p14:creationId xmlns:p14="http://schemas.microsoft.com/office/powerpoint/2010/main" val="4206405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to synonyms activity.</a:t>
            </a:r>
          </a:p>
        </p:txBody>
      </p:sp>
      <p:sp>
        <p:nvSpPr>
          <p:cNvPr id="4" name="Slide Number Placeholder 3"/>
          <p:cNvSpPr>
            <a:spLocks noGrp="1"/>
          </p:cNvSpPr>
          <p:nvPr>
            <p:ph type="sldNum" sz="quarter" idx="5"/>
          </p:nvPr>
        </p:nvSpPr>
        <p:spPr/>
        <p:txBody>
          <a:bodyPr/>
          <a:lstStyle/>
          <a:p>
            <a:fld id="{B41F5137-E3F1-E64A-A858-EBCD7FE462B5}" type="slidenum">
              <a:rPr lang="en-US" smtClean="0"/>
              <a:t>7</a:t>
            </a:fld>
            <a:endParaRPr lang="en-US"/>
          </a:p>
        </p:txBody>
      </p:sp>
    </p:spTree>
    <p:extLst>
      <p:ext uri="{BB962C8B-B14F-4D97-AF65-F5344CB8AC3E}">
        <p14:creationId xmlns:p14="http://schemas.microsoft.com/office/powerpoint/2010/main" val="4196339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Have the students leave a blank column in the middle of their chart paper that they will fill in later.</a:t>
            </a:r>
          </a:p>
        </p:txBody>
      </p:sp>
      <p:sp>
        <p:nvSpPr>
          <p:cNvPr id="4" name="Slide Number Placeholder 3"/>
          <p:cNvSpPr>
            <a:spLocks noGrp="1"/>
          </p:cNvSpPr>
          <p:nvPr>
            <p:ph type="sldNum" sz="quarter" idx="5"/>
          </p:nvPr>
        </p:nvSpPr>
        <p:spPr/>
        <p:txBody>
          <a:bodyPr/>
          <a:lstStyle/>
          <a:p>
            <a:fld id="{B41F5137-E3F1-E64A-A858-EBCD7FE462B5}" type="slidenum">
              <a:rPr lang="en-US" smtClean="0"/>
              <a:t>8</a:t>
            </a:fld>
            <a:endParaRPr lang="en-US"/>
          </a:p>
        </p:txBody>
      </p:sp>
    </p:spTree>
    <p:extLst>
      <p:ext uri="{BB962C8B-B14F-4D97-AF65-F5344CB8AC3E}">
        <p14:creationId xmlns:p14="http://schemas.microsoft.com/office/powerpoint/2010/main" val="2584906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F5137-E3F1-E64A-A858-EBCD7FE462B5}" type="slidenum">
              <a:rPr lang="en-US" smtClean="0"/>
              <a:t>12</a:t>
            </a:fld>
            <a:endParaRPr lang="en-US"/>
          </a:p>
        </p:txBody>
      </p:sp>
    </p:spTree>
    <p:extLst>
      <p:ext uri="{BB962C8B-B14F-4D97-AF65-F5344CB8AC3E}">
        <p14:creationId xmlns:p14="http://schemas.microsoft.com/office/powerpoint/2010/main" val="1270439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Edit the example organisms as needed.</a:t>
            </a:r>
          </a:p>
        </p:txBody>
      </p:sp>
      <p:sp>
        <p:nvSpPr>
          <p:cNvPr id="4" name="Slide Number Placeholder 3"/>
          <p:cNvSpPr>
            <a:spLocks noGrp="1"/>
          </p:cNvSpPr>
          <p:nvPr>
            <p:ph type="sldNum" sz="quarter" idx="5"/>
          </p:nvPr>
        </p:nvSpPr>
        <p:spPr/>
        <p:txBody>
          <a:bodyPr/>
          <a:lstStyle/>
          <a:p>
            <a:fld id="{B41F5137-E3F1-E64A-A858-EBCD7FE462B5}" type="slidenum">
              <a:rPr lang="en-US" smtClean="0"/>
              <a:t>14</a:t>
            </a:fld>
            <a:endParaRPr lang="en-US"/>
          </a:p>
        </p:txBody>
      </p:sp>
    </p:spTree>
    <p:extLst>
      <p:ext uri="{BB962C8B-B14F-4D97-AF65-F5344CB8AC3E}">
        <p14:creationId xmlns:p14="http://schemas.microsoft.com/office/powerpoint/2010/main" val="3712227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Adjust colors as necessary or use circles and boxes.</a:t>
            </a:r>
          </a:p>
        </p:txBody>
      </p:sp>
      <p:sp>
        <p:nvSpPr>
          <p:cNvPr id="4" name="Slide Number Placeholder 3"/>
          <p:cNvSpPr>
            <a:spLocks noGrp="1"/>
          </p:cNvSpPr>
          <p:nvPr>
            <p:ph type="sldNum" sz="quarter" idx="5"/>
          </p:nvPr>
        </p:nvSpPr>
        <p:spPr/>
        <p:txBody>
          <a:bodyPr/>
          <a:lstStyle/>
          <a:p>
            <a:fld id="{B41F5137-E3F1-E64A-A858-EBCD7FE462B5}" type="slidenum">
              <a:rPr lang="en-US" smtClean="0"/>
              <a:t>18</a:t>
            </a:fld>
            <a:endParaRPr lang="en-US"/>
          </a:p>
        </p:txBody>
      </p:sp>
    </p:spTree>
    <p:extLst>
      <p:ext uri="{BB962C8B-B14F-4D97-AF65-F5344CB8AC3E}">
        <p14:creationId xmlns:p14="http://schemas.microsoft.com/office/powerpoint/2010/main" val="2576328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0E9A-1D1D-864A-B84A-8EAA82332F81}"/>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71387CE4-9B29-6C40-B486-8F7E19C837E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920530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22AC7-1D26-3149-9B01-0B93CBAAE78C}"/>
              </a:ext>
            </a:extLst>
          </p:cNvPr>
          <p:cNvSpPr>
            <a:spLocks noGrp="1"/>
          </p:cNvSpPr>
          <p:nvPr>
            <p:ph type="title"/>
          </p:nvPr>
        </p:nvSpPr>
        <p:spPr>
          <a:xfrm>
            <a:off x="838200" y="365125"/>
            <a:ext cx="10515600" cy="1223645"/>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8DF3765-7A58-C841-9865-4A1D4668E8FE}"/>
              </a:ext>
            </a:extLst>
          </p:cNvPr>
          <p:cNvSpPr>
            <a:spLocks noGrp="1"/>
          </p:cNvSpPr>
          <p:nvPr>
            <p:ph idx="1"/>
          </p:nvPr>
        </p:nvSpPr>
        <p:spPr>
          <a:xfrm>
            <a:off x="838200" y="1668780"/>
            <a:ext cx="10515600" cy="450818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EA4570B-EA49-7341-9959-DF94F77BEF9E}"/>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5" name="Footer Placeholder 4">
            <a:extLst>
              <a:ext uri="{FF2B5EF4-FFF2-40B4-BE49-F238E27FC236}">
                <a16:creationId xmlns:a16="http://schemas.microsoft.com/office/drawing/2014/main" id="{4CE3DC4A-5795-B041-A80C-4E0F1091B23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61169F0-A9CF-004E-AB67-786A4E0B9BD7}"/>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3254770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8AA6C-E264-2D49-92E1-C9F5C172D97F}"/>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3574AD-7452-1A4F-8BCA-85C20FBAFDD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E150A3-0A2E-4D46-9E6E-49F3C0359E1E}"/>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5" name="Footer Placeholder 4">
            <a:extLst>
              <a:ext uri="{FF2B5EF4-FFF2-40B4-BE49-F238E27FC236}">
                <a16:creationId xmlns:a16="http://schemas.microsoft.com/office/drawing/2014/main" id="{284CBC8C-6D4F-6A49-A389-C2362D6F38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92A7535-BAD1-5B48-A992-465C13F5C1C5}"/>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2031675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183A7-ECA8-884A-85BA-50FB76566A0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6BEE0F5-EFFD-3943-8B8C-8B5607EC3735}"/>
              </a:ext>
            </a:extLst>
          </p:cNvPr>
          <p:cNvSpPr>
            <a:spLocks noGrp="1"/>
          </p:cNvSpPr>
          <p:nvPr>
            <p:ph sz="half" idx="1"/>
          </p:nvPr>
        </p:nvSpPr>
        <p:spPr>
          <a:xfrm>
            <a:off x="838200" y="1825625"/>
            <a:ext cx="5181600" cy="435133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A6ABB0A-8E17-4B40-AB59-4AF12DAE09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B7AE34-EAC5-7240-ABBB-5DEAB25B48B7}"/>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6" name="Footer Placeholder 5">
            <a:extLst>
              <a:ext uri="{FF2B5EF4-FFF2-40B4-BE49-F238E27FC236}">
                <a16:creationId xmlns:a16="http://schemas.microsoft.com/office/drawing/2014/main" id="{A41C7867-EBAF-5344-BC5E-D5F5415D62B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1CA7040-90DD-2E45-AC0D-3108FAA81D0D}"/>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2469965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23F4-A23B-DB44-B803-73F80E1780F0}"/>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74F4EA4-A555-E445-B146-90C29859232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D5C0D2-0CE1-6445-96D2-60EEE6662C2C}"/>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534DAB-43D7-D647-AEC6-FD01C3D39B5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D1AFB1-30FA-CA47-8466-9C17E84F2B01}"/>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398CA4-B83C-A344-B3EF-FC20CF049B90}"/>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8" name="Footer Placeholder 7">
            <a:extLst>
              <a:ext uri="{FF2B5EF4-FFF2-40B4-BE49-F238E27FC236}">
                <a16:creationId xmlns:a16="http://schemas.microsoft.com/office/drawing/2014/main" id="{48A52209-C745-5F41-9D37-69F7A1E2777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D4F9854-1958-8742-A6B3-8B3E91E22E90}"/>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1884277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60B72-DF2D-9C44-B3A5-E9ED4BFBB3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060EA3CF-3810-5749-9493-F05B4987895A}"/>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4" name="Footer Placeholder 3">
            <a:extLst>
              <a:ext uri="{FF2B5EF4-FFF2-40B4-BE49-F238E27FC236}">
                <a16:creationId xmlns:a16="http://schemas.microsoft.com/office/drawing/2014/main" id="{268570AE-CEBE-764B-AA87-CB0A6C521B4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1D41DC3-E99F-A940-A7C3-5AAA671698E0}"/>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3084459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992575-A36E-2344-AE5D-8D90AF7391D4}"/>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3" name="Footer Placeholder 2">
            <a:extLst>
              <a:ext uri="{FF2B5EF4-FFF2-40B4-BE49-F238E27FC236}">
                <a16:creationId xmlns:a16="http://schemas.microsoft.com/office/drawing/2014/main" id="{6364C5BE-9F46-2142-864A-E7887B4D09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4B8345-B9ED-A146-817A-D3D983EAE1AB}"/>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1779590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2C7B7-B68F-1547-A4C7-67A8AB44A12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4238CE-7C77-B340-91ED-71528553C87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719035-EB1D-624D-91E8-CD1E23D1C8C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80B253-834B-9F4D-85B3-5F737EDEDD45}"/>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6" name="Footer Placeholder 5">
            <a:extLst>
              <a:ext uri="{FF2B5EF4-FFF2-40B4-BE49-F238E27FC236}">
                <a16:creationId xmlns:a16="http://schemas.microsoft.com/office/drawing/2014/main" id="{BAD432F5-B129-5540-B08F-64A3740D977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3B36257-97AD-CF44-9A42-9088ADFD71B7}"/>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99184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A95ED-1EA6-5B41-AB0F-BB010D93367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8BA67A-DAC0-694B-BDA1-D2D0AAD39EA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29DF42-48D3-8242-8726-9C8A3F0EEA5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0BE979-6C3A-0841-9E5D-A1A25E23B841}"/>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6" name="Footer Placeholder 5">
            <a:extLst>
              <a:ext uri="{FF2B5EF4-FFF2-40B4-BE49-F238E27FC236}">
                <a16:creationId xmlns:a16="http://schemas.microsoft.com/office/drawing/2014/main" id="{34F281BB-C6F8-AF48-8BC9-3B8A4A4B9E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3BF0990-91B9-C243-8590-78102E952A03}"/>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800560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43E31-7C2F-9749-821B-DCF3CFC0CD4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3EF908-0619-6540-9C47-5EFDE3389707}"/>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9031BC-8ECC-3542-AED6-5525FDD78065}"/>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5" name="Footer Placeholder 4">
            <a:extLst>
              <a:ext uri="{FF2B5EF4-FFF2-40B4-BE49-F238E27FC236}">
                <a16:creationId xmlns:a16="http://schemas.microsoft.com/office/drawing/2014/main" id="{64166A8B-4583-2C42-8CF2-755D2D8D91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26E0DDA-BD29-EB4B-A0E1-D3A9EB361E35}"/>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911460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0323A7-D6BB-4948-8CFC-EBE295104A7C}"/>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FBE211-37FE-BD40-82E2-4EFC092C15C6}"/>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426084-5730-B444-945E-B7A83BBD581F}"/>
              </a:ext>
            </a:extLst>
          </p:cNvPr>
          <p:cNvSpPr>
            <a:spLocks noGrp="1"/>
          </p:cNvSpPr>
          <p:nvPr>
            <p:ph type="dt" sz="half" idx="10"/>
          </p:nvPr>
        </p:nvSpPr>
        <p:spPr>
          <a:xfrm>
            <a:off x="838200" y="6356350"/>
            <a:ext cx="2743200" cy="365125"/>
          </a:xfrm>
          <a:prstGeom prst="rect">
            <a:avLst/>
          </a:prstGeom>
        </p:spPr>
        <p:txBody>
          <a:bodyPr/>
          <a:lstStyle/>
          <a:p>
            <a:fld id="{4F64CE7B-2D88-C44B-87A8-730F9BD566D4}" type="datetimeFigureOut">
              <a:rPr lang="en-US" smtClean="0"/>
              <a:t>3/23/2020</a:t>
            </a:fld>
            <a:endParaRPr lang="en-US"/>
          </a:p>
        </p:txBody>
      </p:sp>
      <p:sp>
        <p:nvSpPr>
          <p:cNvPr id="5" name="Footer Placeholder 4">
            <a:extLst>
              <a:ext uri="{FF2B5EF4-FFF2-40B4-BE49-F238E27FC236}">
                <a16:creationId xmlns:a16="http://schemas.microsoft.com/office/drawing/2014/main" id="{9EA1EA18-7824-734C-AF9B-F07C25BEEAF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12BA837-3537-4D47-8658-46559EEBBBBA}"/>
              </a:ext>
            </a:extLst>
          </p:cNvPr>
          <p:cNvSpPr>
            <a:spLocks noGrp="1"/>
          </p:cNvSpPr>
          <p:nvPr>
            <p:ph type="sldNum" sz="quarter" idx="12"/>
          </p:nvPr>
        </p:nvSpPr>
        <p:spPr>
          <a:xfrm>
            <a:off x="8610600" y="6356350"/>
            <a:ext cx="2743200" cy="365125"/>
          </a:xfrm>
          <a:prstGeom prst="rect">
            <a:avLst/>
          </a:prstGeom>
        </p:spPr>
        <p:txBody>
          <a:bodyPr/>
          <a:lstStyle/>
          <a:p>
            <a:fld id="{A5792606-E417-604E-B5F6-F363B5992D9F}" type="slidenum">
              <a:rPr lang="en-US" smtClean="0"/>
              <a:t>‹#›</a:t>
            </a:fld>
            <a:endParaRPr lang="en-US"/>
          </a:p>
        </p:txBody>
      </p:sp>
    </p:spTree>
    <p:extLst>
      <p:ext uri="{BB962C8B-B14F-4D97-AF65-F5344CB8AC3E}">
        <p14:creationId xmlns:p14="http://schemas.microsoft.com/office/powerpoint/2010/main" val="2644787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914400" y="2657856"/>
            <a:ext cx="10363200" cy="771144"/>
          </a:xfrm>
        </p:spPr>
        <p:txBody>
          <a:bodyPr lIns="0" tIns="0" rIns="0" bIns="0" anchor="t" anchorCtr="0">
            <a:normAutofit/>
          </a:bodyPr>
          <a:lstStyle>
            <a:lvl1pPr algn="l">
              <a:defRPr sz="4800" b="0" i="0" baseline="0">
                <a:solidFill>
                  <a:schemeClr val="bg1"/>
                </a:solidFill>
                <a:latin typeface="HelveticaNeueLT Std Bold"/>
                <a:cs typeface="HelveticaNeueLT Std Bold"/>
              </a:defRPr>
            </a:lvl1pPr>
          </a:lstStyle>
          <a:p>
            <a:r>
              <a:rPr lang="en-US" dirty="0"/>
              <a:t>Title of Presentation</a:t>
            </a:r>
          </a:p>
        </p:txBody>
      </p:sp>
      <p:sp>
        <p:nvSpPr>
          <p:cNvPr id="8" name="Subtitle 2"/>
          <p:cNvSpPr>
            <a:spLocks noGrp="1"/>
          </p:cNvSpPr>
          <p:nvPr>
            <p:ph type="subTitle" idx="1" hasCustomPrompt="1"/>
          </p:nvPr>
        </p:nvSpPr>
        <p:spPr>
          <a:xfrm>
            <a:off x="914400" y="4023361"/>
            <a:ext cx="10363200" cy="544559"/>
          </a:xfrm>
        </p:spPr>
        <p:txBody>
          <a:bodyPr lIns="0" tIns="0" rIns="0" bIns="0">
            <a:noAutofit/>
          </a:bodyPr>
          <a:lstStyle>
            <a:lvl1pPr marL="0" indent="0" algn="l">
              <a:buNone/>
              <a:defRPr sz="3200" baseline="0">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Subhead Goes Here</a:t>
            </a:r>
          </a:p>
        </p:txBody>
      </p:sp>
      <p:cxnSp>
        <p:nvCxnSpPr>
          <p:cNvPr id="10" name="Straight Connector 9"/>
          <p:cNvCxnSpPr>
            <a:cxnSpLocks/>
          </p:cNvCxnSpPr>
          <p:nvPr userDrawn="1"/>
        </p:nvCxnSpPr>
        <p:spPr bwMode="auto">
          <a:xfrm>
            <a:off x="914400" y="3657600"/>
            <a:ext cx="10363200" cy="0"/>
          </a:xfrm>
          <a:prstGeom prst="line">
            <a:avLst/>
          </a:prstGeom>
          <a:solidFill>
            <a:srgbClr val="66400F"/>
          </a:solidFill>
          <a:ln w="12700" cap="flat" cmpd="sng" algn="ctr">
            <a:solidFill>
              <a:srgbClr val="FFFFFF"/>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pic>
        <p:nvPicPr>
          <p:cNvPr id="11" name="Picture 10">
            <a:extLst>
              <a:ext uri="{FF2B5EF4-FFF2-40B4-BE49-F238E27FC236}">
                <a16:creationId xmlns:a16="http://schemas.microsoft.com/office/drawing/2014/main" id="{D0BE0032-49DD-854C-8440-85DD66C4AF9F}"/>
              </a:ext>
            </a:extLst>
          </p:cNvPr>
          <p:cNvPicPr>
            <a:picLocks noChangeAspect="1"/>
          </p:cNvPicPr>
          <p:nvPr userDrawn="1"/>
        </p:nvPicPr>
        <p:blipFill>
          <a:blip r:embed="rId3"/>
          <a:stretch>
            <a:fillRect/>
          </a:stretch>
        </p:blipFill>
        <p:spPr>
          <a:xfrm>
            <a:off x="7924800" y="5919862"/>
            <a:ext cx="3352800" cy="651933"/>
          </a:xfrm>
          <a:prstGeom prst="rect">
            <a:avLst/>
          </a:prstGeom>
        </p:spPr>
      </p:pic>
    </p:spTree>
    <p:extLst>
      <p:ext uri="{BB962C8B-B14F-4D97-AF65-F5344CB8AC3E}">
        <p14:creationId xmlns:p14="http://schemas.microsoft.com/office/powerpoint/2010/main" val="84581288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3060">
          <p15:clr>
            <a:srgbClr val="FBAE40"/>
          </p15:clr>
        </p15:guide>
        <p15:guide id="4" pos="432">
          <p15:clr>
            <a:srgbClr val="FBAE40"/>
          </p15:clr>
        </p15:guide>
        <p15:guide id="5" pos="532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31940B-7883-1B4C-AA10-79C8449E0A38}"/>
              </a:ext>
            </a:extLst>
          </p:cNvPr>
          <p:cNvSpPr>
            <a:spLocks noGrp="1"/>
          </p:cNvSpPr>
          <p:nvPr>
            <p:ph type="title"/>
          </p:nvPr>
        </p:nvSpPr>
        <p:spPr>
          <a:xfrm>
            <a:off x="838200" y="365124"/>
            <a:ext cx="10515600" cy="120332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07D234-2E5B-7149-8CF4-4FB4B804FDBB}"/>
              </a:ext>
            </a:extLst>
          </p:cNvPr>
          <p:cNvSpPr>
            <a:spLocks noGrp="1"/>
          </p:cNvSpPr>
          <p:nvPr>
            <p:ph type="body" idx="1"/>
          </p:nvPr>
        </p:nvSpPr>
        <p:spPr>
          <a:xfrm>
            <a:off x="838200" y="1714504"/>
            <a:ext cx="10515600" cy="436625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9" name="Straight Connector 18">
            <a:extLst>
              <a:ext uri="{FF2B5EF4-FFF2-40B4-BE49-F238E27FC236}">
                <a16:creationId xmlns:a16="http://schemas.microsoft.com/office/drawing/2014/main" id="{34DAB28D-487C-5743-A7A5-ED8A05336B80}"/>
              </a:ext>
            </a:extLst>
          </p:cNvPr>
          <p:cNvCxnSpPr>
            <a:cxnSpLocks noChangeShapeType="1"/>
          </p:cNvCxnSpPr>
          <p:nvPr userDrawn="1"/>
        </p:nvCxnSpPr>
        <p:spPr bwMode="auto">
          <a:xfrm>
            <a:off x="838200" y="6255386"/>
            <a:ext cx="10515600" cy="0"/>
          </a:xfrm>
          <a:prstGeom prst="line">
            <a:avLst/>
          </a:prstGeom>
          <a:noFill/>
          <a:ln w="9525">
            <a:solidFill>
              <a:srgbClr val="0EBC4F"/>
            </a:solidFill>
            <a:round/>
            <a:headEnd/>
            <a:tailEnd/>
          </a:ln>
          <a:effectLst>
            <a:outerShdw blurRad="63500" dist="12700" dir="5400000" algn="ctr" rotWithShape="0">
              <a:srgbClr val="BFBFBF">
                <a:alpha val="75000"/>
              </a:srgbClr>
            </a:outerShdw>
          </a:effectLst>
          <a:extLst>
            <a:ext uri="{909E8E84-426E-40dd-AFC4-6F175D3DCCD1}">
              <a14:hiddenFill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noFill/>
              </a14:hiddenFill>
            </a:ext>
          </a:extLst>
        </p:spPr>
      </p:cxnSp>
      <p:pic>
        <p:nvPicPr>
          <p:cNvPr id="23" name="Picture 22">
            <a:extLst>
              <a:ext uri="{FF2B5EF4-FFF2-40B4-BE49-F238E27FC236}">
                <a16:creationId xmlns:a16="http://schemas.microsoft.com/office/drawing/2014/main" id="{1F784B83-2294-B343-A8C0-71783C2D0BC1}"/>
              </a:ext>
            </a:extLst>
          </p:cNvPr>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38200" y="6340789"/>
            <a:ext cx="1247528" cy="276997"/>
          </a:xfrm>
          <a:prstGeom prst="rect">
            <a:avLst/>
          </a:prstGeom>
          <a:noFill/>
          <a:ln>
            <a:noFill/>
          </a:ln>
        </p:spPr>
      </p:pic>
      <p:sp>
        <p:nvSpPr>
          <p:cNvPr id="24" name="TextBox 23">
            <a:extLst>
              <a:ext uri="{FF2B5EF4-FFF2-40B4-BE49-F238E27FC236}">
                <a16:creationId xmlns:a16="http://schemas.microsoft.com/office/drawing/2014/main" id="{49704707-3793-6C48-A807-6E01B865737B}"/>
              </a:ext>
            </a:extLst>
          </p:cNvPr>
          <p:cNvSpPr txBox="1"/>
          <p:nvPr userDrawn="1"/>
        </p:nvSpPr>
        <p:spPr>
          <a:xfrm>
            <a:off x="4038600" y="6344918"/>
            <a:ext cx="4114800" cy="276999"/>
          </a:xfrm>
          <a:prstGeom prst="rect">
            <a:avLst/>
          </a:prstGeom>
          <a:noFill/>
        </p:spPr>
        <p:txBody>
          <a:bodyPr wrap="square" rtlCol="0">
            <a:spAutoFit/>
          </a:bodyPr>
          <a:lstStyle/>
          <a:p>
            <a:pPr algn="ctr"/>
            <a:r>
              <a:rPr lang="en-US" sz="1200" i="1" dirty="0">
                <a:solidFill>
                  <a:schemeClr val="bg1">
                    <a:lumMod val="50000"/>
                  </a:schemeClr>
                </a:solidFill>
                <a:latin typeface="Arial" panose="020B0604020202020204" pitchFamily="34" charset="0"/>
                <a:cs typeface="Arial" panose="020B0604020202020204" pitchFamily="34" charset="0"/>
              </a:rPr>
              <a:t>Asking Scientific Questions</a:t>
            </a:r>
          </a:p>
        </p:txBody>
      </p:sp>
      <p:sp>
        <p:nvSpPr>
          <p:cNvPr id="26" name="TextBox 25">
            <a:extLst>
              <a:ext uri="{FF2B5EF4-FFF2-40B4-BE49-F238E27FC236}">
                <a16:creationId xmlns:a16="http://schemas.microsoft.com/office/drawing/2014/main" id="{30A9AF57-3FF0-2346-B289-3DCD05C06D46}"/>
              </a:ext>
            </a:extLst>
          </p:cNvPr>
          <p:cNvSpPr txBox="1"/>
          <p:nvPr userDrawn="1"/>
        </p:nvSpPr>
        <p:spPr>
          <a:xfrm>
            <a:off x="8726391" y="6342873"/>
            <a:ext cx="2743200" cy="276999"/>
          </a:xfrm>
          <a:prstGeom prst="rect">
            <a:avLst/>
          </a:prstGeom>
          <a:noFill/>
        </p:spPr>
        <p:txBody>
          <a:bodyPr wrap="square" rtlCol="0">
            <a:spAutoFit/>
          </a:bodyPr>
          <a:lstStyle/>
          <a:p>
            <a:pPr algn="r"/>
            <a:r>
              <a:rPr lang="en-US" sz="1200" dirty="0">
                <a:solidFill>
                  <a:schemeClr val="bg1">
                    <a:lumMod val="50000"/>
                  </a:schemeClr>
                </a:solidFill>
                <a:latin typeface="Arial" panose="020B0604020202020204" pitchFamily="34" charset="0"/>
                <a:cs typeface="Arial" panose="020B0604020202020204" pitchFamily="34" charset="0"/>
              </a:rPr>
              <a:t>Slide </a:t>
            </a:r>
            <a:fld id="{A090A37F-3119-6A4D-AE1C-1AA5B067C49E}" type="slidenum">
              <a:rPr lang="en-US" sz="1200" smtClean="0">
                <a:solidFill>
                  <a:schemeClr val="bg1">
                    <a:lumMod val="50000"/>
                  </a:schemeClr>
                </a:solidFill>
                <a:latin typeface="Arial" panose="020B0604020202020204" pitchFamily="34" charset="0"/>
                <a:cs typeface="Arial" panose="020B0604020202020204" pitchFamily="34" charset="0"/>
              </a:rPr>
              <a:t>‹#›</a:t>
            </a:fld>
            <a:r>
              <a:rPr lang="en-US" sz="1200" dirty="0">
                <a:solidFill>
                  <a:schemeClr val="bg1">
                    <a:lumMod val="50000"/>
                  </a:schemeClr>
                </a:solidFill>
                <a:latin typeface="Arial" panose="020B0604020202020204" pitchFamily="34" charset="0"/>
                <a:cs typeface="Arial" panose="020B0604020202020204" pitchFamily="34" charset="0"/>
              </a:rPr>
              <a:t> of 19</a:t>
            </a:r>
          </a:p>
        </p:txBody>
      </p:sp>
    </p:spTree>
    <p:extLst>
      <p:ext uri="{BB962C8B-B14F-4D97-AF65-F5344CB8AC3E}">
        <p14:creationId xmlns:p14="http://schemas.microsoft.com/office/powerpoint/2010/main" val="815528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36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b="1" dirty="0">
                <a:solidFill>
                  <a:schemeClr val="tx1"/>
                </a:solidFill>
                <a:latin typeface="Arial" panose="020B0604020202020204" pitchFamily="34" charset="0"/>
                <a:cs typeface="Arial" panose="020B0604020202020204" pitchFamily="34" charset="0"/>
              </a:rPr>
              <a:t>Asking Scientific Questions</a:t>
            </a:r>
          </a:p>
        </p:txBody>
      </p:sp>
      <p:sp>
        <p:nvSpPr>
          <p:cNvPr id="9" name="Subtitle 8">
            <a:extLst>
              <a:ext uri="{FF2B5EF4-FFF2-40B4-BE49-F238E27FC236}">
                <a16:creationId xmlns:a16="http://schemas.microsoft.com/office/drawing/2014/main" id="{574FB662-EA85-6048-9461-20B50695E86D}"/>
              </a:ext>
            </a:extLst>
          </p:cNvPr>
          <p:cNvSpPr>
            <a:spLocks noGrp="1"/>
          </p:cNvSpPr>
          <p:nvPr>
            <p:ph type="subTitle" idx="1"/>
          </p:nvPr>
        </p:nvSpPr>
        <p:spPr>
          <a:xfrm>
            <a:off x="914400" y="4023361"/>
            <a:ext cx="10363200" cy="886566"/>
          </a:xfrm>
        </p:spPr>
        <p:txBody>
          <a:bodyPr/>
          <a:lstStyle/>
          <a:p>
            <a:r>
              <a:rPr lang="en-US" dirty="0">
                <a:solidFill>
                  <a:schemeClr val="bg1">
                    <a:lumMod val="50000"/>
                  </a:schemeClr>
                </a:solidFill>
              </a:rPr>
              <a:t>Activity</a:t>
            </a:r>
            <a:br>
              <a:rPr lang="en-US" dirty="0">
                <a:solidFill>
                  <a:schemeClr val="bg1">
                    <a:lumMod val="50000"/>
                  </a:schemeClr>
                </a:solidFill>
              </a:rPr>
            </a:br>
            <a:r>
              <a:rPr lang="en-US" dirty="0">
                <a:solidFill>
                  <a:schemeClr val="bg1">
                    <a:lumMod val="50000"/>
                  </a:schemeClr>
                </a:solidFill>
              </a:rPr>
              <a:t>PowerPoint Slides</a:t>
            </a:r>
          </a:p>
          <a:p>
            <a:endParaRPr lang="en-US" dirty="0"/>
          </a:p>
        </p:txBody>
      </p:sp>
      <p:pic>
        <p:nvPicPr>
          <p:cNvPr id="10" name="Picture 9">
            <a:extLst>
              <a:ext uri="{FF2B5EF4-FFF2-40B4-BE49-F238E27FC236}">
                <a16:creationId xmlns:a16="http://schemas.microsoft.com/office/drawing/2014/main" id="{938E0450-F6DE-5F4E-B42C-38E2085E99DC}"/>
              </a:ext>
            </a:extLst>
          </p:cNvPr>
          <p:cNvPicPr>
            <a:picLocks noChangeAspect="1"/>
          </p:cNvPicPr>
          <p:nvPr/>
        </p:nvPicPr>
        <p:blipFill>
          <a:blip r:embed="rId3"/>
          <a:stretch>
            <a:fillRect/>
          </a:stretch>
        </p:blipFill>
        <p:spPr>
          <a:xfrm>
            <a:off x="7909809" y="5845249"/>
            <a:ext cx="3352799" cy="741535"/>
          </a:xfrm>
          <a:prstGeom prst="rect">
            <a:avLst/>
          </a:prstGeom>
        </p:spPr>
      </p:pic>
      <p:cxnSp>
        <p:nvCxnSpPr>
          <p:cNvPr id="11" name="Straight Connector 10">
            <a:extLst>
              <a:ext uri="{FF2B5EF4-FFF2-40B4-BE49-F238E27FC236}">
                <a16:creationId xmlns:a16="http://schemas.microsoft.com/office/drawing/2014/main" id="{021BCB45-3E60-FC49-B757-009DA486229C}"/>
              </a:ext>
            </a:extLst>
          </p:cNvPr>
          <p:cNvCxnSpPr>
            <a:cxnSpLocks noChangeShapeType="1"/>
          </p:cNvCxnSpPr>
          <p:nvPr/>
        </p:nvCxnSpPr>
        <p:spPr bwMode="auto">
          <a:xfrm>
            <a:off x="914400" y="3677077"/>
            <a:ext cx="10515600" cy="0"/>
          </a:xfrm>
          <a:prstGeom prst="line">
            <a:avLst/>
          </a:prstGeom>
          <a:noFill/>
          <a:ln w="9525">
            <a:solidFill>
              <a:srgbClr val="0EBC4F"/>
            </a:solidFill>
            <a:round/>
            <a:headEnd/>
            <a:tailEnd/>
          </a:ln>
          <a:effectLst>
            <a:outerShdw blurRad="63500" dist="12700" dir="5400000" algn="ctr" rotWithShape="0">
              <a:srgbClr val="BFBFBF">
                <a:alpha val="75000"/>
              </a:srgbClr>
            </a:outerShdw>
          </a:effectLst>
          <a:extLst>
            <a:ext uri="{909E8E84-426E-40dd-AFC4-6F175D3DCCD1}">
              <a14:hiddenFill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noFill/>
              </a14:hiddenFill>
            </a:ext>
          </a:extLst>
        </p:spPr>
      </p:cxnSp>
    </p:spTree>
    <p:extLst>
      <p:ext uri="{BB962C8B-B14F-4D97-AF65-F5344CB8AC3E}">
        <p14:creationId xmlns:p14="http://schemas.microsoft.com/office/powerpoint/2010/main" val="2327594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DD8CC-6A65-E84C-A467-0A4B5A3F047B}"/>
              </a:ext>
            </a:extLst>
          </p:cNvPr>
          <p:cNvSpPr>
            <a:spLocks noGrp="1"/>
          </p:cNvSpPr>
          <p:nvPr>
            <p:ph type="title"/>
          </p:nvPr>
        </p:nvSpPr>
        <p:spPr>
          <a:xfrm>
            <a:off x="838200" y="236533"/>
            <a:ext cx="10515600" cy="1223645"/>
          </a:xfrm>
        </p:spPr>
        <p:txBody>
          <a:bodyPr>
            <a:normAutofit/>
          </a:bodyPr>
          <a:lstStyle/>
          <a:p>
            <a:r>
              <a:rPr lang="en-US" dirty="0"/>
              <a:t>What drives the day-to-day work of scientists?</a:t>
            </a:r>
          </a:p>
        </p:txBody>
      </p:sp>
      <p:sp>
        <p:nvSpPr>
          <p:cNvPr id="3" name="Content Placeholder 2">
            <a:extLst>
              <a:ext uri="{FF2B5EF4-FFF2-40B4-BE49-F238E27FC236}">
                <a16:creationId xmlns:a16="http://schemas.microsoft.com/office/drawing/2014/main" id="{155C3B6B-4755-7A44-83D4-7A7F9D06EE1D}"/>
              </a:ext>
            </a:extLst>
          </p:cNvPr>
          <p:cNvSpPr>
            <a:spLocks noGrp="1"/>
          </p:cNvSpPr>
          <p:nvPr>
            <p:ph idx="1"/>
          </p:nvPr>
        </p:nvSpPr>
        <p:spPr>
          <a:xfrm>
            <a:off x="838200" y="1400176"/>
            <a:ext cx="10515600" cy="4776788"/>
          </a:xfrm>
        </p:spPr>
        <p:txBody>
          <a:bodyPr>
            <a:normAutofit fontScale="92500"/>
          </a:bodyPr>
          <a:lstStyle/>
          <a:p>
            <a:r>
              <a:rPr lang="en-US" sz="3200" dirty="0"/>
              <a:t>Investigating, understanding, and developing explanations for how [the earth, the universe, systems, etc.] work.</a:t>
            </a:r>
            <a:br>
              <a:rPr lang="en-US" sz="3200" dirty="0"/>
            </a:br>
            <a:endParaRPr lang="en-US" sz="3200" dirty="0"/>
          </a:p>
          <a:p>
            <a:r>
              <a:rPr lang="en-US" sz="3200" dirty="0"/>
              <a:t>Recipes are a formula or procedure for doing or attaining something.</a:t>
            </a:r>
            <a:br>
              <a:rPr lang="en-US" sz="3200" dirty="0"/>
            </a:br>
            <a:endParaRPr lang="en-US" sz="3200" dirty="0"/>
          </a:p>
          <a:p>
            <a:r>
              <a:rPr lang="en-US" sz="3200" dirty="0"/>
              <a:t>A recipe for investigation is built from a scientific question.</a:t>
            </a:r>
          </a:p>
          <a:p>
            <a:pPr marL="0" indent="0">
              <a:buNone/>
            </a:pPr>
            <a:endParaRPr lang="en-US" sz="3200" dirty="0"/>
          </a:p>
          <a:p>
            <a:pPr marL="0" indent="0">
              <a:buNone/>
            </a:pPr>
            <a:r>
              <a:rPr lang="en-US" sz="3200" dirty="0"/>
              <a:t>So how do you come up with a scientific question?</a:t>
            </a:r>
          </a:p>
        </p:txBody>
      </p:sp>
    </p:spTree>
    <p:extLst>
      <p:ext uri="{BB962C8B-B14F-4D97-AF65-F5344CB8AC3E}">
        <p14:creationId xmlns:p14="http://schemas.microsoft.com/office/powerpoint/2010/main" val="2919558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1CFF-085E-BC46-8710-7D25E4671D20}"/>
              </a:ext>
            </a:extLst>
          </p:cNvPr>
          <p:cNvSpPr>
            <a:spLocks noGrp="1"/>
          </p:cNvSpPr>
          <p:nvPr>
            <p:ph type="title"/>
          </p:nvPr>
        </p:nvSpPr>
        <p:spPr>
          <a:xfrm>
            <a:off x="838200" y="365125"/>
            <a:ext cx="10515600" cy="1841627"/>
          </a:xfrm>
        </p:spPr>
        <p:txBody>
          <a:bodyPr>
            <a:noAutofit/>
          </a:bodyPr>
          <a:lstStyle/>
          <a:p>
            <a:r>
              <a:rPr lang="en-US" dirty="0"/>
              <a:t>To come up with a scientific question, we must first understand the common elements that define what science is.</a:t>
            </a:r>
          </a:p>
        </p:txBody>
      </p:sp>
      <p:sp>
        <p:nvSpPr>
          <p:cNvPr id="3" name="Content Placeholder 2">
            <a:extLst>
              <a:ext uri="{FF2B5EF4-FFF2-40B4-BE49-F238E27FC236}">
                <a16:creationId xmlns:a16="http://schemas.microsoft.com/office/drawing/2014/main" id="{EC49653F-52CF-644B-A70E-0AE20F4ADB7F}"/>
              </a:ext>
            </a:extLst>
          </p:cNvPr>
          <p:cNvSpPr>
            <a:spLocks noGrp="1"/>
          </p:cNvSpPr>
          <p:nvPr>
            <p:ph idx="1"/>
          </p:nvPr>
        </p:nvSpPr>
        <p:spPr>
          <a:xfrm>
            <a:off x="838200" y="2804116"/>
            <a:ext cx="10515600" cy="3214307"/>
          </a:xfrm>
        </p:spPr>
        <p:txBody>
          <a:bodyPr>
            <a:normAutofit/>
          </a:bodyPr>
          <a:lstStyle/>
          <a:p>
            <a:pPr marL="0" indent="0">
              <a:buNone/>
            </a:pPr>
            <a:r>
              <a:rPr lang="en-US" sz="3200" b="1" dirty="0"/>
              <a:t>Discuss: </a:t>
            </a:r>
            <a:r>
              <a:rPr lang="en-US" sz="3200" dirty="0"/>
              <a:t>What is science?</a:t>
            </a:r>
          </a:p>
          <a:p>
            <a:endParaRPr 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8412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1CFF-085E-BC46-8710-7D25E4671D20}"/>
              </a:ext>
            </a:extLst>
          </p:cNvPr>
          <p:cNvSpPr>
            <a:spLocks noGrp="1"/>
          </p:cNvSpPr>
          <p:nvPr>
            <p:ph type="title"/>
          </p:nvPr>
        </p:nvSpPr>
        <p:spPr>
          <a:xfrm>
            <a:off x="838200" y="365125"/>
            <a:ext cx="10515600" cy="1841627"/>
          </a:xfrm>
        </p:spPr>
        <p:txBody>
          <a:bodyPr>
            <a:noAutofit/>
          </a:bodyPr>
          <a:lstStyle/>
          <a:p>
            <a:r>
              <a:rPr lang="en-US" dirty="0"/>
              <a:t>To come up with a scientific question, we must first understand the common elements that define what science is.</a:t>
            </a:r>
          </a:p>
        </p:txBody>
      </p:sp>
      <p:sp>
        <p:nvSpPr>
          <p:cNvPr id="3" name="Content Placeholder 2">
            <a:extLst>
              <a:ext uri="{FF2B5EF4-FFF2-40B4-BE49-F238E27FC236}">
                <a16:creationId xmlns:a16="http://schemas.microsoft.com/office/drawing/2014/main" id="{EC49653F-52CF-644B-A70E-0AE20F4ADB7F}"/>
              </a:ext>
            </a:extLst>
          </p:cNvPr>
          <p:cNvSpPr>
            <a:spLocks noGrp="1"/>
          </p:cNvSpPr>
          <p:nvPr>
            <p:ph idx="1"/>
          </p:nvPr>
        </p:nvSpPr>
        <p:spPr>
          <a:xfrm>
            <a:off x="838200" y="2804116"/>
            <a:ext cx="10515600" cy="3214307"/>
          </a:xfrm>
        </p:spPr>
        <p:txBody>
          <a:bodyPr>
            <a:normAutofit/>
          </a:bodyPr>
          <a:lstStyle/>
          <a:p>
            <a:pPr marL="0" indent="0">
              <a:buNone/>
            </a:pPr>
            <a:r>
              <a:rPr lang="en-US" sz="3200" b="1" dirty="0"/>
              <a:t>Discuss: </a:t>
            </a:r>
            <a:r>
              <a:rPr lang="en-US" sz="3200" dirty="0"/>
              <a:t>What is science?</a:t>
            </a:r>
          </a:p>
          <a:p>
            <a:endParaRPr lang="en-US" sz="3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992EB1C-7439-3643-B5C3-4735CED54A48}"/>
              </a:ext>
            </a:extLst>
          </p:cNvPr>
          <p:cNvSpPr txBox="1"/>
          <p:nvPr/>
        </p:nvSpPr>
        <p:spPr>
          <a:xfrm>
            <a:off x="0" y="4053884"/>
            <a:ext cx="12191999" cy="1446550"/>
          </a:xfrm>
          <a:prstGeom prst="rect">
            <a:avLst/>
          </a:prstGeom>
          <a:noFill/>
        </p:spPr>
        <p:txBody>
          <a:bodyPr wrap="square" rtlCol="0">
            <a:spAutoFit/>
          </a:bodyPr>
          <a:lstStyle/>
          <a:p>
            <a:pPr algn="ctr"/>
            <a:r>
              <a:rPr lang="en-US" sz="4400" b="1" dirty="0">
                <a:latin typeface="Arial" panose="020B0604020202020204" pitchFamily="34" charset="0"/>
                <a:cs typeface="Arial" panose="020B0604020202020204" pitchFamily="34" charset="0"/>
              </a:rPr>
              <a:t>Ultimate Goal: </a:t>
            </a:r>
          </a:p>
          <a:p>
            <a:pPr algn="ctr"/>
            <a:r>
              <a:rPr lang="en-US" sz="4400" dirty="0">
                <a:latin typeface="Arial" panose="020B0604020202020204" pitchFamily="34" charset="0"/>
                <a:cs typeface="Arial" panose="020B0604020202020204" pitchFamily="34" charset="0"/>
              </a:rPr>
              <a:t>Explain the Natural World</a:t>
            </a:r>
          </a:p>
        </p:txBody>
      </p:sp>
    </p:spTree>
    <p:extLst>
      <p:ext uri="{BB962C8B-B14F-4D97-AF65-F5344CB8AC3E}">
        <p14:creationId xmlns:p14="http://schemas.microsoft.com/office/powerpoint/2010/main" val="304847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1CFF-085E-BC46-8710-7D25E4671D20}"/>
              </a:ext>
            </a:extLst>
          </p:cNvPr>
          <p:cNvSpPr>
            <a:spLocks noGrp="1"/>
          </p:cNvSpPr>
          <p:nvPr>
            <p:ph type="title"/>
          </p:nvPr>
        </p:nvSpPr>
        <p:spPr>
          <a:xfrm>
            <a:off x="838200" y="365125"/>
            <a:ext cx="10695432" cy="1390523"/>
          </a:xfrm>
        </p:spPr>
        <p:txBody>
          <a:bodyPr>
            <a:normAutofit/>
          </a:bodyPr>
          <a:lstStyle/>
          <a:p>
            <a:pPr algn="ctr"/>
            <a:r>
              <a:rPr lang="en-US" dirty="0"/>
              <a:t>How an introductory biology book defines science:</a:t>
            </a:r>
            <a:endParaRPr lang="en-US" sz="4800" dirty="0"/>
          </a:p>
        </p:txBody>
      </p:sp>
      <p:sp>
        <p:nvSpPr>
          <p:cNvPr id="3" name="Content Placeholder 2">
            <a:extLst>
              <a:ext uri="{FF2B5EF4-FFF2-40B4-BE49-F238E27FC236}">
                <a16:creationId xmlns:a16="http://schemas.microsoft.com/office/drawing/2014/main" id="{EC49653F-52CF-644B-A70E-0AE20F4ADB7F}"/>
              </a:ext>
            </a:extLst>
          </p:cNvPr>
          <p:cNvSpPr>
            <a:spLocks noGrp="1"/>
          </p:cNvSpPr>
          <p:nvPr>
            <p:ph idx="1"/>
          </p:nvPr>
        </p:nvSpPr>
        <p:spPr>
          <a:xfrm>
            <a:off x="838200" y="1901953"/>
            <a:ext cx="10515600" cy="2512886"/>
          </a:xfrm>
        </p:spPr>
        <p:txBody>
          <a:bodyPr>
            <a:noAutofit/>
          </a:bodyPr>
          <a:lstStyle/>
          <a:p>
            <a:pPr marL="0" indent="0">
              <a:buNone/>
            </a:pPr>
            <a:r>
              <a:rPr lang="en-US" sz="3200" dirty="0"/>
              <a:t>Science is the experimental, hypothesis-driven investigation of phenomena to elucidate: </a:t>
            </a:r>
          </a:p>
          <a:p>
            <a:pPr marL="514350" indent="-514350">
              <a:buFont typeface="+mj-lt"/>
              <a:buAutoNum type="arabicPeriod"/>
            </a:pPr>
            <a:r>
              <a:rPr lang="en-US" sz="3200" dirty="0"/>
              <a:t>patterns in nature</a:t>
            </a:r>
          </a:p>
          <a:p>
            <a:pPr marL="514350" indent="-514350">
              <a:buFont typeface="+mj-lt"/>
              <a:buAutoNum type="arabicPeriod"/>
            </a:pPr>
            <a:r>
              <a:rPr lang="en-US" sz="3200" dirty="0"/>
              <a:t>the processes governing the formation, maintenance, and changing of those patterns</a:t>
            </a:r>
          </a:p>
          <a:p>
            <a:endParaRPr lang="en-US" sz="3200" dirty="0"/>
          </a:p>
          <a:p>
            <a:pPr marL="0" indent="0">
              <a:buNone/>
            </a:pPr>
            <a:endParaRPr lang="en-US" sz="3200" dirty="0"/>
          </a:p>
          <a:p>
            <a:pPr marL="0" indent="0">
              <a:buNone/>
            </a:pPr>
            <a:endParaRPr lang="en-US" sz="3200" dirty="0"/>
          </a:p>
          <a:p>
            <a:endParaRPr lang="en-US" sz="3200" dirty="0"/>
          </a:p>
        </p:txBody>
      </p:sp>
      <p:sp>
        <p:nvSpPr>
          <p:cNvPr id="6" name="Rectangle 5">
            <a:extLst>
              <a:ext uri="{FF2B5EF4-FFF2-40B4-BE49-F238E27FC236}">
                <a16:creationId xmlns:a16="http://schemas.microsoft.com/office/drawing/2014/main" id="{7E4C0950-D50F-454E-BD5A-504FD88919B6}"/>
              </a:ext>
            </a:extLst>
          </p:cNvPr>
          <p:cNvSpPr/>
          <p:nvPr/>
        </p:nvSpPr>
        <p:spPr>
          <a:xfrm>
            <a:off x="838199" y="4889760"/>
            <a:ext cx="10515599" cy="584775"/>
          </a:xfrm>
          <a:prstGeom prst="rect">
            <a:avLst/>
          </a:prstGeom>
        </p:spPr>
        <p:txBody>
          <a:bodyPr wrap="square">
            <a:spAutoFit/>
          </a:bodyPr>
          <a:lstStyle/>
          <a:p>
            <a:r>
              <a:rPr lang="en-US" sz="3200" dirty="0">
                <a:latin typeface="Arial" panose="020B0604020202020204" pitchFamily="34" charset="0"/>
                <a:cs typeface="Arial" panose="020B0604020202020204" pitchFamily="34" charset="0"/>
              </a:rPr>
              <a:t>Where does cause and effect fit in? </a:t>
            </a:r>
          </a:p>
        </p:txBody>
      </p:sp>
    </p:spTree>
    <p:extLst>
      <p:ext uri="{BB962C8B-B14F-4D97-AF65-F5344CB8AC3E}">
        <p14:creationId xmlns:p14="http://schemas.microsoft.com/office/powerpoint/2010/main" val="87316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DD8E8-C963-4947-AA73-F94AC2D514F4}"/>
              </a:ext>
            </a:extLst>
          </p:cNvPr>
          <p:cNvSpPr>
            <a:spLocks noGrp="1"/>
          </p:cNvSpPr>
          <p:nvPr>
            <p:ph type="title"/>
          </p:nvPr>
        </p:nvSpPr>
        <p:spPr>
          <a:xfrm>
            <a:off x="838200" y="584898"/>
            <a:ext cx="10515600" cy="1390523"/>
          </a:xfrm>
        </p:spPr>
        <p:txBody>
          <a:bodyPr>
            <a:noAutofit/>
          </a:bodyPr>
          <a:lstStyle/>
          <a:p>
            <a:r>
              <a:rPr lang="en-US" dirty="0"/>
              <a:t>Explaining the natural world means using cause and effect!</a:t>
            </a:r>
          </a:p>
        </p:txBody>
      </p:sp>
      <p:sp>
        <p:nvSpPr>
          <p:cNvPr id="3" name="Content Placeholder 2">
            <a:extLst>
              <a:ext uri="{FF2B5EF4-FFF2-40B4-BE49-F238E27FC236}">
                <a16:creationId xmlns:a16="http://schemas.microsoft.com/office/drawing/2014/main" id="{7CA28D3B-14E2-E94B-ADC5-3E7EAC47822C}"/>
              </a:ext>
            </a:extLst>
          </p:cNvPr>
          <p:cNvSpPr>
            <a:spLocks noGrp="1"/>
          </p:cNvSpPr>
          <p:nvPr>
            <p:ph idx="1"/>
          </p:nvPr>
        </p:nvSpPr>
        <p:spPr/>
        <p:txBody>
          <a:bodyPr anchor="ctr"/>
          <a:lstStyle/>
          <a:p>
            <a:pPr marL="0" indent="0">
              <a:buNone/>
            </a:pPr>
            <a:r>
              <a:rPr lang="en-US" sz="3200" dirty="0"/>
              <a:t>Answering questions about cause and effect has led to most of the powerful insights offered in science.</a:t>
            </a:r>
          </a:p>
          <a:p>
            <a:endParaRPr lang="en-US" dirty="0"/>
          </a:p>
        </p:txBody>
      </p:sp>
    </p:spTree>
    <p:extLst>
      <p:ext uri="{BB962C8B-B14F-4D97-AF65-F5344CB8AC3E}">
        <p14:creationId xmlns:p14="http://schemas.microsoft.com/office/powerpoint/2010/main" val="4272072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522B79-9AC4-6445-B204-1C76CD02EB76}"/>
              </a:ext>
            </a:extLst>
          </p:cNvPr>
          <p:cNvSpPr>
            <a:spLocks noGrp="1"/>
          </p:cNvSpPr>
          <p:nvPr>
            <p:ph idx="1"/>
          </p:nvPr>
        </p:nvSpPr>
        <p:spPr>
          <a:xfrm>
            <a:off x="838200" y="0"/>
            <a:ext cx="10515600" cy="6176963"/>
          </a:xfrm>
        </p:spPr>
        <p:txBody>
          <a:bodyPr anchor="ctr">
            <a:normAutofit/>
          </a:bodyPr>
          <a:lstStyle/>
          <a:p>
            <a:pPr marL="0" indent="0">
              <a:buNone/>
            </a:pPr>
            <a:r>
              <a:rPr lang="en-US" sz="3200" dirty="0"/>
              <a:t>Cause and effect are such important ingredients that we have come up with different names for them in different fields of study, but they are all synonyms and mean cause and effect. </a:t>
            </a:r>
          </a:p>
        </p:txBody>
      </p:sp>
    </p:spTree>
    <p:extLst>
      <p:ext uri="{BB962C8B-B14F-4D97-AF65-F5344CB8AC3E}">
        <p14:creationId xmlns:p14="http://schemas.microsoft.com/office/powerpoint/2010/main" val="3435436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AC7BD-8F49-BC4F-B485-3F61A387C5BF}"/>
              </a:ext>
            </a:extLst>
          </p:cNvPr>
          <p:cNvSpPr>
            <a:spLocks noGrp="1"/>
          </p:cNvSpPr>
          <p:nvPr>
            <p:ph type="title"/>
          </p:nvPr>
        </p:nvSpPr>
        <p:spPr>
          <a:xfrm>
            <a:off x="838200" y="365125"/>
            <a:ext cx="10515600" cy="1963547"/>
          </a:xfrm>
        </p:spPr>
        <p:txBody>
          <a:bodyPr>
            <a:normAutofit fontScale="90000"/>
          </a:bodyPr>
          <a:lstStyle/>
          <a:p>
            <a:r>
              <a:rPr lang="en-US" dirty="0"/>
              <a:t>Let’s demystify scientific jargon with a synonym game so you can reduce intimidation and let your brain start being creative. </a:t>
            </a:r>
            <a:br>
              <a:rPr lang="en-US" dirty="0"/>
            </a:br>
            <a:endParaRPr lang="en-US" dirty="0"/>
          </a:p>
        </p:txBody>
      </p:sp>
      <p:graphicFrame>
        <p:nvGraphicFramePr>
          <p:cNvPr id="4" name="Table 3">
            <a:extLst>
              <a:ext uri="{FF2B5EF4-FFF2-40B4-BE49-F238E27FC236}">
                <a16:creationId xmlns:a16="http://schemas.microsoft.com/office/drawing/2014/main" id="{62B5BACB-32A4-344C-BC92-5A0FE4AF3EC8}"/>
              </a:ext>
            </a:extLst>
          </p:cNvPr>
          <p:cNvGraphicFramePr>
            <a:graphicFrameLocks noGrp="1"/>
          </p:cNvGraphicFramePr>
          <p:nvPr>
            <p:extLst>
              <p:ext uri="{D42A27DB-BD31-4B8C-83A1-F6EECF244321}">
                <p14:modId xmlns:p14="http://schemas.microsoft.com/office/powerpoint/2010/main" val="2282088789"/>
              </p:ext>
            </p:extLst>
          </p:nvPr>
        </p:nvGraphicFramePr>
        <p:xfrm>
          <a:off x="1722658" y="2131928"/>
          <a:ext cx="8735209" cy="3864762"/>
        </p:xfrm>
        <a:graphic>
          <a:graphicData uri="http://schemas.openxmlformats.org/drawingml/2006/table">
            <a:tbl>
              <a:tblPr firstRow="1" firstCol="1" bandRow="1">
                <a:tableStyleId>{7E9639D4-E3E2-4D34-9284-5A2195B3D0D7}</a:tableStyleId>
              </a:tblPr>
              <a:tblGrid>
                <a:gridCol w="3145131">
                  <a:extLst>
                    <a:ext uri="{9D8B030D-6E8A-4147-A177-3AD203B41FA5}">
                      <a16:colId xmlns:a16="http://schemas.microsoft.com/office/drawing/2014/main" val="1651561455"/>
                    </a:ext>
                  </a:extLst>
                </a:gridCol>
                <a:gridCol w="2166671">
                  <a:extLst>
                    <a:ext uri="{9D8B030D-6E8A-4147-A177-3AD203B41FA5}">
                      <a16:colId xmlns:a16="http://schemas.microsoft.com/office/drawing/2014/main" val="2394217735"/>
                    </a:ext>
                  </a:extLst>
                </a:gridCol>
                <a:gridCol w="3423407">
                  <a:extLst>
                    <a:ext uri="{9D8B030D-6E8A-4147-A177-3AD203B41FA5}">
                      <a16:colId xmlns:a16="http://schemas.microsoft.com/office/drawing/2014/main" val="671545614"/>
                    </a:ext>
                  </a:extLst>
                </a:gridCol>
              </a:tblGrid>
              <a:tr h="374290">
                <a:tc>
                  <a:txBody>
                    <a:bodyPr/>
                    <a:lstStyle/>
                    <a:p>
                      <a:pPr algn="ctr">
                        <a:lnSpc>
                          <a:spcPct val="107000"/>
                        </a:lnSpc>
                        <a:spcAft>
                          <a:spcPts val="800"/>
                        </a:spcAft>
                      </a:pPr>
                      <a:r>
                        <a:rPr lang="en-US" sz="2400" b="0" i="0" dirty="0">
                          <a:effectLst/>
                          <a:latin typeface="Arial" panose="020B0604020202020204" pitchFamily="34" charset="0"/>
                          <a:cs typeface="Arial" panose="020B0604020202020204" pitchFamily="34" charset="0"/>
                        </a:rPr>
                        <a:t>Synonyms for Cause</a:t>
                      </a: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400" b="0" i="0" dirty="0">
                          <a:effectLst/>
                          <a:latin typeface="Arial" panose="020B0604020202020204" pitchFamily="34" charset="0"/>
                          <a:cs typeface="Arial" panose="020B0604020202020204" pitchFamily="34" charset="0"/>
                        </a:rPr>
                        <a:t>Synonyms for Effect</a:t>
                      </a: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6883087"/>
                  </a:ext>
                </a:extLst>
              </a:tr>
              <a:tr h="37429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241371"/>
                  </a:ext>
                </a:extLst>
              </a:tr>
              <a:tr h="374290">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2943150"/>
                  </a:ext>
                </a:extLst>
              </a:tr>
              <a:tr h="374290">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3818201"/>
                  </a:ext>
                </a:extLst>
              </a:tr>
              <a:tr h="374290">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1036964"/>
                  </a:ext>
                </a:extLst>
              </a:tr>
              <a:tr h="374290">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912637"/>
                  </a:ext>
                </a:extLst>
              </a:tr>
              <a:tr h="374290">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2294364"/>
                  </a:ext>
                </a:extLst>
              </a:tr>
              <a:tr h="374290">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283040"/>
                  </a:ext>
                </a:extLst>
              </a:tr>
              <a:tr h="374290">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endParaRPr lang="en-US" sz="2800" b="0" i="0" dirty="0">
                        <a:effectLst/>
                        <a:latin typeface="Calibri" panose="020F0502020204030204" pitchFamily="34" charset="0"/>
                        <a:ea typeface="Helvetica Neue Regular" panose="02000503000000020004" pitchFamily="2" charset="0"/>
                        <a:cs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1821289"/>
                  </a:ext>
                </a:extLst>
              </a:tr>
            </a:tbl>
          </a:graphicData>
        </a:graphic>
      </p:graphicFrame>
    </p:spTree>
    <p:extLst>
      <p:ext uri="{BB962C8B-B14F-4D97-AF65-F5344CB8AC3E}">
        <p14:creationId xmlns:p14="http://schemas.microsoft.com/office/powerpoint/2010/main" val="2338389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48869B0-DAF7-C44D-A348-840AC77DCF68}"/>
              </a:ext>
            </a:extLst>
          </p:cNvPr>
          <p:cNvGraphicFramePr>
            <a:graphicFrameLocks noGrp="1"/>
          </p:cNvGraphicFramePr>
          <p:nvPr>
            <p:extLst>
              <p:ext uri="{D42A27DB-BD31-4B8C-83A1-F6EECF244321}">
                <p14:modId xmlns:p14="http://schemas.microsoft.com/office/powerpoint/2010/main" val="1925215665"/>
              </p:ext>
            </p:extLst>
          </p:nvPr>
        </p:nvGraphicFramePr>
        <p:xfrm>
          <a:off x="1082040" y="691769"/>
          <a:ext cx="9963912" cy="5097902"/>
        </p:xfrm>
        <a:graphic>
          <a:graphicData uri="http://schemas.openxmlformats.org/drawingml/2006/table">
            <a:tbl>
              <a:tblPr firstRow="1" firstCol="1" bandRow="1">
                <a:tableStyleId>{7E9639D4-E3E2-4D34-9284-5A2195B3D0D7}</a:tableStyleId>
              </a:tblPr>
              <a:tblGrid>
                <a:gridCol w="3505997">
                  <a:extLst>
                    <a:ext uri="{9D8B030D-6E8A-4147-A177-3AD203B41FA5}">
                      <a16:colId xmlns:a16="http://schemas.microsoft.com/office/drawing/2014/main" val="659353493"/>
                    </a:ext>
                  </a:extLst>
                </a:gridCol>
                <a:gridCol w="3043708">
                  <a:extLst>
                    <a:ext uri="{9D8B030D-6E8A-4147-A177-3AD203B41FA5}">
                      <a16:colId xmlns:a16="http://schemas.microsoft.com/office/drawing/2014/main" val="1546372958"/>
                    </a:ext>
                  </a:extLst>
                </a:gridCol>
                <a:gridCol w="3414207">
                  <a:extLst>
                    <a:ext uri="{9D8B030D-6E8A-4147-A177-3AD203B41FA5}">
                      <a16:colId xmlns:a16="http://schemas.microsoft.com/office/drawing/2014/main" val="1912189371"/>
                    </a:ext>
                  </a:extLst>
                </a:gridCol>
              </a:tblGrid>
              <a:tr h="477078">
                <a:tc>
                  <a:txBody>
                    <a:bodyPr/>
                    <a:lstStyle/>
                    <a:p>
                      <a:pPr algn="ctr">
                        <a:lnSpc>
                          <a:spcPct val="107000"/>
                        </a:lnSpc>
                        <a:spcAft>
                          <a:spcPts val="800"/>
                        </a:spcAft>
                      </a:pPr>
                      <a:r>
                        <a:rPr lang="en-US" sz="2400" b="0" i="0" dirty="0">
                          <a:effectLst/>
                          <a:latin typeface="Arial" panose="020B0604020202020204" pitchFamily="34" charset="0"/>
                          <a:cs typeface="Arial" panose="020B0604020202020204" pitchFamily="34" charset="0"/>
                        </a:rPr>
                        <a:t>Synonyms for Cause</a:t>
                      </a: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400" b="0" i="0" dirty="0">
                          <a:effectLst/>
                          <a:latin typeface="Arial" panose="020B0604020202020204" pitchFamily="34" charset="0"/>
                          <a:cs typeface="Arial" panose="020B0604020202020204" pitchFamily="34" charset="0"/>
                        </a:rPr>
                        <a:t>Synonyms for Effect</a:t>
                      </a: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0396325"/>
                  </a:ext>
                </a:extLst>
              </a:tr>
              <a:tr h="4226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600" b="0" i="0" dirty="0">
                          <a:effectLst/>
                          <a:latin typeface="Arial" panose="020B0604020202020204" pitchFamily="34" charset="0"/>
                          <a:cs typeface="Arial" panose="020B0604020202020204" pitchFamily="34" charset="0"/>
                        </a:rPr>
                        <a:t>independent variable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dependent variable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36917"/>
                  </a:ext>
                </a:extLst>
              </a:tr>
              <a:tr h="422608">
                <a:tc>
                  <a:txBody>
                    <a:bodyPr/>
                    <a:lstStyle/>
                    <a:p>
                      <a:pPr algn="ctr">
                        <a:lnSpc>
                          <a:spcPct val="107000"/>
                        </a:lnSpc>
                        <a:spcAft>
                          <a:spcPts val="800"/>
                        </a:spcAft>
                      </a:pPr>
                      <a:r>
                        <a:rPr lang="en-US" sz="2600" b="0" i="1" dirty="0">
                          <a:effectLst/>
                          <a:latin typeface="Arial" panose="020B0604020202020204" pitchFamily="34" charset="0"/>
                          <a:cs typeface="Arial" panose="020B0604020202020204" pitchFamily="34" charset="0"/>
                        </a:rPr>
                        <a:t>x</a:t>
                      </a:r>
                      <a:endParaRPr lang="en-US" sz="2600" b="0" i="1"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1" dirty="0">
                          <a:effectLst/>
                          <a:latin typeface="Arial" panose="020B0604020202020204" pitchFamily="34" charset="0"/>
                          <a:cs typeface="Arial" panose="020B0604020202020204" pitchFamily="34" charset="0"/>
                        </a:rPr>
                        <a:t>y</a:t>
                      </a:r>
                      <a:endParaRPr lang="en-US" sz="2600" b="0" i="1"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6935365"/>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driver</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responding variable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44893"/>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generator</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1" dirty="0">
                          <a:effectLst/>
                          <a:latin typeface="Arial" panose="020B0604020202020204" pitchFamily="34" charset="0"/>
                          <a:cs typeface="Arial" panose="020B0604020202020204" pitchFamily="34" charset="0"/>
                        </a:rPr>
                        <a:t>f</a:t>
                      </a:r>
                      <a:r>
                        <a:rPr lang="en-US" sz="2600" b="0" i="0" dirty="0">
                          <a:effectLst/>
                          <a:latin typeface="Arial" panose="020B0604020202020204" pitchFamily="34" charset="0"/>
                          <a:cs typeface="Arial" panose="020B0604020202020204" pitchFamily="34" charset="0"/>
                        </a:rPr>
                        <a:t>(</a:t>
                      </a:r>
                      <a:r>
                        <a:rPr lang="en-US" sz="2600" b="0" i="1" dirty="0">
                          <a:effectLst/>
                          <a:latin typeface="Arial" panose="020B0604020202020204" pitchFamily="34" charset="0"/>
                          <a:cs typeface="Arial" panose="020B0604020202020204" pitchFamily="34" charset="0"/>
                        </a:rPr>
                        <a:t>x</a:t>
                      </a:r>
                      <a:r>
                        <a:rPr lang="en-US" sz="2600" b="0" i="0" dirty="0">
                          <a:effectLst/>
                          <a:latin typeface="Arial" panose="020B0604020202020204" pitchFamily="34" charset="0"/>
                          <a:cs typeface="Arial" panose="020B0604020202020204" pitchFamily="34" charset="0"/>
                        </a:rPr>
                        <a:t>)</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7419929"/>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process</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pattern</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461238"/>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agent</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2131198"/>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force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2480859"/>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factor</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48603"/>
                  </a:ext>
                </a:extLst>
              </a:tr>
              <a:tr h="413320">
                <a:tc>
                  <a:txBody>
                    <a:bodyPr/>
                    <a:lstStyle/>
                    <a:p>
                      <a:pPr algn="ctr">
                        <a:spcAft>
                          <a:spcPts val="0"/>
                        </a:spcAft>
                      </a:pPr>
                      <a:r>
                        <a:rPr lang="en-US" sz="2600" b="0" i="0" dirty="0">
                          <a:effectLst/>
                          <a:latin typeface="Arial" panose="020B0604020202020204" pitchFamily="34" charset="0"/>
                          <a:cs typeface="Arial" panose="020B0604020202020204" pitchFamily="34" charset="0"/>
                        </a:rPr>
                        <a:t>actor</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7788992"/>
                  </a:ext>
                </a:extLst>
              </a:tr>
              <a:tr h="413320">
                <a:tc>
                  <a:txBody>
                    <a:bodyPr/>
                    <a:lstStyle/>
                    <a:p>
                      <a:pPr algn="ctr">
                        <a:spcAft>
                          <a:spcPts val="0"/>
                        </a:spcAft>
                      </a:pPr>
                      <a:r>
                        <a:rPr lang="en-US" sz="2600" b="0" i="0" dirty="0">
                          <a:effectLst/>
                          <a:latin typeface="Arial" panose="020B0604020202020204" pitchFamily="34" charset="0"/>
                          <a:cs typeface="Arial" panose="020B0604020202020204" pitchFamily="34" charset="0"/>
                        </a:rPr>
                        <a:t>source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7536413"/>
                  </a:ext>
                </a:extLst>
              </a:tr>
              <a:tr h="413320">
                <a:tc>
                  <a:txBody>
                    <a:bodyPr/>
                    <a:lstStyle/>
                    <a:p>
                      <a:pPr algn="ctr">
                        <a:spcAft>
                          <a:spcPts val="0"/>
                        </a:spcAft>
                      </a:pPr>
                      <a:r>
                        <a:rPr lang="en-US" sz="2600" b="0" i="0" dirty="0">
                          <a:effectLst/>
                          <a:latin typeface="Arial" panose="020B0604020202020204" pitchFamily="34" charset="0"/>
                          <a:cs typeface="Arial" panose="020B0604020202020204" pitchFamily="34" charset="0"/>
                        </a:rPr>
                        <a:t>basis</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0793049"/>
                  </a:ext>
                </a:extLst>
              </a:tr>
            </a:tbl>
          </a:graphicData>
        </a:graphic>
      </p:graphicFrame>
    </p:spTree>
    <p:extLst>
      <p:ext uri="{BB962C8B-B14F-4D97-AF65-F5344CB8AC3E}">
        <p14:creationId xmlns:p14="http://schemas.microsoft.com/office/powerpoint/2010/main" val="3214520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F8378-4DD6-704D-AD29-F69E3324E7C2}"/>
              </a:ext>
            </a:extLst>
          </p:cNvPr>
          <p:cNvSpPr>
            <a:spLocks noGrp="1"/>
          </p:cNvSpPr>
          <p:nvPr>
            <p:ph type="title"/>
          </p:nvPr>
        </p:nvSpPr>
        <p:spPr>
          <a:xfrm>
            <a:off x="838200" y="365125"/>
            <a:ext cx="10515600" cy="1841627"/>
          </a:xfrm>
        </p:spPr>
        <p:txBody>
          <a:bodyPr>
            <a:noAutofit/>
          </a:bodyPr>
          <a:lstStyle/>
          <a:p>
            <a:r>
              <a:rPr lang="en-US" dirty="0"/>
              <a:t>Remember English grammar? What kind of words are cause and effect?</a:t>
            </a:r>
          </a:p>
        </p:txBody>
      </p:sp>
      <p:sp>
        <p:nvSpPr>
          <p:cNvPr id="3" name="Content Placeholder 2">
            <a:extLst>
              <a:ext uri="{FF2B5EF4-FFF2-40B4-BE49-F238E27FC236}">
                <a16:creationId xmlns:a16="http://schemas.microsoft.com/office/drawing/2014/main" id="{5699F6E9-9AA4-CC4C-B4C7-38C1A9DE7070}"/>
              </a:ext>
            </a:extLst>
          </p:cNvPr>
          <p:cNvSpPr>
            <a:spLocks noGrp="1"/>
          </p:cNvSpPr>
          <p:nvPr>
            <p:ph idx="1"/>
          </p:nvPr>
        </p:nvSpPr>
        <p:spPr>
          <a:xfrm>
            <a:off x="838200" y="1780032"/>
            <a:ext cx="10515600" cy="4396931"/>
          </a:xfrm>
        </p:spPr>
        <p:txBody>
          <a:bodyPr anchor="ctr">
            <a:normAutofit/>
          </a:bodyPr>
          <a:lstStyle/>
          <a:p>
            <a:pPr marL="0" indent="0" algn="ctr">
              <a:buNone/>
            </a:pPr>
            <a:r>
              <a:rPr lang="en-US" sz="3200" dirty="0"/>
              <a:t>Subject and Object</a:t>
            </a:r>
          </a:p>
        </p:txBody>
      </p:sp>
    </p:spTree>
    <p:extLst>
      <p:ext uri="{BB962C8B-B14F-4D97-AF65-F5344CB8AC3E}">
        <p14:creationId xmlns:p14="http://schemas.microsoft.com/office/powerpoint/2010/main" val="211643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70FBB-FBA4-D249-9F93-2D37FBC955F9}"/>
              </a:ext>
            </a:extLst>
          </p:cNvPr>
          <p:cNvSpPr>
            <a:spLocks noGrp="1"/>
          </p:cNvSpPr>
          <p:nvPr>
            <p:ph type="title"/>
          </p:nvPr>
        </p:nvSpPr>
        <p:spPr/>
        <p:txBody>
          <a:bodyPr>
            <a:normAutofit/>
          </a:bodyPr>
          <a:lstStyle/>
          <a:p>
            <a:r>
              <a:rPr lang="en-US" dirty="0"/>
              <a:t>What type of word connects subjects to direct objects in a sentence?</a:t>
            </a:r>
          </a:p>
        </p:txBody>
      </p:sp>
      <p:sp>
        <p:nvSpPr>
          <p:cNvPr id="4" name="Content Placeholder 2">
            <a:extLst>
              <a:ext uri="{FF2B5EF4-FFF2-40B4-BE49-F238E27FC236}">
                <a16:creationId xmlns:a16="http://schemas.microsoft.com/office/drawing/2014/main" id="{E7E040D2-875E-9C47-A54C-B56F11A9A5D0}"/>
              </a:ext>
            </a:extLst>
          </p:cNvPr>
          <p:cNvSpPr txBox="1">
            <a:spLocks/>
          </p:cNvSpPr>
          <p:nvPr/>
        </p:nvSpPr>
        <p:spPr>
          <a:xfrm>
            <a:off x="838200" y="1858617"/>
            <a:ext cx="10515600" cy="40719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latin typeface="Arial" panose="020B0604020202020204" pitchFamily="34" charset="0"/>
                <a:cs typeface="Arial" panose="020B0604020202020204" pitchFamily="34" charset="0"/>
              </a:rPr>
              <a:t>Verb</a:t>
            </a:r>
            <a:br>
              <a:rPr lang="en-US"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a:p>
            <a:pPr marL="0" indent="0">
              <a:buNone/>
            </a:pPr>
            <a:r>
              <a:rPr lang="en-US" sz="3200" dirty="0">
                <a:latin typeface="Arial" panose="020B0604020202020204" pitchFamily="34" charset="0"/>
                <a:cs typeface="Arial" panose="020B0604020202020204" pitchFamily="34" charset="0"/>
              </a:rPr>
              <a:t>So let’s think of some verbs that can link all those synonyms for cause and effect.</a:t>
            </a:r>
          </a:p>
          <a:p>
            <a:pPr marL="0" indent="0">
              <a:buNone/>
            </a:pPr>
            <a:endParaRPr lang="en-US" sz="3200" dirty="0">
              <a:latin typeface="Arial" panose="020B0604020202020204" pitchFamily="34" charset="0"/>
              <a:cs typeface="Arial" panose="020B0604020202020204" pitchFamily="34" charset="0"/>
            </a:endParaRPr>
          </a:p>
          <a:p>
            <a:pPr marL="0" indent="0">
              <a:buNone/>
            </a:pPr>
            <a:r>
              <a:rPr lang="en-US" sz="3200" dirty="0">
                <a:latin typeface="Arial" panose="020B0604020202020204" pitchFamily="34" charset="0"/>
                <a:cs typeface="Arial" panose="020B0604020202020204" pitchFamily="34" charset="0"/>
              </a:rPr>
              <a:t>This is a third ingredient in your question.</a:t>
            </a:r>
            <a:br>
              <a:rPr lang="en-US"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a:p>
            <a:pPr marL="0" indent="0">
              <a:buNone/>
            </a:pPr>
            <a:r>
              <a:rPr lang="en-US" sz="3200" dirty="0">
                <a:latin typeface="Arial" panose="020B0604020202020204" pitchFamily="34" charset="0"/>
                <a:cs typeface="Arial" panose="020B0604020202020204" pitchFamily="34" charset="0"/>
              </a:rPr>
              <a:t>Cause, effect, and a verb!</a:t>
            </a:r>
          </a:p>
          <a:p>
            <a:pPr marL="0" indent="0">
              <a:buNone/>
            </a:pPr>
            <a:endParaRPr lang="en-US" sz="3200" dirty="0">
              <a:latin typeface="Arial" panose="020B0604020202020204" pitchFamily="34" charset="0"/>
              <a:cs typeface="Arial" panose="020B0604020202020204" pitchFamily="34" charset="0"/>
            </a:endParaRPr>
          </a:p>
          <a:p>
            <a:pPr marL="0" indent="0">
              <a:buNone/>
            </a:pPr>
            <a:endParaRPr lang="en-US" sz="3200" dirty="0">
              <a:latin typeface="Arial" panose="020B0604020202020204" pitchFamily="34" charset="0"/>
              <a:cs typeface="Arial" panose="020B0604020202020204" pitchFamily="34" charset="0"/>
            </a:endParaRPr>
          </a:p>
          <a:p>
            <a:pPr marL="0" indent="0">
              <a:buNone/>
            </a:pPr>
            <a:endParaRPr lang="en-US" sz="3200" dirty="0">
              <a:latin typeface="Arial" panose="020B0604020202020204" pitchFamily="34" charset="0"/>
              <a:cs typeface="Arial" panose="020B0604020202020204" pitchFamily="34" charset="0"/>
            </a:endParaRPr>
          </a:p>
          <a:p>
            <a:pPr marL="0" indent="0">
              <a:buNone/>
            </a:pP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832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48869B0-DAF7-C44D-A348-840AC77DCF68}"/>
              </a:ext>
            </a:extLst>
          </p:cNvPr>
          <p:cNvGraphicFramePr>
            <a:graphicFrameLocks noGrp="1"/>
          </p:cNvGraphicFramePr>
          <p:nvPr>
            <p:extLst>
              <p:ext uri="{D42A27DB-BD31-4B8C-83A1-F6EECF244321}">
                <p14:modId xmlns:p14="http://schemas.microsoft.com/office/powerpoint/2010/main" val="1819447464"/>
              </p:ext>
            </p:extLst>
          </p:nvPr>
        </p:nvGraphicFramePr>
        <p:xfrm>
          <a:off x="1082040" y="691769"/>
          <a:ext cx="9963912" cy="5097902"/>
        </p:xfrm>
        <a:graphic>
          <a:graphicData uri="http://schemas.openxmlformats.org/drawingml/2006/table">
            <a:tbl>
              <a:tblPr firstRow="1" firstCol="1" bandRow="1">
                <a:tableStyleId>{7E9639D4-E3E2-4D34-9284-5A2195B3D0D7}</a:tableStyleId>
              </a:tblPr>
              <a:tblGrid>
                <a:gridCol w="3505997">
                  <a:extLst>
                    <a:ext uri="{9D8B030D-6E8A-4147-A177-3AD203B41FA5}">
                      <a16:colId xmlns:a16="http://schemas.microsoft.com/office/drawing/2014/main" val="659353493"/>
                    </a:ext>
                  </a:extLst>
                </a:gridCol>
                <a:gridCol w="3043708">
                  <a:extLst>
                    <a:ext uri="{9D8B030D-6E8A-4147-A177-3AD203B41FA5}">
                      <a16:colId xmlns:a16="http://schemas.microsoft.com/office/drawing/2014/main" val="1546372958"/>
                    </a:ext>
                  </a:extLst>
                </a:gridCol>
                <a:gridCol w="3414207">
                  <a:extLst>
                    <a:ext uri="{9D8B030D-6E8A-4147-A177-3AD203B41FA5}">
                      <a16:colId xmlns:a16="http://schemas.microsoft.com/office/drawing/2014/main" val="1912189371"/>
                    </a:ext>
                  </a:extLst>
                </a:gridCol>
              </a:tblGrid>
              <a:tr h="477078">
                <a:tc>
                  <a:txBody>
                    <a:bodyPr/>
                    <a:lstStyle/>
                    <a:p>
                      <a:pPr algn="ctr">
                        <a:lnSpc>
                          <a:spcPct val="107000"/>
                        </a:lnSpc>
                        <a:spcAft>
                          <a:spcPts val="800"/>
                        </a:spcAft>
                      </a:pPr>
                      <a:r>
                        <a:rPr lang="en-US" sz="2400" b="0" i="0" dirty="0">
                          <a:effectLst/>
                          <a:latin typeface="Arial" panose="020B0604020202020204" pitchFamily="34" charset="0"/>
                          <a:cs typeface="Arial" panose="020B0604020202020204" pitchFamily="34" charset="0"/>
                        </a:rPr>
                        <a:t>Synonyms for Cause</a:t>
                      </a: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400" b="0" i="0" dirty="0">
                          <a:effectLst/>
                          <a:latin typeface="Arial" panose="020B0604020202020204" pitchFamily="34" charset="0"/>
                          <a:ea typeface="Helvetica Neue Regular" panose="02000503000000020004" pitchFamily="2" charset="0"/>
                          <a:cs typeface="Arial" panose="020B0604020202020204" pitchFamily="34" charset="0"/>
                        </a:rPr>
                        <a:t>Verbs</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400" b="0" i="0" dirty="0">
                          <a:effectLst/>
                          <a:latin typeface="Arial" panose="020B0604020202020204" pitchFamily="34" charset="0"/>
                          <a:cs typeface="Arial" panose="020B0604020202020204" pitchFamily="34" charset="0"/>
                        </a:rPr>
                        <a:t>Synonyms for Effect</a:t>
                      </a: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0396325"/>
                  </a:ext>
                </a:extLst>
              </a:tr>
              <a:tr h="4226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600" b="0" i="0" dirty="0">
                          <a:effectLst/>
                          <a:latin typeface="Arial" panose="020B0604020202020204" pitchFamily="34" charset="0"/>
                          <a:cs typeface="Arial" panose="020B0604020202020204" pitchFamily="34" charset="0"/>
                        </a:rPr>
                        <a:t>independent variable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dependent variable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36917"/>
                  </a:ext>
                </a:extLst>
              </a:tr>
              <a:tr h="422608">
                <a:tc>
                  <a:txBody>
                    <a:bodyPr/>
                    <a:lstStyle/>
                    <a:p>
                      <a:pPr algn="ctr">
                        <a:lnSpc>
                          <a:spcPct val="107000"/>
                        </a:lnSpc>
                        <a:spcAft>
                          <a:spcPts val="800"/>
                        </a:spcAft>
                      </a:pPr>
                      <a:r>
                        <a:rPr lang="en-US" sz="2600" b="0" i="1" dirty="0">
                          <a:effectLst/>
                          <a:latin typeface="Arial" panose="020B0604020202020204" pitchFamily="34" charset="0"/>
                          <a:cs typeface="Arial" panose="020B0604020202020204" pitchFamily="34" charset="0"/>
                        </a:rPr>
                        <a:t>x</a:t>
                      </a:r>
                      <a:endParaRPr lang="en-US" sz="2600" b="0" i="1"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1" dirty="0">
                          <a:effectLst/>
                          <a:latin typeface="Arial" panose="020B0604020202020204" pitchFamily="34" charset="0"/>
                          <a:cs typeface="Arial" panose="020B0604020202020204" pitchFamily="34" charset="0"/>
                        </a:rPr>
                        <a:t>y</a:t>
                      </a:r>
                      <a:endParaRPr lang="en-US" sz="2600" b="0" i="1"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6935365"/>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driver</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responding variable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44893"/>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generator</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1" dirty="0">
                          <a:effectLst/>
                          <a:latin typeface="Arial" panose="020B0604020202020204" pitchFamily="34" charset="0"/>
                          <a:cs typeface="Arial" panose="020B0604020202020204" pitchFamily="34" charset="0"/>
                        </a:rPr>
                        <a:t>f</a:t>
                      </a:r>
                      <a:r>
                        <a:rPr lang="en-US" sz="2600" b="0" i="0" dirty="0">
                          <a:effectLst/>
                          <a:latin typeface="Arial" panose="020B0604020202020204" pitchFamily="34" charset="0"/>
                          <a:cs typeface="Arial" panose="020B0604020202020204" pitchFamily="34" charset="0"/>
                        </a:rPr>
                        <a:t>(</a:t>
                      </a:r>
                      <a:r>
                        <a:rPr lang="en-US" sz="2600" b="0" i="1" dirty="0">
                          <a:effectLst/>
                          <a:latin typeface="Arial" panose="020B0604020202020204" pitchFamily="34" charset="0"/>
                          <a:cs typeface="Arial" panose="020B0604020202020204" pitchFamily="34" charset="0"/>
                        </a:rPr>
                        <a:t>x</a:t>
                      </a:r>
                      <a:r>
                        <a:rPr lang="en-US" sz="2600" b="0" i="0" dirty="0">
                          <a:effectLst/>
                          <a:latin typeface="Arial" panose="020B0604020202020204" pitchFamily="34" charset="0"/>
                          <a:cs typeface="Arial" panose="020B0604020202020204" pitchFamily="34" charset="0"/>
                        </a:rPr>
                        <a:t>)</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7419929"/>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process</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pattern</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461238"/>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agent</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2131198"/>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force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2480859"/>
                  </a:ext>
                </a:extLst>
              </a:tr>
              <a:tr h="422608">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factor</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48603"/>
                  </a:ext>
                </a:extLst>
              </a:tr>
              <a:tr h="413320">
                <a:tc>
                  <a:txBody>
                    <a:bodyPr/>
                    <a:lstStyle/>
                    <a:p>
                      <a:pPr algn="ctr">
                        <a:spcAft>
                          <a:spcPts val="0"/>
                        </a:spcAft>
                      </a:pPr>
                      <a:r>
                        <a:rPr lang="en-US" sz="2600" b="0" i="0" dirty="0">
                          <a:effectLst/>
                          <a:latin typeface="Arial" panose="020B0604020202020204" pitchFamily="34" charset="0"/>
                          <a:cs typeface="Arial" panose="020B0604020202020204" pitchFamily="34" charset="0"/>
                        </a:rPr>
                        <a:t>actor</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7788992"/>
                  </a:ext>
                </a:extLst>
              </a:tr>
              <a:tr h="413320">
                <a:tc>
                  <a:txBody>
                    <a:bodyPr/>
                    <a:lstStyle/>
                    <a:p>
                      <a:pPr algn="ctr">
                        <a:spcAft>
                          <a:spcPts val="0"/>
                        </a:spcAft>
                      </a:pPr>
                      <a:r>
                        <a:rPr lang="en-US" sz="2600" b="0" i="0" dirty="0">
                          <a:effectLst/>
                          <a:latin typeface="Arial" panose="020B0604020202020204" pitchFamily="34" charset="0"/>
                          <a:cs typeface="Arial" panose="020B0604020202020204" pitchFamily="34" charset="0"/>
                        </a:rPr>
                        <a:t>source</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7536413"/>
                  </a:ext>
                </a:extLst>
              </a:tr>
              <a:tr h="413320">
                <a:tc>
                  <a:txBody>
                    <a:bodyPr/>
                    <a:lstStyle/>
                    <a:p>
                      <a:pPr algn="ctr">
                        <a:spcAft>
                          <a:spcPts val="0"/>
                        </a:spcAft>
                      </a:pPr>
                      <a:r>
                        <a:rPr lang="en-US" sz="2600" b="0" i="0" dirty="0">
                          <a:effectLst/>
                          <a:latin typeface="Arial" panose="020B0604020202020204" pitchFamily="34" charset="0"/>
                          <a:cs typeface="Arial" panose="020B0604020202020204" pitchFamily="34" charset="0"/>
                        </a:rPr>
                        <a:t>basis</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0793049"/>
                  </a:ext>
                </a:extLst>
              </a:tr>
            </a:tbl>
          </a:graphicData>
        </a:graphic>
      </p:graphicFrame>
    </p:spTree>
    <p:extLst>
      <p:ext uri="{BB962C8B-B14F-4D97-AF65-F5344CB8AC3E}">
        <p14:creationId xmlns:p14="http://schemas.microsoft.com/office/powerpoint/2010/main" val="2491979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48869B0-DAF7-C44D-A348-840AC77DCF68}"/>
              </a:ext>
            </a:extLst>
          </p:cNvPr>
          <p:cNvGraphicFramePr>
            <a:graphicFrameLocks noGrp="1"/>
          </p:cNvGraphicFramePr>
          <p:nvPr>
            <p:extLst>
              <p:ext uri="{D42A27DB-BD31-4B8C-83A1-F6EECF244321}">
                <p14:modId xmlns:p14="http://schemas.microsoft.com/office/powerpoint/2010/main" val="3729746316"/>
              </p:ext>
            </p:extLst>
          </p:nvPr>
        </p:nvGraphicFramePr>
        <p:xfrm>
          <a:off x="1082040" y="691769"/>
          <a:ext cx="9963912" cy="5080822"/>
        </p:xfrm>
        <a:graphic>
          <a:graphicData uri="http://schemas.openxmlformats.org/drawingml/2006/table">
            <a:tbl>
              <a:tblPr firstRow="1" firstCol="1" bandRow="1">
                <a:tableStyleId>{7E9639D4-E3E2-4D34-9284-5A2195B3D0D7}</a:tableStyleId>
              </a:tblPr>
              <a:tblGrid>
                <a:gridCol w="3505997">
                  <a:extLst>
                    <a:ext uri="{9D8B030D-6E8A-4147-A177-3AD203B41FA5}">
                      <a16:colId xmlns:a16="http://schemas.microsoft.com/office/drawing/2014/main" val="659353493"/>
                    </a:ext>
                  </a:extLst>
                </a:gridCol>
                <a:gridCol w="3043708">
                  <a:extLst>
                    <a:ext uri="{9D8B030D-6E8A-4147-A177-3AD203B41FA5}">
                      <a16:colId xmlns:a16="http://schemas.microsoft.com/office/drawing/2014/main" val="1546372958"/>
                    </a:ext>
                  </a:extLst>
                </a:gridCol>
                <a:gridCol w="3414207">
                  <a:extLst>
                    <a:ext uri="{9D8B030D-6E8A-4147-A177-3AD203B41FA5}">
                      <a16:colId xmlns:a16="http://schemas.microsoft.com/office/drawing/2014/main" val="1912189371"/>
                    </a:ext>
                  </a:extLst>
                </a:gridCol>
              </a:tblGrid>
              <a:tr h="477078">
                <a:tc>
                  <a:txBody>
                    <a:bodyPr/>
                    <a:lstStyle/>
                    <a:p>
                      <a:pPr algn="ctr">
                        <a:lnSpc>
                          <a:spcPct val="107000"/>
                        </a:lnSpc>
                        <a:spcAft>
                          <a:spcPts val="800"/>
                        </a:spcAft>
                      </a:pPr>
                      <a:r>
                        <a:rPr lang="en-US" sz="2400" b="0" i="0" dirty="0">
                          <a:effectLst/>
                          <a:latin typeface="Arial" panose="020B0604020202020204" pitchFamily="34" charset="0"/>
                          <a:cs typeface="Arial" panose="020B0604020202020204" pitchFamily="34" charset="0"/>
                        </a:rPr>
                        <a:t>Synonyms for Cause</a:t>
                      </a: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400" b="0" i="0" dirty="0">
                          <a:effectLst/>
                          <a:latin typeface="Arial" panose="020B0604020202020204" pitchFamily="34" charset="0"/>
                          <a:ea typeface="Helvetica Neue Regular" panose="02000503000000020004" pitchFamily="2" charset="0"/>
                          <a:cs typeface="Arial" panose="020B0604020202020204" pitchFamily="34" charset="0"/>
                        </a:rPr>
                        <a:t>Verbs</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400" b="0" i="0" dirty="0">
                          <a:effectLst/>
                          <a:latin typeface="Arial" panose="020B0604020202020204" pitchFamily="34" charset="0"/>
                          <a:cs typeface="Arial" panose="020B0604020202020204" pitchFamily="34" charset="0"/>
                        </a:rPr>
                        <a:t>Synonyms for Effect</a:t>
                      </a:r>
                      <a:endParaRPr lang="en-US" sz="24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0396325"/>
                  </a:ext>
                </a:extLst>
              </a:tr>
              <a:tr h="4226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600" b="0" i="0" dirty="0">
                          <a:solidFill>
                            <a:schemeClr val="bg1">
                              <a:lumMod val="65000"/>
                            </a:schemeClr>
                          </a:solidFill>
                          <a:effectLst/>
                          <a:latin typeface="Arial" panose="020B0604020202020204" pitchFamily="34" charset="0"/>
                          <a:cs typeface="Arial" panose="020B0604020202020204" pitchFamily="34" charset="0"/>
                        </a:rPr>
                        <a:t>independent variable</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600" b="0" i="0" dirty="0">
                          <a:effectLst/>
                          <a:latin typeface="Arial" panose="020B0604020202020204" pitchFamily="34" charset="0"/>
                          <a:ea typeface="Helvetica Neue Regular" panose="02000503000000020004" pitchFamily="2" charset="0"/>
                          <a:cs typeface="Arial" panose="020B0604020202020204" pitchFamily="34" charset="0"/>
                        </a:rPr>
                        <a:t>drives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dependent variable</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36917"/>
                  </a:ext>
                </a:extLst>
              </a:tr>
              <a:tr h="422608">
                <a:tc>
                  <a:txBody>
                    <a:bodyPr/>
                    <a:lstStyle/>
                    <a:p>
                      <a:pPr algn="ctr">
                        <a:lnSpc>
                          <a:spcPct val="107000"/>
                        </a:lnSpc>
                        <a:spcAft>
                          <a:spcPts val="800"/>
                        </a:spcAft>
                      </a:pPr>
                      <a:r>
                        <a:rPr lang="en-US" sz="2600" b="0" i="1" dirty="0">
                          <a:solidFill>
                            <a:schemeClr val="bg1">
                              <a:lumMod val="65000"/>
                            </a:schemeClr>
                          </a:solidFill>
                          <a:effectLst/>
                          <a:latin typeface="Arial" panose="020B0604020202020204" pitchFamily="34" charset="0"/>
                          <a:cs typeface="Arial" panose="020B0604020202020204" pitchFamily="34" charset="0"/>
                        </a:rPr>
                        <a:t>x</a:t>
                      </a:r>
                      <a:endParaRPr lang="en-US" sz="2600" b="0" i="1"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ea typeface="Helvetica Neue Regular" panose="02000503000000020004" pitchFamily="2" charset="0"/>
                          <a:cs typeface="Arial" panose="020B0604020202020204" pitchFamily="34" charset="0"/>
                        </a:rPr>
                        <a:t>generates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1" dirty="0">
                          <a:solidFill>
                            <a:schemeClr val="bg1">
                              <a:lumMod val="65000"/>
                            </a:schemeClr>
                          </a:solidFill>
                          <a:effectLst/>
                          <a:latin typeface="Arial" panose="020B0604020202020204" pitchFamily="34" charset="0"/>
                          <a:cs typeface="Arial" panose="020B0604020202020204" pitchFamily="34" charset="0"/>
                        </a:rPr>
                        <a:t>y</a:t>
                      </a:r>
                      <a:endParaRPr lang="en-US" sz="2600" b="0" i="1"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6935365"/>
                  </a:ext>
                </a:extLst>
              </a:tr>
              <a:tr h="422608">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driver</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ea typeface="Helvetica Neue Regular" panose="02000503000000020004" pitchFamily="2" charset="0"/>
                          <a:cs typeface="Arial" panose="020B0604020202020204" pitchFamily="34" charset="0"/>
                        </a:rPr>
                        <a:t>causes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responding variable</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44893"/>
                  </a:ext>
                </a:extLst>
              </a:tr>
              <a:tr h="422608">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generator</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ea typeface="Helvetica Neue Regular" panose="02000503000000020004" pitchFamily="2" charset="0"/>
                          <a:cs typeface="Arial" panose="020B0604020202020204" pitchFamily="34" charset="0"/>
                        </a:rPr>
                        <a:t>regulates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1" dirty="0">
                          <a:solidFill>
                            <a:schemeClr val="bg1">
                              <a:lumMod val="65000"/>
                            </a:schemeClr>
                          </a:solidFill>
                          <a:effectLst/>
                          <a:latin typeface="Arial" panose="020B0604020202020204" pitchFamily="34" charset="0"/>
                          <a:cs typeface="Arial" panose="020B0604020202020204" pitchFamily="34" charset="0"/>
                        </a:rPr>
                        <a:t>f</a:t>
                      </a:r>
                      <a:r>
                        <a:rPr lang="en-US" sz="2600" b="0" i="0" dirty="0">
                          <a:solidFill>
                            <a:schemeClr val="bg1">
                              <a:lumMod val="65000"/>
                            </a:schemeClr>
                          </a:solidFill>
                          <a:effectLst/>
                          <a:latin typeface="Arial" panose="020B0604020202020204" pitchFamily="34" charset="0"/>
                          <a:cs typeface="Arial" panose="020B0604020202020204" pitchFamily="34" charset="0"/>
                        </a:rPr>
                        <a:t>(</a:t>
                      </a:r>
                      <a:r>
                        <a:rPr lang="en-US" sz="2600" b="0" i="1" dirty="0">
                          <a:solidFill>
                            <a:schemeClr val="bg1">
                              <a:lumMod val="65000"/>
                            </a:schemeClr>
                          </a:solidFill>
                          <a:effectLst/>
                          <a:latin typeface="Arial" panose="020B0604020202020204" pitchFamily="34" charset="0"/>
                          <a:cs typeface="Arial" panose="020B0604020202020204" pitchFamily="34" charset="0"/>
                        </a:rPr>
                        <a:t>x</a:t>
                      </a:r>
                      <a:r>
                        <a:rPr lang="en-US" sz="2600" b="0" i="0" dirty="0">
                          <a:solidFill>
                            <a:schemeClr val="bg1">
                              <a:lumMod val="65000"/>
                            </a:schemeClr>
                          </a:solidFill>
                          <a:effectLst/>
                          <a:latin typeface="Arial" panose="020B0604020202020204" pitchFamily="34" charset="0"/>
                          <a:cs typeface="Arial" panose="020B0604020202020204" pitchFamily="34" charset="0"/>
                        </a:rPr>
                        <a:t>)</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7419929"/>
                  </a:ext>
                </a:extLst>
              </a:tr>
              <a:tr h="422608">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process</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ea typeface="Helvetica Neue Regular" panose="02000503000000020004" pitchFamily="2" charset="0"/>
                          <a:cs typeface="Arial" panose="020B0604020202020204" pitchFamily="34" charset="0"/>
                        </a:rPr>
                        <a:t>controls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pattern</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461238"/>
                  </a:ext>
                </a:extLst>
              </a:tr>
              <a:tr h="422608">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agent</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ea typeface="Helvetica Neue Regular" panose="02000503000000020004" pitchFamily="2" charset="0"/>
                          <a:cs typeface="Arial" panose="020B0604020202020204" pitchFamily="34" charset="0"/>
                        </a:rPr>
                        <a:t>increases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2131198"/>
                  </a:ext>
                </a:extLst>
              </a:tr>
              <a:tr h="422608">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force</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ea typeface="Helvetica Neue Regular" panose="02000503000000020004" pitchFamily="2" charset="0"/>
                          <a:cs typeface="Arial" panose="020B0604020202020204" pitchFamily="34" charset="0"/>
                        </a:rPr>
                        <a:t>decreases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2480859"/>
                  </a:ext>
                </a:extLst>
              </a:tr>
              <a:tr h="422608">
                <a:tc>
                  <a:txBody>
                    <a:bodyPr/>
                    <a:lstStyle/>
                    <a:p>
                      <a:pPr algn="ctr">
                        <a:lnSpc>
                          <a:spcPct val="107000"/>
                        </a:lnSpc>
                        <a:spcAft>
                          <a:spcPts val="800"/>
                        </a:spcAft>
                      </a:pPr>
                      <a:r>
                        <a:rPr lang="en-US" sz="2600" b="0" i="0" dirty="0">
                          <a:solidFill>
                            <a:schemeClr val="bg1">
                              <a:lumMod val="65000"/>
                            </a:schemeClr>
                          </a:solidFill>
                          <a:effectLst/>
                          <a:latin typeface="Arial" panose="020B0604020202020204" pitchFamily="34" charset="0"/>
                          <a:cs typeface="Arial" panose="020B0604020202020204" pitchFamily="34" charset="0"/>
                        </a:rPr>
                        <a:t>factor</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ea typeface="Helvetica Neue Regular" panose="02000503000000020004" pitchFamily="2" charset="0"/>
                          <a:cs typeface="Arial" panose="020B0604020202020204" pitchFamily="34" charset="0"/>
                        </a:rPr>
                        <a:t>suppresses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448603"/>
                  </a:ext>
                </a:extLst>
              </a:tr>
              <a:tr h="413320">
                <a:tc>
                  <a:txBody>
                    <a:bodyPr/>
                    <a:lstStyle/>
                    <a:p>
                      <a:pPr algn="ctr">
                        <a:spcAft>
                          <a:spcPts val="0"/>
                        </a:spcAft>
                      </a:pPr>
                      <a:r>
                        <a:rPr lang="en-US" sz="2600" b="0" i="0" dirty="0">
                          <a:solidFill>
                            <a:schemeClr val="bg1">
                              <a:lumMod val="65000"/>
                            </a:schemeClr>
                          </a:solidFill>
                          <a:effectLst/>
                          <a:latin typeface="Arial" panose="020B0604020202020204" pitchFamily="34" charset="0"/>
                          <a:cs typeface="Arial" panose="020B0604020202020204" pitchFamily="34" charset="0"/>
                        </a:rPr>
                        <a:t>actor</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7788992"/>
                  </a:ext>
                </a:extLst>
              </a:tr>
              <a:tr h="0">
                <a:tc>
                  <a:txBody>
                    <a:bodyPr/>
                    <a:lstStyle/>
                    <a:p>
                      <a:pPr algn="ctr">
                        <a:spcAft>
                          <a:spcPts val="0"/>
                        </a:spcAft>
                      </a:pPr>
                      <a:r>
                        <a:rPr lang="en-US" sz="2600" b="0" i="0" dirty="0">
                          <a:solidFill>
                            <a:schemeClr val="bg1">
                              <a:lumMod val="65000"/>
                            </a:schemeClr>
                          </a:solidFill>
                          <a:effectLst/>
                          <a:latin typeface="Arial" panose="020B0604020202020204" pitchFamily="34" charset="0"/>
                          <a:cs typeface="Arial" panose="020B0604020202020204" pitchFamily="34" charset="0"/>
                        </a:rPr>
                        <a:t>source</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7536413"/>
                  </a:ext>
                </a:extLst>
              </a:tr>
              <a:tr h="413320">
                <a:tc>
                  <a:txBody>
                    <a:bodyPr/>
                    <a:lstStyle/>
                    <a:p>
                      <a:pPr algn="ctr">
                        <a:spcAft>
                          <a:spcPts val="0"/>
                        </a:spcAft>
                      </a:pPr>
                      <a:r>
                        <a:rPr lang="en-US" sz="2600" b="0" i="0" dirty="0">
                          <a:solidFill>
                            <a:schemeClr val="bg1">
                              <a:lumMod val="65000"/>
                            </a:schemeClr>
                          </a:solidFill>
                          <a:effectLst/>
                          <a:latin typeface="Arial" panose="020B0604020202020204" pitchFamily="34" charset="0"/>
                          <a:cs typeface="Arial" panose="020B0604020202020204" pitchFamily="34" charset="0"/>
                        </a:rPr>
                        <a:t>basis</a:t>
                      </a:r>
                      <a:endParaRPr lang="en-US" sz="2600" b="0" i="0" dirty="0">
                        <a:solidFill>
                          <a:schemeClr val="bg1">
                            <a:lumMod val="65000"/>
                          </a:schemeClr>
                        </a:solidFill>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600" b="0" i="0" dirty="0">
                          <a:effectLst/>
                          <a:latin typeface="Arial" panose="020B0604020202020204" pitchFamily="34" charset="0"/>
                          <a:cs typeface="Arial" panose="020B0604020202020204" pitchFamily="34" charset="0"/>
                        </a:rPr>
                        <a:t> </a:t>
                      </a:r>
                      <a:endParaRPr lang="en-US" sz="2600" b="0" i="0" dirty="0">
                        <a:effectLst/>
                        <a:latin typeface="Arial" panose="020B0604020202020204" pitchFamily="34" charset="0"/>
                        <a:ea typeface="Helvetica Neue Regular" panose="02000503000000020004" pitchFamily="2"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0793049"/>
                  </a:ext>
                </a:extLst>
              </a:tr>
            </a:tbl>
          </a:graphicData>
        </a:graphic>
      </p:graphicFrame>
    </p:spTree>
    <p:extLst>
      <p:ext uri="{BB962C8B-B14F-4D97-AF65-F5344CB8AC3E}">
        <p14:creationId xmlns:p14="http://schemas.microsoft.com/office/powerpoint/2010/main" val="2385246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F4B4-91EA-EE41-ABF3-495D2F85B114}"/>
              </a:ext>
            </a:extLst>
          </p:cNvPr>
          <p:cNvSpPr>
            <a:spLocks noGrp="1"/>
          </p:cNvSpPr>
          <p:nvPr>
            <p:ph type="title"/>
          </p:nvPr>
        </p:nvSpPr>
        <p:spPr/>
        <p:txBody>
          <a:bodyPr>
            <a:normAutofit/>
          </a:bodyPr>
          <a:lstStyle/>
          <a:p>
            <a:r>
              <a:rPr lang="en-US" dirty="0"/>
              <a:t>Let’s come up with some Ecology PhD thesis questions!</a:t>
            </a:r>
          </a:p>
        </p:txBody>
      </p:sp>
      <p:sp>
        <p:nvSpPr>
          <p:cNvPr id="3" name="Content Placeholder 2">
            <a:extLst>
              <a:ext uri="{FF2B5EF4-FFF2-40B4-BE49-F238E27FC236}">
                <a16:creationId xmlns:a16="http://schemas.microsoft.com/office/drawing/2014/main" id="{B2188087-3D5E-814E-9FE4-D22AD72A719C}"/>
              </a:ext>
            </a:extLst>
          </p:cNvPr>
          <p:cNvSpPr>
            <a:spLocks noGrp="1"/>
          </p:cNvSpPr>
          <p:nvPr>
            <p:ph idx="1"/>
          </p:nvPr>
        </p:nvSpPr>
        <p:spPr>
          <a:xfrm>
            <a:off x="838200" y="2171700"/>
            <a:ext cx="10515600" cy="4005263"/>
          </a:xfrm>
        </p:spPr>
        <p:txBody>
          <a:bodyPr>
            <a:normAutofit/>
          </a:bodyPr>
          <a:lstStyle/>
          <a:p>
            <a:pPr marL="0" indent="0">
              <a:buNone/>
            </a:pPr>
            <a:r>
              <a:rPr lang="en-US" sz="3200" b="1" dirty="0"/>
              <a:t>Small group assignment:</a:t>
            </a:r>
          </a:p>
          <a:p>
            <a:pPr marL="0" indent="0">
              <a:buNone/>
            </a:pPr>
            <a:r>
              <a:rPr lang="en-US" sz="3200" dirty="0"/>
              <a:t>Each group will be assigned an organism. Come up with a research question that includes this organism. The organism can be the cause or effect, your choice. </a:t>
            </a:r>
          </a:p>
          <a:p>
            <a:pPr marL="0" indent="0">
              <a:buNone/>
            </a:pPr>
            <a:endParaRPr lang="en-US" sz="3200" dirty="0"/>
          </a:p>
          <a:p>
            <a:pPr marL="0" indent="0">
              <a:buNone/>
            </a:pPr>
            <a:r>
              <a:rPr lang="en-US" sz="3200" b="1" dirty="0"/>
              <a:t>Example organisms:</a:t>
            </a:r>
            <a:br>
              <a:rPr lang="en-US" sz="3200" dirty="0"/>
            </a:br>
            <a:r>
              <a:rPr lang="en-US" sz="3200" dirty="0"/>
              <a:t>shark, grouper, seagrass, brain coral, crab, plankton…</a:t>
            </a:r>
          </a:p>
        </p:txBody>
      </p:sp>
    </p:spTree>
    <p:extLst>
      <p:ext uri="{BB962C8B-B14F-4D97-AF65-F5344CB8AC3E}">
        <p14:creationId xmlns:p14="http://schemas.microsoft.com/office/powerpoint/2010/main" val="236926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2E99D-212D-A642-93F5-92E151C83111}"/>
              </a:ext>
            </a:extLst>
          </p:cNvPr>
          <p:cNvSpPr>
            <a:spLocks noGrp="1"/>
          </p:cNvSpPr>
          <p:nvPr>
            <p:ph type="title"/>
          </p:nvPr>
        </p:nvSpPr>
        <p:spPr/>
        <p:txBody>
          <a:bodyPr/>
          <a:lstStyle/>
          <a:p>
            <a:r>
              <a:rPr lang="en-US" dirty="0"/>
              <a:t>Your Questions!</a:t>
            </a:r>
          </a:p>
        </p:txBody>
      </p:sp>
      <p:sp>
        <p:nvSpPr>
          <p:cNvPr id="3" name="Content Placeholder 2">
            <a:extLst>
              <a:ext uri="{FF2B5EF4-FFF2-40B4-BE49-F238E27FC236}">
                <a16:creationId xmlns:a16="http://schemas.microsoft.com/office/drawing/2014/main" id="{7D91FD66-B12E-F341-AB34-C52612A08E61}"/>
              </a:ext>
            </a:extLst>
          </p:cNvPr>
          <p:cNvSpPr>
            <a:spLocks noGrp="1"/>
          </p:cNvSpPr>
          <p:nvPr>
            <p:ph idx="1"/>
          </p:nvPr>
        </p:nvSpPr>
        <p:spPr>
          <a:xfrm>
            <a:off x="838200" y="1271588"/>
            <a:ext cx="10515600" cy="4905375"/>
          </a:xfrm>
        </p:spPr>
        <p:txBody>
          <a:bodyPr anchor="ctr">
            <a:normAutofit/>
          </a:bodyPr>
          <a:lstStyle/>
          <a:p>
            <a:pPr marL="0" indent="0">
              <a:buNone/>
            </a:pPr>
            <a:r>
              <a:rPr lang="en-US" sz="3200" dirty="0"/>
              <a:t>Remember, you must have these three ingredients in your recipe:</a:t>
            </a:r>
          </a:p>
          <a:p>
            <a:pPr marL="0" indent="0">
              <a:buNone/>
            </a:pPr>
            <a:endParaRPr lang="en-US" sz="3200" dirty="0"/>
          </a:p>
          <a:p>
            <a:pPr marL="0" indent="0">
              <a:buNone/>
            </a:pPr>
            <a:r>
              <a:rPr lang="en-US" sz="3200" b="1" dirty="0"/>
              <a:t>Cause</a:t>
            </a:r>
            <a:r>
              <a:rPr lang="en-US" sz="3200" dirty="0"/>
              <a:t>, </a:t>
            </a:r>
            <a:r>
              <a:rPr lang="en-US" sz="3200" b="1" dirty="0"/>
              <a:t>Effect</a:t>
            </a:r>
            <a:r>
              <a:rPr lang="en-US" sz="3200" dirty="0"/>
              <a:t>, and </a:t>
            </a:r>
            <a:r>
              <a:rPr lang="en-US" sz="3200" b="1" dirty="0"/>
              <a:t>Verb</a:t>
            </a:r>
          </a:p>
        </p:txBody>
      </p:sp>
    </p:spTree>
    <p:extLst>
      <p:ext uri="{BB962C8B-B14F-4D97-AF65-F5344CB8AC3E}">
        <p14:creationId xmlns:p14="http://schemas.microsoft.com/office/powerpoint/2010/main" val="112161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F1C8E-F431-A245-AFC2-83D98D2D4348}"/>
              </a:ext>
            </a:extLst>
          </p:cNvPr>
          <p:cNvSpPr>
            <a:spLocks noGrp="1"/>
          </p:cNvSpPr>
          <p:nvPr>
            <p:ph type="title"/>
          </p:nvPr>
        </p:nvSpPr>
        <p:spPr/>
        <p:txBody>
          <a:bodyPr/>
          <a:lstStyle/>
          <a:p>
            <a:r>
              <a:rPr lang="en-US" dirty="0"/>
              <a:t>Let’s evaluate your questions</a:t>
            </a:r>
          </a:p>
        </p:txBody>
      </p:sp>
      <p:sp>
        <p:nvSpPr>
          <p:cNvPr id="3" name="Content Placeholder 2">
            <a:extLst>
              <a:ext uri="{FF2B5EF4-FFF2-40B4-BE49-F238E27FC236}">
                <a16:creationId xmlns:a16="http://schemas.microsoft.com/office/drawing/2014/main" id="{A0675396-4600-E845-8F59-A13A9E77D853}"/>
              </a:ext>
            </a:extLst>
          </p:cNvPr>
          <p:cNvSpPr>
            <a:spLocks noGrp="1"/>
          </p:cNvSpPr>
          <p:nvPr>
            <p:ph idx="1"/>
          </p:nvPr>
        </p:nvSpPr>
        <p:spPr/>
        <p:txBody>
          <a:bodyPr>
            <a:normAutofit/>
          </a:bodyPr>
          <a:lstStyle/>
          <a:p>
            <a:r>
              <a:rPr lang="en-US" sz="3200" dirty="0"/>
              <a:t>What happens if you switch the cause and effect?</a:t>
            </a:r>
            <a:br>
              <a:rPr lang="en-US" sz="3200" dirty="0"/>
            </a:br>
            <a:r>
              <a:rPr lang="en-US" sz="3200" dirty="0"/>
              <a:t> </a:t>
            </a:r>
          </a:p>
          <a:p>
            <a:r>
              <a:rPr lang="en-US" sz="3200" dirty="0"/>
              <a:t>What happens if you change one of the words?  </a:t>
            </a:r>
            <a:br>
              <a:rPr lang="en-US" sz="3200" dirty="0"/>
            </a:br>
            <a:endParaRPr lang="en-US" sz="3200" dirty="0"/>
          </a:p>
          <a:p>
            <a:r>
              <a:rPr lang="en-US" sz="3200" dirty="0"/>
              <a:t>Different questions/recipes are formed with little or no change in the words in the sentence. Those small changes can drastically change how and what you are investigating for years to come!</a:t>
            </a:r>
          </a:p>
          <a:p>
            <a:endParaRPr lang="en-US" sz="3200" dirty="0"/>
          </a:p>
          <a:p>
            <a:endParaRPr lang="en-US" sz="3200" dirty="0"/>
          </a:p>
        </p:txBody>
      </p:sp>
    </p:spTree>
    <p:extLst>
      <p:ext uri="{BB962C8B-B14F-4D97-AF65-F5344CB8AC3E}">
        <p14:creationId xmlns:p14="http://schemas.microsoft.com/office/powerpoint/2010/main" val="333030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522B79-9AC4-6445-B204-1C76CD02EB76}"/>
              </a:ext>
            </a:extLst>
          </p:cNvPr>
          <p:cNvSpPr>
            <a:spLocks noGrp="1"/>
          </p:cNvSpPr>
          <p:nvPr>
            <p:ph idx="1"/>
          </p:nvPr>
        </p:nvSpPr>
        <p:spPr>
          <a:xfrm>
            <a:off x="838200" y="0"/>
            <a:ext cx="10515600" cy="6176963"/>
          </a:xfrm>
        </p:spPr>
        <p:txBody>
          <a:bodyPr anchor="ctr">
            <a:normAutofit/>
          </a:bodyPr>
          <a:lstStyle/>
          <a:p>
            <a:pPr marL="0" indent="0">
              <a:buNone/>
            </a:pPr>
            <a:r>
              <a:rPr lang="en-US" sz="3200" dirty="0"/>
              <a:t>So coming up with your recipe is not so hard.</a:t>
            </a:r>
            <a:br>
              <a:rPr lang="en-US" sz="3200" dirty="0"/>
            </a:br>
            <a:br>
              <a:rPr lang="en-US" sz="3200" dirty="0"/>
            </a:br>
            <a:r>
              <a:rPr lang="en-US" sz="3200" dirty="0"/>
              <a:t>Formulating a question that supports a recipe for investigating relationships between cause and effect also enables good communication.</a:t>
            </a:r>
          </a:p>
        </p:txBody>
      </p:sp>
    </p:spTree>
    <p:extLst>
      <p:ext uri="{BB962C8B-B14F-4D97-AF65-F5344CB8AC3E}">
        <p14:creationId xmlns:p14="http://schemas.microsoft.com/office/powerpoint/2010/main" val="1823837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CF743-FE5B-A648-B699-0447C7E3B992}"/>
              </a:ext>
            </a:extLst>
          </p:cNvPr>
          <p:cNvSpPr>
            <a:spLocks noGrp="1"/>
          </p:cNvSpPr>
          <p:nvPr>
            <p:ph type="title"/>
          </p:nvPr>
        </p:nvSpPr>
        <p:spPr>
          <a:xfrm>
            <a:off x="838200" y="427949"/>
            <a:ext cx="10515600" cy="1160821"/>
          </a:xfrm>
        </p:spPr>
        <p:txBody>
          <a:bodyPr>
            <a:normAutofit/>
          </a:bodyPr>
          <a:lstStyle/>
          <a:p>
            <a:r>
              <a:rPr lang="en-US" dirty="0"/>
              <a:t>Let’s see if we can identify cause and effect in scientists’ titles!</a:t>
            </a:r>
          </a:p>
        </p:txBody>
      </p:sp>
      <p:sp>
        <p:nvSpPr>
          <p:cNvPr id="3" name="Content Placeholder 2">
            <a:extLst>
              <a:ext uri="{FF2B5EF4-FFF2-40B4-BE49-F238E27FC236}">
                <a16:creationId xmlns:a16="http://schemas.microsoft.com/office/drawing/2014/main" id="{572473F8-D6FA-DF47-A122-DF6BD7A27068}"/>
              </a:ext>
            </a:extLst>
          </p:cNvPr>
          <p:cNvSpPr>
            <a:spLocks noGrp="1"/>
          </p:cNvSpPr>
          <p:nvPr>
            <p:ph idx="1"/>
          </p:nvPr>
        </p:nvSpPr>
        <p:spPr>
          <a:xfrm>
            <a:off x="838200" y="2000250"/>
            <a:ext cx="10515600" cy="4176713"/>
          </a:xfrm>
        </p:spPr>
        <p:txBody>
          <a:bodyPr>
            <a:normAutofit/>
          </a:bodyPr>
          <a:lstStyle/>
          <a:p>
            <a:pPr marL="0" indent="0">
              <a:lnSpc>
                <a:spcPct val="100000"/>
              </a:lnSpc>
              <a:buNone/>
            </a:pPr>
            <a:r>
              <a:rPr lang="en-US" b="1" dirty="0"/>
              <a:t>Small group assignment: </a:t>
            </a:r>
            <a:r>
              <a:rPr lang="en-US" dirty="0"/>
              <a:t>Evaluate titles from recent journal articles. Identify the type of research described by the title as: </a:t>
            </a:r>
          </a:p>
          <a:p>
            <a:pPr>
              <a:lnSpc>
                <a:spcPct val="100000"/>
              </a:lnSpc>
            </a:pPr>
            <a:r>
              <a:rPr lang="en-US" dirty="0"/>
              <a:t>establishing a cause-and-effect relationship</a:t>
            </a:r>
          </a:p>
          <a:p>
            <a:pPr>
              <a:lnSpc>
                <a:spcPct val="100000"/>
              </a:lnSpc>
            </a:pPr>
            <a:r>
              <a:rPr lang="en-US" dirty="0"/>
              <a:t>something else</a:t>
            </a:r>
            <a:br>
              <a:rPr lang="en-US" dirty="0"/>
            </a:br>
            <a:endParaRPr lang="en-US" dirty="0"/>
          </a:p>
          <a:p>
            <a:pPr marL="0" indent="0">
              <a:lnSpc>
                <a:spcPct val="100000"/>
              </a:lnSpc>
              <a:buNone/>
            </a:pPr>
            <a:r>
              <a:rPr lang="en-US" dirty="0"/>
              <a:t>Highlight the potential causal agent(s) in </a:t>
            </a:r>
            <a:r>
              <a:rPr lang="en-US" dirty="0">
                <a:highlight>
                  <a:srgbClr val="FFFF00"/>
                </a:highlight>
              </a:rPr>
              <a:t>yellow</a:t>
            </a:r>
            <a:r>
              <a:rPr lang="en-US" dirty="0"/>
              <a:t> (or </a:t>
            </a:r>
            <a:r>
              <a:rPr lang="en-US" u="sng" dirty="0"/>
              <a:t>underline once</a:t>
            </a:r>
            <a:r>
              <a:rPr lang="en-US" dirty="0"/>
              <a:t>) and highlight the effect(s) in </a:t>
            </a:r>
            <a:r>
              <a:rPr lang="en-US" dirty="0">
                <a:highlight>
                  <a:srgbClr val="00FF00"/>
                </a:highlight>
              </a:rPr>
              <a:t>green</a:t>
            </a:r>
            <a:r>
              <a:rPr lang="en-US" dirty="0"/>
              <a:t> (or </a:t>
            </a:r>
            <a:r>
              <a:rPr lang="en-US" u="dbl" dirty="0"/>
              <a:t>underline twice</a:t>
            </a:r>
            <a:r>
              <a:rPr lang="en-US" dirty="0"/>
              <a:t>).</a:t>
            </a:r>
          </a:p>
        </p:txBody>
      </p:sp>
    </p:spTree>
    <p:extLst>
      <p:ext uri="{BB962C8B-B14F-4D97-AF65-F5344CB8AC3E}">
        <p14:creationId xmlns:p14="http://schemas.microsoft.com/office/powerpoint/2010/main" val="4021772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D5B7-EFC7-ED45-BC9E-88465FDB567F}"/>
              </a:ext>
            </a:extLst>
          </p:cNvPr>
          <p:cNvSpPr>
            <a:spLocks noGrp="1"/>
          </p:cNvSpPr>
          <p:nvPr>
            <p:ph type="title"/>
          </p:nvPr>
        </p:nvSpPr>
        <p:spPr>
          <a:xfrm>
            <a:off x="838200" y="193669"/>
            <a:ext cx="10515600" cy="1223645"/>
          </a:xfrm>
        </p:spPr>
        <p:txBody>
          <a:bodyPr/>
          <a:lstStyle/>
          <a:p>
            <a:r>
              <a:rPr lang="en-US" dirty="0"/>
              <a:t>What have you learned?</a:t>
            </a:r>
          </a:p>
        </p:txBody>
      </p:sp>
      <p:sp>
        <p:nvSpPr>
          <p:cNvPr id="3" name="Content Placeholder 2">
            <a:extLst>
              <a:ext uri="{FF2B5EF4-FFF2-40B4-BE49-F238E27FC236}">
                <a16:creationId xmlns:a16="http://schemas.microsoft.com/office/drawing/2014/main" id="{04D7D895-9846-2E4F-9F61-DD3AEF79D2D0}"/>
              </a:ext>
            </a:extLst>
          </p:cNvPr>
          <p:cNvSpPr>
            <a:spLocks noGrp="1"/>
          </p:cNvSpPr>
          <p:nvPr>
            <p:ph idx="1"/>
          </p:nvPr>
        </p:nvSpPr>
        <p:spPr>
          <a:xfrm>
            <a:off x="838200" y="1347741"/>
            <a:ext cx="10515600" cy="4812036"/>
          </a:xfrm>
        </p:spPr>
        <p:txBody>
          <a:bodyPr>
            <a:noAutofit/>
          </a:bodyPr>
          <a:lstStyle/>
          <a:p>
            <a:pPr>
              <a:spcBef>
                <a:spcPts val="400"/>
              </a:spcBef>
            </a:pPr>
            <a:r>
              <a:rPr lang="en-US" sz="2500" dirty="0"/>
              <a:t>Questions are the basis for how scientists create the recipe for research, investigation, and experimentation.</a:t>
            </a:r>
          </a:p>
          <a:p>
            <a:pPr>
              <a:spcBef>
                <a:spcPts val="400"/>
              </a:spcBef>
            </a:pPr>
            <a:endParaRPr lang="en-US" sz="2500" dirty="0"/>
          </a:p>
          <a:p>
            <a:pPr>
              <a:spcBef>
                <a:spcPts val="400"/>
              </a:spcBef>
            </a:pPr>
            <a:r>
              <a:rPr lang="en-US" sz="2500" dirty="0"/>
              <a:t>Scientific recipes often have three main ingredients: cause, effect, and verb.</a:t>
            </a:r>
          </a:p>
          <a:p>
            <a:pPr>
              <a:spcBef>
                <a:spcPts val="400"/>
              </a:spcBef>
            </a:pPr>
            <a:endParaRPr lang="en-US" sz="2500" dirty="0"/>
          </a:p>
          <a:p>
            <a:pPr>
              <a:spcBef>
                <a:spcPts val="400"/>
              </a:spcBef>
            </a:pPr>
            <a:r>
              <a:rPr lang="en-US" sz="2500" dirty="0"/>
              <a:t>The creativity in questions simply comes from the novelty of the words placed in those blank statements. If no one has ever looked at that cause before in relation to that effect, it’s new!</a:t>
            </a:r>
          </a:p>
          <a:p>
            <a:pPr>
              <a:spcBef>
                <a:spcPts val="400"/>
              </a:spcBef>
            </a:pPr>
            <a:endParaRPr lang="en-US" sz="2500" dirty="0"/>
          </a:p>
          <a:p>
            <a:pPr>
              <a:spcBef>
                <a:spcPts val="400"/>
              </a:spcBef>
            </a:pPr>
            <a:r>
              <a:rPr lang="en-US" sz="2500" dirty="0"/>
              <a:t>A basic grammar lesson becomes a key for success in forming cause-and-effect scientific questions that can be used for further investigation. Not so hard!</a:t>
            </a:r>
          </a:p>
        </p:txBody>
      </p:sp>
    </p:spTree>
    <p:extLst>
      <p:ext uri="{BB962C8B-B14F-4D97-AF65-F5344CB8AC3E}">
        <p14:creationId xmlns:p14="http://schemas.microsoft.com/office/powerpoint/2010/main" val="2608252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1021</Words>
  <Application>Microsoft Office PowerPoint</Application>
  <PresentationFormat>Widescreen</PresentationFormat>
  <Paragraphs>160</Paragraphs>
  <Slides>19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HelveticaNeueLT Std Bold</vt:lpstr>
      <vt:lpstr>Office Theme</vt:lpstr>
      <vt:lpstr>Asking Scientific Questions</vt:lpstr>
      <vt:lpstr>What drives the day-to-day work of scientists?</vt:lpstr>
      <vt:lpstr>To come up with a scientific question, we must first understand the common elements that define what science is.</vt:lpstr>
      <vt:lpstr>To come up with a scientific question, we must first understand the common elements that define what science is.</vt:lpstr>
      <vt:lpstr>How an introductory biology book defines science:</vt:lpstr>
      <vt:lpstr>Explaining the natural world means using cause and effect!</vt:lpstr>
      <vt:lpstr>PowerPoint Presentation</vt:lpstr>
      <vt:lpstr>Let’s demystify scientific jargon with a synonym game so you can reduce intimidation and let your brain start being creative.  </vt:lpstr>
      <vt:lpstr>PowerPoint Presentation</vt:lpstr>
      <vt:lpstr>Remember English grammar? What kind of words are cause and effect?</vt:lpstr>
      <vt:lpstr>What type of word connects subjects to direct objects in a sentence?</vt:lpstr>
      <vt:lpstr>PowerPoint Presentation</vt:lpstr>
      <vt:lpstr>PowerPoint Presentation</vt:lpstr>
      <vt:lpstr>Let’s come up with some Ecology PhD thesis questions!</vt:lpstr>
      <vt:lpstr>Your Questions!</vt:lpstr>
      <vt:lpstr>Let’s evaluate your questions</vt:lpstr>
      <vt:lpstr>PowerPoint Presentation</vt:lpstr>
      <vt:lpstr>Let’s see if we can identify cause and effect in scientists’ titles!</vt:lpstr>
      <vt:lpstr>What have you learned?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Asking Questions Activity PowerPoint Slides</dc:subject>
  <dc:creator>Shyu, Esther</dc:creator>
  <cp:keywords>Asking Questions Activity PowerPoint Slides</cp:keywords>
  <cp:lastModifiedBy>Oshry, Aleeza</cp:lastModifiedBy>
  <cp:revision>96</cp:revision>
  <dcterms:created xsi:type="dcterms:W3CDTF">2020-03-16T16:14:22Z</dcterms:created>
  <dcterms:modified xsi:type="dcterms:W3CDTF">2020-03-23T21:34:43Z</dcterms:modified>
</cp:coreProperties>
</file>