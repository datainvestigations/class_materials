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77" r:id="rId2"/>
    <p:sldId id="257" r:id="rId3"/>
    <p:sldId id="262" r:id="rId4"/>
    <p:sldId id="276" r:id="rId5"/>
    <p:sldId id="260" r:id="rId6"/>
    <p:sldId id="261" r:id="rId7"/>
    <p:sldId id="259" r:id="rId8"/>
    <p:sldId id="263" r:id="rId9"/>
    <p:sldId id="264" r:id="rId10"/>
    <p:sldId id="265" r:id="rId11"/>
    <p:sldId id="266" r:id="rId12"/>
    <p:sldId id="268" r:id="rId13"/>
    <p:sldId id="269" r:id="rId14"/>
    <p:sldId id="1512" r:id="rId15"/>
    <p:sldId id="1513" r:id="rId16"/>
    <p:sldId id="300" r:id="rId17"/>
    <p:sldId id="1495" r:id="rId18"/>
    <p:sldId id="1519" r:id="rId19"/>
    <p:sldId id="1489" r:id="rId20"/>
    <p:sldId id="1520" r:id="rId21"/>
    <p:sldId id="1521" r:id="rId22"/>
    <p:sldId id="1523" r:id="rId23"/>
    <p:sldId id="1524" r:id="rId24"/>
    <p:sldId id="1525" r:id="rId25"/>
    <p:sldId id="1526" r:id="rId26"/>
    <p:sldId id="1514" r:id="rId27"/>
    <p:sldId id="267" r:id="rId28"/>
    <p:sldId id="270" r:id="rId29"/>
    <p:sldId id="271" r:id="rId30"/>
    <p:sldId id="273" r:id="rId31"/>
    <p:sldId id="274" r:id="rId32"/>
    <p:sldId id="275"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570"/>
    <p:restoredTop sz="95801"/>
  </p:normalViewPr>
  <p:slideViewPr>
    <p:cSldViewPr snapToGrid="0" snapToObjects="1">
      <p:cViewPr varScale="1">
        <p:scale>
          <a:sx n="115" d="100"/>
          <a:sy n="115" d="100"/>
        </p:scale>
        <p:origin x="224" y="312"/>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835629-0164-2147-93FB-941236A9A698}" type="datetimeFigureOut">
              <a:rPr lang="en-US" smtClean="0"/>
              <a:t>1/23/26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1F5137-E3F1-E64A-A858-EBCD7FE462B5}" type="slidenum">
              <a:rPr lang="en-US" smtClean="0"/>
              <a:t>‹#›</a:t>
            </a:fld>
            <a:endParaRPr lang="en-US"/>
          </a:p>
        </p:txBody>
      </p:sp>
    </p:spTree>
    <p:extLst>
      <p:ext uri="{BB962C8B-B14F-4D97-AF65-F5344CB8AC3E}">
        <p14:creationId xmlns:p14="http://schemas.microsoft.com/office/powerpoint/2010/main" val="28834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biointeractive.org/classroom-resources/asking-scientific-questions"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PowerPoint slides guide Parts 2 and 3 of the activity “Asking Scientific Questions.” Additional downloads and information related to pedagogy and implementation can be found on this resource’s webpage: </a:t>
            </a:r>
            <a:r>
              <a:rPr lang="en-US" dirty="0">
                <a:hlinkClick r:id="rId3"/>
              </a:rPr>
              <a:t>https://www.biointeractive.org/classroom-resources/asking-scientific-questions</a:t>
            </a:r>
            <a:endParaRPr lang="en-US" dirty="0"/>
          </a:p>
        </p:txBody>
      </p:sp>
      <p:sp>
        <p:nvSpPr>
          <p:cNvPr id="4" name="Slide Number Placeholder 3"/>
          <p:cNvSpPr>
            <a:spLocks noGrp="1"/>
          </p:cNvSpPr>
          <p:nvPr>
            <p:ph type="sldNum" sz="quarter" idx="5"/>
          </p:nvPr>
        </p:nvSpPr>
        <p:spPr/>
        <p:txBody>
          <a:bodyPr/>
          <a:lstStyle/>
          <a:p>
            <a:fld id="{B41F5137-E3F1-E64A-A858-EBCD7FE462B5}" type="slidenum">
              <a:rPr lang="en-US" smtClean="0"/>
              <a:t>1</a:t>
            </a:fld>
            <a:endParaRPr lang="en-US"/>
          </a:p>
        </p:txBody>
      </p:sp>
    </p:spTree>
    <p:extLst>
      <p:ext uri="{BB962C8B-B14F-4D97-AF65-F5344CB8AC3E}">
        <p14:creationId xmlns:p14="http://schemas.microsoft.com/office/powerpoint/2010/main" val="25749157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Students should discuss their ideas first; then they can discuss them along with the "textbook" definition of science. The purpose of this slide is to pivot that discussion to cause and effect.</a:t>
            </a:r>
          </a:p>
        </p:txBody>
      </p:sp>
      <p:sp>
        <p:nvSpPr>
          <p:cNvPr id="4" name="Slide Number Placeholder 3"/>
          <p:cNvSpPr>
            <a:spLocks noGrp="1"/>
          </p:cNvSpPr>
          <p:nvPr>
            <p:ph type="sldNum" sz="quarter" idx="5"/>
          </p:nvPr>
        </p:nvSpPr>
        <p:spPr/>
        <p:txBody>
          <a:bodyPr/>
          <a:lstStyle/>
          <a:p>
            <a:fld id="{B41F5137-E3F1-E64A-A858-EBCD7FE462B5}" type="slidenum">
              <a:rPr lang="en-US" smtClean="0"/>
              <a:t>5</a:t>
            </a:fld>
            <a:endParaRPr lang="en-US"/>
          </a:p>
        </p:txBody>
      </p:sp>
    </p:spTree>
    <p:extLst>
      <p:ext uri="{BB962C8B-B14F-4D97-AF65-F5344CB8AC3E}">
        <p14:creationId xmlns:p14="http://schemas.microsoft.com/office/powerpoint/2010/main" val="42460525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ea typeface="+mn-ea"/>
                <a:cs typeface="+mn-cs"/>
              </a:rPr>
              <a:t>Scientists ask many different types of questions for many different purposes. Six common types of studies are hypothesis-driven research, measuring specific values, measuring functions or relationships, constructing models, making observations and identifying patterns, and improving a product or process, including developing new scientific tools.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ea typeface="+mn-ea"/>
                <a:cs typeface="+mn-cs"/>
              </a:rPr>
              <a:t>Though many types of studies are used in science, scientists put a high degree of emphasis of asking scientific questions to determine cause and effect because the search for causes has led to some of the most important insights offered by science.</a:t>
            </a:r>
            <a:endParaRPr lang="en-US" dirty="0"/>
          </a:p>
        </p:txBody>
      </p:sp>
      <p:sp>
        <p:nvSpPr>
          <p:cNvPr id="4" name="Slide Number Placeholder 3"/>
          <p:cNvSpPr>
            <a:spLocks noGrp="1"/>
          </p:cNvSpPr>
          <p:nvPr>
            <p:ph type="sldNum" sz="quarter" idx="5"/>
          </p:nvPr>
        </p:nvSpPr>
        <p:spPr/>
        <p:txBody>
          <a:bodyPr/>
          <a:lstStyle/>
          <a:p>
            <a:fld id="{B41F5137-E3F1-E64A-A858-EBCD7FE462B5}" type="slidenum">
              <a:rPr lang="en-US" smtClean="0"/>
              <a:t>6</a:t>
            </a:fld>
            <a:endParaRPr lang="en-US"/>
          </a:p>
        </p:txBody>
      </p:sp>
    </p:spTree>
    <p:extLst>
      <p:ext uri="{BB962C8B-B14F-4D97-AF65-F5344CB8AC3E}">
        <p14:creationId xmlns:p14="http://schemas.microsoft.com/office/powerpoint/2010/main" val="4206405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synonyms activity.</a:t>
            </a:r>
          </a:p>
        </p:txBody>
      </p:sp>
      <p:sp>
        <p:nvSpPr>
          <p:cNvPr id="4" name="Slide Number Placeholder 3"/>
          <p:cNvSpPr>
            <a:spLocks noGrp="1"/>
          </p:cNvSpPr>
          <p:nvPr>
            <p:ph type="sldNum" sz="quarter" idx="5"/>
          </p:nvPr>
        </p:nvSpPr>
        <p:spPr/>
        <p:txBody>
          <a:bodyPr/>
          <a:lstStyle/>
          <a:p>
            <a:fld id="{B41F5137-E3F1-E64A-A858-EBCD7FE462B5}" type="slidenum">
              <a:rPr lang="en-US" smtClean="0"/>
              <a:t>7</a:t>
            </a:fld>
            <a:endParaRPr lang="en-US"/>
          </a:p>
        </p:txBody>
      </p:sp>
    </p:spTree>
    <p:extLst>
      <p:ext uri="{BB962C8B-B14F-4D97-AF65-F5344CB8AC3E}">
        <p14:creationId xmlns:p14="http://schemas.microsoft.com/office/powerpoint/2010/main" val="4196339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Have the students leave a blank column in the middle of their chart paper that they will fill in later.</a:t>
            </a:r>
          </a:p>
        </p:txBody>
      </p:sp>
      <p:sp>
        <p:nvSpPr>
          <p:cNvPr id="4" name="Slide Number Placeholder 3"/>
          <p:cNvSpPr>
            <a:spLocks noGrp="1"/>
          </p:cNvSpPr>
          <p:nvPr>
            <p:ph type="sldNum" sz="quarter" idx="5"/>
          </p:nvPr>
        </p:nvSpPr>
        <p:spPr/>
        <p:txBody>
          <a:bodyPr/>
          <a:lstStyle/>
          <a:p>
            <a:fld id="{B41F5137-E3F1-E64A-A858-EBCD7FE462B5}" type="slidenum">
              <a:rPr lang="en-US" smtClean="0"/>
              <a:t>8</a:t>
            </a:fld>
            <a:endParaRPr lang="en-US"/>
          </a:p>
        </p:txBody>
      </p:sp>
    </p:spTree>
    <p:extLst>
      <p:ext uri="{BB962C8B-B14F-4D97-AF65-F5344CB8AC3E}">
        <p14:creationId xmlns:p14="http://schemas.microsoft.com/office/powerpoint/2010/main" val="25849063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F5137-E3F1-E64A-A858-EBCD7FE462B5}" type="slidenum">
              <a:rPr lang="en-US" smtClean="0"/>
              <a:t>12</a:t>
            </a:fld>
            <a:endParaRPr lang="en-US"/>
          </a:p>
        </p:txBody>
      </p:sp>
    </p:spTree>
    <p:extLst>
      <p:ext uri="{BB962C8B-B14F-4D97-AF65-F5344CB8AC3E}">
        <p14:creationId xmlns:p14="http://schemas.microsoft.com/office/powerpoint/2010/main" val="12704399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1A1C09C-5FC1-429A-B4C2-704BB55AE491}" type="slidenum">
              <a:rPr lang="en-US" smtClean="0"/>
              <a:pPr/>
              <a:t>19</a:t>
            </a:fld>
            <a:endParaRPr lang="en-US"/>
          </a:p>
        </p:txBody>
      </p:sp>
    </p:spTree>
    <p:extLst>
      <p:ext uri="{BB962C8B-B14F-4D97-AF65-F5344CB8AC3E}">
        <p14:creationId xmlns:p14="http://schemas.microsoft.com/office/powerpoint/2010/main" val="21440397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96D23-55C0-BDFF-E169-EFC9420EC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1BE0F-B465-8DC4-3644-BB11E37A13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357C40-D1A8-61C3-E868-EDBBAC5D2631}"/>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ECF57284-9BC8-3521-D031-DD7523B5B833}"/>
              </a:ext>
            </a:extLst>
          </p:cNvPr>
          <p:cNvSpPr>
            <a:spLocks noGrp="1"/>
          </p:cNvSpPr>
          <p:nvPr>
            <p:ph type="sldNum" sz="quarter" idx="10"/>
          </p:nvPr>
        </p:nvSpPr>
        <p:spPr/>
        <p:txBody>
          <a:bodyPr/>
          <a:lstStyle/>
          <a:p>
            <a:fld id="{21A1C09C-5FC1-429A-B4C2-704BB55AE491}" type="slidenum">
              <a:rPr lang="en-US" smtClean="0"/>
              <a:pPr/>
              <a:t>21</a:t>
            </a:fld>
            <a:endParaRPr lang="en-US"/>
          </a:p>
        </p:txBody>
      </p:sp>
    </p:spTree>
    <p:extLst>
      <p:ext uri="{BB962C8B-B14F-4D97-AF65-F5344CB8AC3E}">
        <p14:creationId xmlns:p14="http://schemas.microsoft.com/office/powerpoint/2010/main" val="813292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200A9-7CF6-02B4-50C9-337D641EF5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A0163F-8647-6472-2307-8E7BB22853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AECD86-4525-CF5E-28FA-75AEDAE7A110}"/>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A2E24F6E-B37F-0429-6DE7-4C76D07993A1}"/>
              </a:ext>
            </a:extLst>
          </p:cNvPr>
          <p:cNvSpPr>
            <a:spLocks noGrp="1"/>
          </p:cNvSpPr>
          <p:nvPr>
            <p:ph type="sldNum" sz="quarter" idx="10"/>
          </p:nvPr>
        </p:nvSpPr>
        <p:spPr/>
        <p:txBody>
          <a:bodyPr/>
          <a:lstStyle/>
          <a:p>
            <a:fld id="{21A1C09C-5FC1-429A-B4C2-704BB55AE491}" type="slidenum">
              <a:rPr lang="en-US" smtClean="0"/>
              <a:pPr/>
              <a:t>22</a:t>
            </a:fld>
            <a:endParaRPr lang="en-US"/>
          </a:p>
        </p:txBody>
      </p:sp>
    </p:spTree>
    <p:extLst>
      <p:ext uri="{BB962C8B-B14F-4D97-AF65-F5344CB8AC3E}">
        <p14:creationId xmlns:p14="http://schemas.microsoft.com/office/powerpoint/2010/main" val="3998044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Edit the example organisms as needed.</a:t>
            </a:r>
          </a:p>
        </p:txBody>
      </p:sp>
      <p:sp>
        <p:nvSpPr>
          <p:cNvPr id="4" name="Slide Number Placeholder 3"/>
          <p:cNvSpPr>
            <a:spLocks noGrp="1"/>
          </p:cNvSpPr>
          <p:nvPr>
            <p:ph type="sldNum" sz="quarter" idx="5"/>
          </p:nvPr>
        </p:nvSpPr>
        <p:spPr/>
        <p:txBody>
          <a:bodyPr/>
          <a:lstStyle/>
          <a:p>
            <a:fld id="{B41F5137-E3F1-E64A-A858-EBCD7FE462B5}" type="slidenum">
              <a:rPr lang="en-US" smtClean="0"/>
              <a:t>27</a:t>
            </a:fld>
            <a:endParaRPr lang="en-US"/>
          </a:p>
        </p:txBody>
      </p:sp>
    </p:spTree>
    <p:extLst>
      <p:ext uri="{BB962C8B-B14F-4D97-AF65-F5344CB8AC3E}">
        <p14:creationId xmlns:p14="http://schemas.microsoft.com/office/powerpoint/2010/main" val="37122270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Adjust colors as necessary or use circles and boxes.</a:t>
            </a:r>
          </a:p>
        </p:txBody>
      </p:sp>
      <p:sp>
        <p:nvSpPr>
          <p:cNvPr id="4" name="Slide Number Placeholder 3"/>
          <p:cNvSpPr>
            <a:spLocks noGrp="1"/>
          </p:cNvSpPr>
          <p:nvPr>
            <p:ph type="sldNum" sz="quarter" idx="5"/>
          </p:nvPr>
        </p:nvSpPr>
        <p:spPr/>
        <p:txBody>
          <a:bodyPr/>
          <a:lstStyle/>
          <a:p>
            <a:fld id="{B41F5137-E3F1-E64A-A858-EBCD7FE462B5}" type="slidenum">
              <a:rPr lang="en-US" smtClean="0"/>
              <a:t>31</a:t>
            </a:fld>
            <a:endParaRPr lang="en-US"/>
          </a:p>
        </p:txBody>
      </p:sp>
    </p:spTree>
    <p:extLst>
      <p:ext uri="{BB962C8B-B14F-4D97-AF65-F5344CB8AC3E}">
        <p14:creationId xmlns:p14="http://schemas.microsoft.com/office/powerpoint/2010/main" val="25763280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A0E9A-1D1D-864A-B84A-8EAA82332F81}"/>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71387CE4-9B29-6C40-B486-8F7E19C837ED}"/>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9205302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22AC7-1D26-3149-9B01-0B93CBAAE78C}"/>
              </a:ext>
            </a:extLst>
          </p:cNvPr>
          <p:cNvSpPr>
            <a:spLocks noGrp="1"/>
          </p:cNvSpPr>
          <p:nvPr>
            <p:ph type="title"/>
          </p:nvPr>
        </p:nvSpPr>
        <p:spPr>
          <a:xfrm>
            <a:off x="838200" y="365125"/>
            <a:ext cx="10515600" cy="1223645"/>
          </a:xfrm>
          <a:prstGeom prst="rect">
            <a:avLst/>
          </a:prstGeo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C8DF3765-7A58-C841-9865-4A1D4668E8FE}"/>
              </a:ext>
            </a:extLst>
          </p:cNvPr>
          <p:cNvSpPr>
            <a:spLocks noGrp="1"/>
          </p:cNvSpPr>
          <p:nvPr>
            <p:ph idx="1"/>
          </p:nvPr>
        </p:nvSpPr>
        <p:spPr>
          <a:xfrm>
            <a:off x="838200" y="1668780"/>
            <a:ext cx="10515600" cy="4508183"/>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EA4570B-EA49-7341-9959-DF94F77BEF9E}"/>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5" name="Footer Placeholder 4">
            <a:extLst>
              <a:ext uri="{FF2B5EF4-FFF2-40B4-BE49-F238E27FC236}">
                <a16:creationId xmlns:a16="http://schemas.microsoft.com/office/drawing/2014/main" id="{4CE3DC4A-5795-B041-A80C-4E0F1091B234}"/>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61169F0-A9CF-004E-AB67-786A4E0B9BD7}"/>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32547705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A8AA6C-E264-2D49-92E1-C9F5C172D97F}"/>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3574AD-7452-1A4F-8BCA-85C20FBAFDDE}"/>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E150A3-0A2E-4D46-9E6E-49F3C0359E1E}"/>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5" name="Footer Placeholder 4">
            <a:extLst>
              <a:ext uri="{FF2B5EF4-FFF2-40B4-BE49-F238E27FC236}">
                <a16:creationId xmlns:a16="http://schemas.microsoft.com/office/drawing/2014/main" id="{284CBC8C-6D4F-6A49-A389-C2362D6F3865}"/>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92A7535-BAD1-5B48-A992-465C13F5C1C5}"/>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2031675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183A7-ECA8-884A-85BA-50FB76566A0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F6BEE0F5-EFFD-3943-8B8C-8B5607EC3735}"/>
              </a:ext>
            </a:extLst>
          </p:cNvPr>
          <p:cNvSpPr>
            <a:spLocks noGrp="1"/>
          </p:cNvSpPr>
          <p:nvPr>
            <p:ph sz="half" idx="1"/>
          </p:nvPr>
        </p:nvSpPr>
        <p:spPr>
          <a:xfrm>
            <a:off x="838200" y="1825625"/>
            <a:ext cx="5181600" cy="4351338"/>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8A6ABB0A-8E17-4B40-AB59-4AF12DAE09E5}"/>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B7AE34-EAC5-7240-ABBB-5DEAB25B48B7}"/>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6" name="Footer Placeholder 5">
            <a:extLst>
              <a:ext uri="{FF2B5EF4-FFF2-40B4-BE49-F238E27FC236}">
                <a16:creationId xmlns:a16="http://schemas.microsoft.com/office/drawing/2014/main" id="{A41C7867-EBAF-5344-BC5E-D5F5415D62B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1CA7040-90DD-2E45-AC0D-3108FAA81D0D}"/>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24699652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523F4-A23B-DB44-B803-73F80E1780F0}"/>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174F4EA4-A555-E445-B146-90C298592320}"/>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D5C0D2-0CE1-6445-96D2-60EEE6662C2C}"/>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B534DAB-43D7-D647-AEC6-FD01C3D39B5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CD1AFB1-30FA-CA47-8466-9C17E84F2B01}"/>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4398CA4-B83C-A344-B3EF-FC20CF049B90}"/>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8" name="Footer Placeholder 7">
            <a:extLst>
              <a:ext uri="{FF2B5EF4-FFF2-40B4-BE49-F238E27FC236}">
                <a16:creationId xmlns:a16="http://schemas.microsoft.com/office/drawing/2014/main" id="{48A52209-C745-5F41-9D37-69F7A1E2777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4D4F9854-1958-8742-A6B3-8B3E91E22E90}"/>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18842778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60B72-DF2D-9C44-B3A5-E9ED4BFBB3D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060EA3CF-3810-5749-9493-F05B4987895A}"/>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4" name="Footer Placeholder 3">
            <a:extLst>
              <a:ext uri="{FF2B5EF4-FFF2-40B4-BE49-F238E27FC236}">
                <a16:creationId xmlns:a16="http://schemas.microsoft.com/office/drawing/2014/main" id="{268570AE-CEBE-764B-AA87-CB0A6C521B4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81D41DC3-E99F-A940-A7C3-5AAA671698E0}"/>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3084459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2992575-A36E-2344-AE5D-8D90AF7391D4}"/>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3" name="Footer Placeholder 2">
            <a:extLst>
              <a:ext uri="{FF2B5EF4-FFF2-40B4-BE49-F238E27FC236}">
                <a16:creationId xmlns:a16="http://schemas.microsoft.com/office/drawing/2014/main" id="{6364C5BE-9F46-2142-864A-E7887B4D098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954B8345-B9ED-A146-817A-D3D983EAE1AB}"/>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17795908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2C7B7-B68F-1547-A4C7-67A8AB44A12B}"/>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4238CE-7C77-B340-91ED-71528553C872}"/>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C719035-EB1D-624D-91E8-CD1E23D1C8C3}"/>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80B253-834B-9F4D-85B3-5F737EDEDD45}"/>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6" name="Footer Placeholder 5">
            <a:extLst>
              <a:ext uri="{FF2B5EF4-FFF2-40B4-BE49-F238E27FC236}">
                <a16:creationId xmlns:a16="http://schemas.microsoft.com/office/drawing/2014/main" id="{BAD432F5-B129-5540-B08F-64A3740D977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53B36257-97AD-CF44-9A42-9088ADFD71B7}"/>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9918406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A95ED-1EA6-5B41-AB0F-BB010D933675}"/>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8BA67A-DAC0-694B-BDA1-D2D0AAD39EA6}"/>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E29DF42-48D3-8242-8726-9C8A3F0EEA5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0BE979-6C3A-0841-9E5D-A1A25E23B841}"/>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6" name="Footer Placeholder 5">
            <a:extLst>
              <a:ext uri="{FF2B5EF4-FFF2-40B4-BE49-F238E27FC236}">
                <a16:creationId xmlns:a16="http://schemas.microsoft.com/office/drawing/2014/main" id="{34F281BB-C6F8-AF48-8BC9-3B8A4A4B9E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83BF0990-91B9-C243-8590-78102E952A03}"/>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8005607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43E31-7C2F-9749-821B-DCF3CFC0CD4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E3EF908-0619-6540-9C47-5EFDE3389707}"/>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9031BC-8ECC-3542-AED6-5525FDD78065}"/>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5" name="Footer Placeholder 4">
            <a:extLst>
              <a:ext uri="{FF2B5EF4-FFF2-40B4-BE49-F238E27FC236}">
                <a16:creationId xmlns:a16="http://schemas.microsoft.com/office/drawing/2014/main" id="{64166A8B-4583-2C42-8CF2-755D2D8D91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326E0DDA-BD29-EB4B-A0E1-D3A9EB361E35}"/>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911460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0323A7-D6BB-4948-8CFC-EBE295104A7C}"/>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4FBE211-37FE-BD40-82E2-4EFC092C15C6}"/>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426084-5730-B444-945E-B7A83BBD581F}"/>
              </a:ext>
            </a:extLst>
          </p:cNvPr>
          <p:cNvSpPr>
            <a:spLocks noGrp="1"/>
          </p:cNvSpPr>
          <p:nvPr>
            <p:ph type="dt" sz="half" idx="10"/>
          </p:nvPr>
        </p:nvSpPr>
        <p:spPr>
          <a:xfrm>
            <a:off x="838200" y="6356350"/>
            <a:ext cx="2743200" cy="365125"/>
          </a:xfrm>
          <a:prstGeom prst="rect">
            <a:avLst/>
          </a:prstGeom>
        </p:spPr>
        <p:txBody>
          <a:bodyPr/>
          <a:lstStyle/>
          <a:p>
            <a:fld id="{4F64CE7B-2D88-C44B-87A8-730F9BD566D4}" type="datetimeFigureOut">
              <a:rPr lang="en-US" smtClean="0"/>
              <a:t>1/23/26</a:t>
            </a:fld>
            <a:endParaRPr lang="en-US"/>
          </a:p>
        </p:txBody>
      </p:sp>
      <p:sp>
        <p:nvSpPr>
          <p:cNvPr id="5" name="Footer Placeholder 4">
            <a:extLst>
              <a:ext uri="{FF2B5EF4-FFF2-40B4-BE49-F238E27FC236}">
                <a16:creationId xmlns:a16="http://schemas.microsoft.com/office/drawing/2014/main" id="{9EA1EA18-7824-734C-AF9B-F07C25BEEAF2}"/>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12BA837-3537-4D47-8658-46559EEBBBBA}"/>
              </a:ext>
            </a:extLst>
          </p:cNvPr>
          <p:cNvSpPr>
            <a:spLocks noGrp="1"/>
          </p:cNvSpPr>
          <p:nvPr>
            <p:ph type="sldNum" sz="quarter" idx="12"/>
          </p:nvPr>
        </p:nvSpPr>
        <p:spPr>
          <a:xfrm>
            <a:off x="8610600" y="6356350"/>
            <a:ext cx="2743200" cy="365125"/>
          </a:xfrm>
          <a:prstGeom prst="rect">
            <a:avLst/>
          </a:prstGeom>
        </p:spPr>
        <p:txBody>
          <a:bodyPr/>
          <a:lstStyle/>
          <a:p>
            <a:fld id="{A5792606-E417-604E-B5F6-F363B5992D9F}" type="slidenum">
              <a:rPr lang="en-US" smtClean="0"/>
              <a:t>‹#›</a:t>
            </a:fld>
            <a:endParaRPr lang="en-US"/>
          </a:p>
        </p:txBody>
      </p:sp>
    </p:spTree>
    <p:extLst>
      <p:ext uri="{BB962C8B-B14F-4D97-AF65-F5344CB8AC3E}">
        <p14:creationId xmlns:p14="http://schemas.microsoft.com/office/powerpoint/2010/main" val="26447876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On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ctrTitle" hasCustomPrompt="1"/>
          </p:nvPr>
        </p:nvSpPr>
        <p:spPr>
          <a:xfrm>
            <a:off x="914400" y="2657856"/>
            <a:ext cx="10363200" cy="771144"/>
          </a:xfrm>
        </p:spPr>
        <p:txBody>
          <a:bodyPr lIns="0" tIns="0" rIns="0" bIns="0" anchor="t" anchorCtr="0">
            <a:normAutofit/>
          </a:bodyPr>
          <a:lstStyle>
            <a:lvl1pPr algn="l">
              <a:defRPr sz="4800" b="0" i="0" baseline="0">
                <a:solidFill>
                  <a:schemeClr val="bg1"/>
                </a:solidFill>
                <a:latin typeface="HelveticaNeueLT Std Bold"/>
                <a:cs typeface="HelveticaNeueLT Std Bold"/>
              </a:defRPr>
            </a:lvl1pPr>
          </a:lstStyle>
          <a:p>
            <a:r>
              <a:rPr lang="en-US" dirty="0"/>
              <a:t>Title of Presentation</a:t>
            </a:r>
          </a:p>
        </p:txBody>
      </p:sp>
      <p:sp>
        <p:nvSpPr>
          <p:cNvPr id="8" name="Subtitle 2"/>
          <p:cNvSpPr>
            <a:spLocks noGrp="1"/>
          </p:cNvSpPr>
          <p:nvPr>
            <p:ph type="subTitle" idx="1" hasCustomPrompt="1"/>
          </p:nvPr>
        </p:nvSpPr>
        <p:spPr>
          <a:xfrm>
            <a:off x="914400" y="4023361"/>
            <a:ext cx="10363200" cy="544559"/>
          </a:xfrm>
        </p:spPr>
        <p:txBody>
          <a:bodyPr lIns="0" tIns="0" rIns="0" bIns="0">
            <a:noAutofit/>
          </a:bodyPr>
          <a:lstStyle>
            <a:lvl1pPr marL="0" indent="0" algn="l">
              <a:buNone/>
              <a:defRPr sz="3200" baseline="0">
                <a:solidFill>
                  <a:srgbClr val="FFFFFF"/>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dirty="0"/>
              <a:t>Subhead Goes Here</a:t>
            </a:r>
          </a:p>
        </p:txBody>
      </p:sp>
      <p:cxnSp>
        <p:nvCxnSpPr>
          <p:cNvPr id="10" name="Straight Connector 9"/>
          <p:cNvCxnSpPr>
            <a:cxnSpLocks/>
          </p:cNvCxnSpPr>
          <p:nvPr userDrawn="1"/>
        </p:nvCxnSpPr>
        <p:spPr bwMode="auto">
          <a:xfrm>
            <a:off x="914400" y="3657600"/>
            <a:ext cx="10363200" cy="0"/>
          </a:xfrm>
          <a:prstGeom prst="line">
            <a:avLst/>
          </a:prstGeom>
          <a:solidFill>
            <a:srgbClr val="66400F"/>
          </a:solidFill>
          <a:ln w="12700" cap="flat" cmpd="sng" algn="ctr">
            <a:solidFill>
              <a:srgbClr val="FFFFFF"/>
            </a:solidFill>
            <a:prstDash val="solid"/>
            <a:round/>
            <a:headEnd type="none" w="med" len="med"/>
            <a:tailEnd type="none" w="med" len="me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pic>
        <p:nvPicPr>
          <p:cNvPr id="11" name="Picture 10">
            <a:extLst>
              <a:ext uri="{FF2B5EF4-FFF2-40B4-BE49-F238E27FC236}">
                <a16:creationId xmlns:a16="http://schemas.microsoft.com/office/drawing/2014/main" id="{D0BE0032-49DD-854C-8440-85DD66C4AF9F}"/>
              </a:ext>
            </a:extLst>
          </p:cNvPr>
          <p:cNvPicPr>
            <a:picLocks noChangeAspect="1"/>
          </p:cNvPicPr>
          <p:nvPr userDrawn="1"/>
        </p:nvPicPr>
        <p:blipFill>
          <a:blip r:embed="rId3"/>
          <a:stretch>
            <a:fillRect/>
          </a:stretch>
        </p:blipFill>
        <p:spPr>
          <a:xfrm>
            <a:off x="7924800" y="5919862"/>
            <a:ext cx="3352800" cy="651933"/>
          </a:xfrm>
          <a:prstGeom prst="rect">
            <a:avLst/>
          </a:prstGeom>
        </p:spPr>
      </p:pic>
    </p:spTree>
    <p:extLst>
      <p:ext uri="{BB962C8B-B14F-4D97-AF65-F5344CB8AC3E}">
        <p14:creationId xmlns:p14="http://schemas.microsoft.com/office/powerpoint/2010/main" val="8458128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orient="horz" pos="3060">
          <p15:clr>
            <a:srgbClr val="FBAE40"/>
          </p15:clr>
        </p15:guide>
        <p15:guide id="4" pos="432">
          <p15:clr>
            <a:srgbClr val="FBAE40"/>
          </p15:clr>
        </p15:guide>
        <p15:guide id="5" pos="532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31940B-7883-1B4C-AA10-79C8449E0A38}"/>
              </a:ext>
            </a:extLst>
          </p:cNvPr>
          <p:cNvSpPr>
            <a:spLocks noGrp="1"/>
          </p:cNvSpPr>
          <p:nvPr>
            <p:ph type="title"/>
          </p:nvPr>
        </p:nvSpPr>
        <p:spPr>
          <a:xfrm>
            <a:off x="838200" y="365124"/>
            <a:ext cx="10515600" cy="1203329"/>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807D234-2E5B-7149-8CF4-4FB4B804FDBB}"/>
              </a:ext>
            </a:extLst>
          </p:cNvPr>
          <p:cNvSpPr>
            <a:spLocks noGrp="1"/>
          </p:cNvSpPr>
          <p:nvPr>
            <p:ph type="body" idx="1"/>
          </p:nvPr>
        </p:nvSpPr>
        <p:spPr>
          <a:xfrm>
            <a:off x="838200" y="1714504"/>
            <a:ext cx="10515600" cy="436625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9" name="Straight Connector 18">
            <a:extLst>
              <a:ext uri="{FF2B5EF4-FFF2-40B4-BE49-F238E27FC236}">
                <a16:creationId xmlns:a16="http://schemas.microsoft.com/office/drawing/2014/main" id="{34DAB28D-487C-5743-A7A5-ED8A05336B80}"/>
              </a:ext>
            </a:extLst>
          </p:cNvPr>
          <p:cNvCxnSpPr>
            <a:cxnSpLocks noChangeShapeType="1"/>
          </p:cNvCxnSpPr>
          <p:nvPr userDrawn="1"/>
        </p:nvCxnSpPr>
        <p:spPr bwMode="auto">
          <a:xfrm>
            <a:off x="838200" y="6255386"/>
            <a:ext cx="10515600" cy="0"/>
          </a:xfrm>
          <a:prstGeom prst="line">
            <a:avLst/>
          </a:prstGeom>
          <a:noFill/>
          <a:ln w="9525">
            <a:solidFill>
              <a:srgbClr val="0EBC4F"/>
            </a:solidFill>
            <a:round/>
            <a:headEnd/>
            <a:tailEnd/>
          </a:ln>
          <a:effectLst>
            <a:outerShdw blurRad="63500" dist="12700" dir="5400000" algn="ctr" rotWithShape="0">
              <a:srgbClr val="BFBFBF">
                <a:alpha val="75000"/>
              </a:srgbClr>
            </a:outerShdw>
          </a:effectLst>
          <a:extLst>
            <a:ext uri="{909E8E84-426E-40dd-AFC4-6F175D3DCCD1}">
              <a14:hiddenFill xmlns:lc="http://schemas.openxmlformats.org/drawingml/2006/lockedCanvas" xmlns="" xmlns:mo="http://schemas.microsoft.com/office/mac/office/2008/main" xmlns:mv="urn:schemas-microsoft-com:mac:vml" xmlns:o="urn:schemas-microsoft-com:office:office" xmlns:v="urn:schemas-microsoft-com:vml" xmlns:w10="urn:schemas-microsoft-com:office:word" xmlns:w="http://schemas.openxmlformats.org/wordprocessingml/2006/main" xmlns:a14="http://schemas.microsoft.com/office/drawing/2010/main" xmlns:wps="http://schemas.microsoft.com/office/word/2010/wordprocessingShape" xmlns:wne="http://schemas.microsoft.com/office/word/2006/wordml" xmlns:wpi="http://schemas.microsoft.com/office/word/2010/wordprocessingInk" xmlns:wpg="http://schemas.microsoft.com/office/word/2010/wordprocessingGroup" xmlns:w16se="http://schemas.microsoft.com/office/word/2015/wordml/symex" xmlns:w16cid="http://schemas.microsoft.com/office/word/2016/wordml/cid" xmlns:w15="http://schemas.microsoft.com/office/word/2012/wordml" xmlns:w14="http://schemas.microsoft.com/office/word/2010/wordml" xmlns:wp="http://schemas.openxmlformats.org/drawingml/2006/wordprocessingDrawing" xmlns:wp14="http://schemas.microsoft.com/office/word/2010/wordprocessingDrawing" xmlns:m="http://schemas.openxmlformats.org/officeDocument/2006/math" xmlns:am3d="http://schemas.microsoft.com/office/drawing/2017/model3d" xmlns:aink="http://schemas.microsoft.com/office/drawing/2016/ink" xmlns:mc="http://schemas.openxmlformats.org/markup-compatibility/2006" xmlns:cx8="http://schemas.microsoft.com/office/drawing/2016/5/14/chartex" xmlns:cx7="http://schemas.microsoft.com/office/drawing/2016/5/13/chartex" xmlns:cx6="http://schemas.microsoft.com/office/drawing/2016/5/12/chartex" xmlns:cx5="http://schemas.microsoft.com/office/drawing/2016/5/11/chartex" xmlns:cx4="http://schemas.microsoft.com/office/drawing/2016/5/10/chartex" xmlns:cx3="http://schemas.microsoft.com/office/drawing/2016/5/9/chartex" xmlns:cx2="http://schemas.microsoft.com/office/drawing/2015/10/21/chartex" xmlns:cx1="http://schemas.microsoft.com/office/drawing/2015/9/8/chartex" xmlns:cx="http://schemas.microsoft.com/office/drawing/2014/chartex" xmlns:wpc="http://schemas.microsoft.com/office/word/2010/wordprocessingCanvas">
                <a:noFill/>
              </a14:hiddenFill>
            </a:ext>
          </a:extLst>
        </p:spPr>
      </p:cxnSp>
      <p:pic>
        <p:nvPicPr>
          <p:cNvPr id="23" name="Picture 22">
            <a:extLst>
              <a:ext uri="{FF2B5EF4-FFF2-40B4-BE49-F238E27FC236}">
                <a16:creationId xmlns:a16="http://schemas.microsoft.com/office/drawing/2014/main" id="{1F784B83-2294-B343-A8C0-71783C2D0BC1}"/>
              </a:ext>
            </a:extLst>
          </p:cNvPr>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838200" y="6340789"/>
            <a:ext cx="1247528" cy="276997"/>
          </a:xfrm>
          <a:prstGeom prst="rect">
            <a:avLst/>
          </a:prstGeom>
          <a:noFill/>
          <a:ln>
            <a:noFill/>
          </a:ln>
        </p:spPr>
      </p:pic>
      <p:sp>
        <p:nvSpPr>
          <p:cNvPr id="24" name="TextBox 23">
            <a:extLst>
              <a:ext uri="{FF2B5EF4-FFF2-40B4-BE49-F238E27FC236}">
                <a16:creationId xmlns:a16="http://schemas.microsoft.com/office/drawing/2014/main" id="{49704707-3793-6C48-A807-6E01B865737B}"/>
              </a:ext>
            </a:extLst>
          </p:cNvPr>
          <p:cNvSpPr txBox="1"/>
          <p:nvPr userDrawn="1"/>
        </p:nvSpPr>
        <p:spPr>
          <a:xfrm>
            <a:off x="4038600" y="6344918"/>
            <a:ext cx="4114800" cy="276999"/>
          </a:xfrm>
          <a:prstGeom prst="rect">
            <a:avLst/>
          </a:prstGeom>
          <a:noFill/>
        </p:spPr>
        <p:txBody>
          <a:bodyPr wrap="square" rtlCol="0">
            <a:spAutoFit/>
          </a:bodyPr>
          <a:lstStyle/>
          <a:p>
            <a:pPr algn="ctr"/>
            <a:r>
              <a:rPr lang="en-US" sz="1200" i="1" dirty="0">
                <a:solidFill>
                  <a:schemeClr val="bg1">
                    <a:lumMod val="50000"/>
                  </a:schemeClr>
                </a:solidFill>
                <a:latin typeface="Arial" panose="020B0604020202020204" pitchFamily="34" charset="0"/>
                <a:cs typeface="Arial" panose="020B0604020202020204" pitchFamily="34" charset="0"/>
              </a:rPr>
              <a:t>Asking Scientific Questions</a:t>
            </a:r>
          </a:p>
        </p:txBody>
      </p:sp>
      <p:sp>
        <p:nvSpPr>
          <p:cNvPr id="26" name="TextBox 25">
            <a:extLst>
              <a:ext uri="{FF2B5EF4-FFF2-40B4-BE49-F238E27FC236}">
                <a16:creationId xmlns:a16="http://schemas.microsoft.com/office/drawing/2014/main" id="{30A9AF57-3FF0-2346-B289-3DCD05C06D46}"/>
              </a:ext>
            </a:extLst>
          </p:cNvPr>
          <p:cNvSpPr txBox="1"/>
          <p:nvPr userDrawn="1"/>
        </p:nvSpPr>
        <p:spPr>
          <a:xfrm>
            <a:off x="8726391" y="6342873"/>
            <a:ext cx="2743200" cy="276999"/>
          </a:xfrm>
          <a:prstGeom prst="rect">
            <a:avLst/>
          </a:prstGeom>
          <a:noFill/>
        </p:spPr>
        <p:txBody>
          <a:bodyPr wrap="square" rtlCol="0">
            <a:spAutoFit/>
          </a:bodyPr>
          <a:lstStyle/>
          <a:p>
            <a:pPr algn="r"/>
            <a:r>
              <a:rPr lang="en-US" sz="1200" dirty="0">
                <a:solidFill>
                  <a:schemeClr val="bg1">
                    <a:lumMod val="50000"/>
                  </a:schemeClr>
                </a:solidFill>
                <a:latin typeface="Arial" panose="020B0604020202020204" pitchFamily="34" charset="0"/>
                <a:cs typeface="Arial" panose="020B0604020202020204" pitchFamily="34" charset="0"/>
              </a:rPr>
              <a:t>Slide </a:t>
            </a:r>
            <a:fld id="{A090A37F-3119-6A4D-AE1C-1AA5B067C49E}" type="slidenum">
              <a:rPr lang="en-US" sz="1200" smtClean="0">
                <a:solidFill>
                  <a:schemeClr val="bg1">
                    <a:lumMod val="50000"/>
                  </a:schemeClr>
                </a:solidFill>
                <a:latin typeface="Arial" panose="020B0604020202020204" pitchFamily="34" charset="0"/>
                <a:cs typeface="Arial" panose="020B0604020202020204" pitchFamily="34" charset="0"/>
              </a:rPr>
              <a:t>‹#›</a:t>
            </a:fld>
            <a:r>
              <a:rPr lang="en-US" sz="1200" dirty="0">
                <a:solidFill>
                  <a:schemeClr val="bg1">
                    <a:lumMod val="50000"/>
                  </a:schemeClr>
                </a:solidFill>
                <a:latin typeface="Arial" panose="020B0604020202020204" pitchFamily="34" charset="0"/>
                <a:cs typeface="Arial" panose="020B0604020202020204" pitchFamily="34" charset="0"/>
              </a:rPr>
              <a:t> of 19</a:t>
            </a:r>
          </a:p>
        </p:txBody>
      </p:sp>
    </p:spTree>
    <p:extLst>
      <p:ext uri="{BB962C8B-B14F-4D97-AF65-F5344CB8AC3E}">
        <p14:creationId xmlns:p14="http://schemas.microsoft.com/office/powerpoint/2010/main" val="8155284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3600" b="1"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8.gif"/><Relationship Id="rId4" Type="http://schemas.openxmlformats.org/officeDocument/2006/relationships/image" Target="../media/image7.jpg"/><Relationship Id="rId9"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5400" b="1" dirty="0">
                <a:solidFill>
                  <a:schemeClr val="tx1"/>
                </a:solidFill>
                <a:latin typeface="Arial" panose="020B0604020202020204" pitchFamily="34" charset="0"/>
                <a:cs typeface="Arial" panose="020B0604020202020204" pitchFamily="34" charset="0"/>
              </a:rPr>
              <a:t>Asking Scientific Questions</a:t>
            </a:r>
          </a:p>
        </p:txBody>
      </p:sp>
      <p:sp>
        <p:nvSpPr>
          <p:cNvPr id="9" name="Subtitle 8">
            <a:extLst>
              <a:ext uri="{FF2B5EF4-FFF2-40B4-BE49-F238E27FC236}">
                <a16:creationId xmlns:a16="http://schemas.microsoft.com/office/drawing/2014/main" id="{574FB662-EA85-6048-9461-20B50695E86D}"/>
              </a:ext>
            </a:extLst>
          </p:cNvPr>
          <p:cNvSpPr>
            <a:spLocks noGrp="1"/>
          </p:cNvSpPr>
          <p:nvPr>
            <p:ph type="subTitle" idx="1"/>
          </p:nvPr>
        </p:nvSpPr>
        <p:spPr>
          <a:xfrm>
            <a:off x="914400" y="4023361"/>
            <a:ext cx="10363200" cy="886566"/>
          </a:xfrm>
        </p:spPr>
        <p:txBody>
          <a:bodyPr/>
          <a:lstStyle/>
          <a:p>
            <a:r>
              <a:rPr lang="en-US" dirty="0">
                <a:solidFill>
                  <a:schemeClr val="bg1">
                    <a:lumMod val="50000"/>
                  </a:schemeClr>
                </a:solidFill>
              </a:rPr>
              <a:t>Activity</a:t>
            </a:r>
            <a:br>
              <a:rPr lang="en-US" dirty="0">
                <a:solidFill>
                  <a:schemeClr val="bg1">
                    <a:lumMod val="50000"/>
                  </a:schemeClr>
                </a:solidFill>
              </a:rPr>
            </a:br>
            <a:r>
              <a:rPr lang="en-US" dirty="0">
                <a:solidFill>
                  <a:schemeClr val="bg1">
                    <a:lumMod val="50000"/>
                  </a:schemeClr>
                </a:solidFill>
              </a:rPr>
              <a:t>PowerPoint Slides</a:t>
            </a:r>
          </a:p>
          <a:p>
            <a:endParaRPr lang="en-US" dirty="0"/>
          </a:p>
        </p:txBody>
      </p:sp>
      <p:pic>
        <p:nvPicPr>
          <p:cNvPr id="10" name="Picture 9">
            <a:extLst>
              <a:ext uri="{FF2B5EF4-FFF2-40B4-BE49-F238E27FC236}">
                <a16:creationId xmlns:a16="http://schemas.microsoft.com/office/drawing/2014/main" id="{938E0450-F6DE-5F4E-B42C-38E2085E99DC}"/>
              </a:ext>
            </a:extLst>
          </p:cNvPr>
          <p:cNvPicPr>
            <a:picLocks noChangeAspect="1"/>
          </p:cNvPicPr>
          <p:nvPr/>
        </p:nvPicPr>
        <p:blipFill>
          <a:blip r:embed="rId3"/>
          <a:stretch>
            <a:fillRect/>
          </a:stretch>
        </p:blipFill>
        <p:spPr>
          <a:xfrm>
            <a:off x="7909809" y="5845249"/>
            <a:ext cx="3352799" cy="741535"/>
          </a:xfrm>
          <a:prstGeom prst="rect">
            <a:avLst/>
          </a:prstGeom>
        </p:spPr>
      </p:pic>
      <p:cxnSp>
        <p:nvCxnSpPr>
          <p:cNvPr id="11" name="Straight Connector 10">
            <a:extLst>
              <a:ext uri="{FF2B5EF4-FFF2-40B4-BE49-F238E27FC236}">
                <a16:creationId xmlns:a16="http://schemas.microsoft.com/office/drawing/2014/main" id="{021BCB45-3E60-FC49-B757-009DA486229C}"/>
              </a:ext>
            </a:extLst>
          </p:cNvPr>
          <p:cNvCxnSpPr>
            <a:cxnSpLocks noChangeShapeType="1"/>
          </p:cNvCxnSpPr>
          <p:nvPr/>
        </p:nvCxnSpPr>
        <p:spPr bwMode="auto">
          <a:xfrm>
            <a:off x="914400" y="3677077"/>
            <a:ext cx="10515600" cy="0"/>
          </a:xfrm>
          <a:prstGeom prst="line">
            <a:avLst/>
          </a:prstGeom>
          <a:noFill/>
          <a:ln w="9525">
            <a:solidFill>
              <a:srgbClr val="0EBC4F"/>
            </a:solidFill>
            <a:round/>
            <a:headEnd/>
            <a:tailEnd/>
          </a:ln>
          <a:effectLst>
            <a:outerShdw blurRad="63500" dist="12700" dir="5400000" algn="ctr" rotWithShape="0">
              <a:srgbClr val="BFBFBF">
                <a:alpha val="75000"/>
              </a:srgbClr>
            </a:outerShdw>
          </a:effectLst>
          <a:extLst>
            <a:ext uri="{909E8E84-426E-40dd-AFC4-6F175D3DCCD1}">
              <a14:hiddenFill xmlns:lc="http://schemas.openxmlformats.org/drawingml/2006/lockedCanvas" xmlns="" xmlns:mo="http://schemas.microsoft.com/office/mac/office/2008/main" xmlns:mv="urn:schemas-microsoft-com:mac:vml" xmlns:o="urn:schemas-microsoft-com:office:office" xmlns:v="urn:schemas-microsoft-com:vml" xmlns:w10="urn:schemas-microsoft-com:office:word" xmlns:w="http://schemas.openxmlformats.org/wordprocessingml/2006/main" xmlns:a14="http://schemas.microsoft.com/office/drawing/2010/main" xmlns:wps="http://schemas.microsoft.com/office/word/2010/wordprocessingShape" xmlns:wne="http://schemas.microsoft.com/office/word/2006/wordml" xmlns:wpi="http://schemas.microsoft.com/office/word/2010/wordprocessingInk" xmlns:wpg="http://schemas.microsoft.com/office/word/2010/wordprocessingGroup" xmlns:w16se="http://schemas.microsoft.com/office/word/2015/wordml/symex" xmlns:w16cid="http://schemas.microsoft.com/office/word/2016/wordml/cid" xmlns:w15="http://schemas.microsoft.com/office/word/2012/wordml" xmlns:w14="http://schemas.microsoft.com/office/word/2010/wordml" xmlns:wp="http://schemas.openxmlformats.org/drawingml/2006/wordprocessingDrawing" xmlns:wp14="http://schemas.microsoft.com/office/word/2010/wordprocessingDrawing" xmlns:m="http://schemas.openxmlformats.org/officeDocument/2006/math" xmlns:am3d="http://schemas.microsoft.com/office/drawing/2017/model3d" xmlns:aink="http://schemas.microsoft.com/office/drawing/2016/ink" xmlns:mc="http://schemas.openxmlformats.org/markup-compatibility/2006" xmlns:cx8="http://schemas.microsoft.com/office/drawing/2016/5/14/chartex" xmlns:cx7="http://schemas.microsoft.com/office/drawing/2016/5/13/chartex" xmlns:cx6="http://schemas.microsoft.com/office/drawing/2016/5/12/chartex" xmlns:cx5="http://schemas.microsoft.com/office/drawing/2016/5/11/chartex" xmlns:cx4="http://schemas.microsoft.com/office/drawing/2016/5/10/chartex" xmlns:cx3="http://schemas.microsoft.com/office/drawing/2016/5/9/chartex" xmlns:cx2="http://schemas.microsoft.com/office/drawing/2015/10/21/chartex" xmlns:cx1="http://schemas.microsoft.com/office/drawing/2015/9/8/chartex" xmlns:cx="http://schemas.microsoft.com/office/drawing/2014/chartex" xmlns:wpc="http://schemas.microsoft.com/office/word/2010/wordprocessingCanvas">
                <a:noFill/>
              </a14:hiddenFill>
            </a:ext>
          </a:extLst>
        </p:spPr>
      </p:cxnSp>
    </p:spTree>
    <p:extLst>
      <p:ext uri="{BB962C8B-B14F-4D97-AF65-F5344CB8AC3E}">
        <p14:creationId xmlns:p14="http://schemas.microsoft.com/office/powerpoint/2010/main" val="2327594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DD8CC-6A65-E84C-A467-0A4B5A3F047B}"/>
              </a:ext>
            </a:extLst>
          </p:cNvPr>
          <p:cNvSpPr>
            <a:spLocks noGrp="1"/>
          </p:cNvSpPr>
          <p:nvPr>
            <p:ph type="title"/>
          </p:nvPr>
        </p:nvSpPr>
        <p:spPr>
          <a:xfrm>
            <a:off x="838200" y="236533"/>
            <a:ext cx="10515600" cy="1223645"/>
          </a:xfrm>
        </p:spPr>
        <p:txBody>
          <a:bodyPr>
            <a:normAutofit/>
          </a:bodyPr>
          <a:lstStyle/>
          <a:p>
            <a:r>
              <a:rPr lang="en-US" dirty="0"/>
              <a:t>What drives the day-to-day work of scientists?</a:t>
            </a:r>
          </a:p>
        </p:txBody>
      </p:sp>
      <p:sp>
        <p:nvSpPr>
          <p:cNvPr id="3" name="Content Placeholder 2">
            <a:extLst>
              <a:ext uri="{FF2B5EF4-FFF2-40B4-BE49-F238E27FC236}">
                <a16:creationId xmlns:a16="http://schemas.microsoft.com/office/drawing/2014/main" id="{155C3B6B-4755-7A44-83D4-7A7F9D06EE1D}"/>
              </a:ext>
            </a:extLst>
          </p:cNvPr>
          <p:cNvSpPr>
            <a:spLocks noGrp="1"/>
          </p:cNvSpPr>
          <p:nvPr>
            <p:ph idx="1"/>
          </p:nvPr>
        </p:nvSpPr>
        <p:spPr>
          <a:xfrm>
            <a:off x="838200" y="1400176"/>
            <a:ext cx="10515600" cy="4776788"/>
          </a:xfrm>
        </p:spPr>
        <p:txBody>
          <a:bodyPr>
            <a:normAutofit fontScale="92500"/>
          </a:bodyPr>
          <a:lstStyle/>
          <a:p>
            <a:r>
              <a:rPr lang="en-US" sz="3200" dirty="0"/>
              <a:t>Investigating, understanding, and developing explanations for how [the earth, the universe, systems, etc.] work.</a:t>
            </a:r>
            <a:br>
              <a:rPr lang="en-US" sz="3200" dirty="0"/>
            </a:br>
            <a:endParaRPr lang="en-US" sz="3200" dirty="0"/>
          </a:p>
          <a:p>
            <a:r>
              <a:rPr lang="en-US" sz="3200" dirty="0"/>
              <a:t>Recipes are a formula or procedure for doing or attaining something.</a:t>
            </a:r>
            <a:br>
              <a:rPr lang="en-US" sz="3200" dirty="0"/>
            </a:br>
            <a:endParaRPr lang="en-US" sz="3200" dirty="0"/>
          </a:p>
          <a:p>
            <a:r>
              <a:rPr lang="en-US" sz="3200" dirty="0"/>
              <a:t>A recipe for investigation is built from a scientific question.</a:t>
            </a:r>
          </a:p>
          <a:p>
            <a:pPr marL="0" indent="0">
              <a:buNone/>
            </a:pPr>
            <a:endParaRPr lang="en-US" sz="3200" dirty="0"/>
          </a:p>
          <a:p>
            <a:pPr marL="0" indent="0">
              <a:buNone/>
            </a:pPr>
            <a:r>
              <a:rPr lang="en-US" sz="3200" dirty="0"/>
              <a:t>So how do you come up with a scientific question?</a:t>
            </a:r>
          </a:p>
        </p:txBody>
      </p:sp>
    </p:spTree>
    <p:extLst>
      <p:ext uri="{BB962C8B-B14F-4D97-AF65-F5344CB8AC3E}">
        <p14:creationId xmlns:p14="http://schemas.microsoft.com/office/powerpoint/2010/main" val="2919558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91CFF-085E-BC46-8710-7D25E4671D20}"/>
              </a:ext>
            </a:extLst>
          </p:cNvPr>
          <p:cNvSpPr>
            <a:spLocks noGrp="1"/>
          </p:cNvSpPr>
          <p:nvPr>
            <p:ph type="title"/>
          </p:nvPr>
        </p:nvSpPr>
        <p:spPr>
          <a:xfrm>
            <a:off x="838200" y="365125"/>
            <a:ext cx="10515600" cy="1841627"/>
          </a:xfrm>
        </p:spPr>
        <p:txBody>
          <a:bodyPr>
            <a:noAutofit/>
          </a:bodyPr>
          <a:lstStyle/>
          <a:p>
            <a:r>
              <a:rPr lang="en-US" dirty="0"/>
              <a:t>To come up with a scientific question, we must first understand the common elements that define what science is.</a:t>
            </a:r>
          </a:p>
        </p:txBody>
      </p:sp>
      <p:sp>
        <p:nvSpPr>
          <p:cNvPr id="3" name="Content Placeholder 2">
            <a:extLst>
              <a:ext uri="{FF2B5EF4-FFF2-40B4-BE49-F238E27FC236}">
                <a16:creationId xmlns:a16="http://schemas.microsoft.com/office/drawing/2014/main" id="{EC49653F-52CF-644B-A70E-0AE20F4ADB7F}"/>
              </a:ext>
            </a:extLst>
          </p:cNvPr>
          <p:cNvSpPr>
            <a:spLocks noGrp="1"/>
          </p:cNvSpPr>
          <p:nvPr>
            <p:ph idx="1"/>
          </p:nvPr>
        </p:nvSpPr>
        <p:spPr>
          <a:xfrm>
            <a:off x="838200" y="2804116"/>
            <a:ext cx="10515600" cy="3214307"/>
          </a:xfrm>
        </p:spPr>
        <p:txBody>
          <a:bodyPr>
            <a:normAutofit/>
          </a:bodyPr>
          <a:lstStyle/>
          <a:p>
            <a:pPr marL="0" indent="0">
              <a:buNone/>
            </a:pPr>
            <a:r>
              <a:rPr lang="en-US" sz="3200" b="1" dirty="0"/>
              <a:t>Discuss: </a:t>
            </a:r>
            <a:r>
              <a:rPr lang="en-US" sz="3200" dirty="0"/>
              <a:t>What is science?</a:t>
            </a:r>
          </a:p>
          <a:p>
            <a:endParaRPr lang="en-US" sz="3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38412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91CFF-085E-BC46-8710-7D25E4671D20}"/>
              </a:ext>
            </a:extLst>
          </p:cNvPr>
          <p:cNvSpPr>
            <a:spLocks noGrp="1"/>
          </p:cNvSpPr>
          <p:nvPr>
            <p:ph type="title"/>
          </p:nvPr>
        </p:nvSpPr>
        <p:spPr>
          <a:xfrm>
            <a:off x="838200" y="365125"/>
            <a:ext cx="10515600" cy="1841627"/>
          </a:xfrm>
        </p:spPr>
        <p:txBody>
          <a:bodyPr>
            <a:noAutofit/>
          </a:bodyPr>
          <a:lstStyle/>
          <a:p>
            <a:r>
              <a:rPr lang="en-US" dirty="0"/>
              <a:t>To come up with a scientific question, we must first understand the common elements that define what science is.</a:t>
            </a:r>
          </a:p>
        </p:txBody>
      </p:sp>
      <p:sp>
        <p:nvSpPr>
          <p:cNvPr id="3" name="Content Placeholder 2">
            <a:extLst>
              <a:ext uri="{FF2B5EF4-FFF2-40B4-BE49-F238E27FC236}">
                <a16:creationId xmlns:a16="http://schemas.microsoft.com/office/drawing/2014/main" id="{EC49653F-52CF-644B-A70E-0AE20F4ADB7F}"/>
              </a:ext>
            </a:extLst>
          </p:cNvPr>
          <p:cNvSpPr>
            <a:spLocks noGrp="1"/>
          </p:cNvSpPr>
          <p:nvPr>
            <p:ph idx="1"/>
          </p:nvPr>
        </p:nvSpPr>
        <p:spPr>
          <a:xfrm>
            <a:off x="838200" y="2804116"/>
            <a:ext cx="10515600" cy="3214307"/>
          </a:xfrm>
        </p:spPr>
        <p:txBody>
          <a:bodyPr>
            <a:normAutofit/>
          </a:bodyPr>
          <a:lstStyle/>
          <a:p>
            <a:pPr marL="0" indent="0">
              <a:buNone/>
            </a:pPr>
            <a:r>
              <a:rPr lang="en-US" sz="3200" b="1" dirty="0"/>
              <a:t>Discuss: </a:t>
            </a:r>
            <a:r>
              <a:rPr lang="en-US" sz="3200" dirty="0"/>
              <a:t>What is science?</a:t>
            </a:r>
          </a:p>
          <a:p>
            <a:endParaRPr lang="en-US" sz="3200" dirty="0">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B992EB1C-7439-3643-B5C3-4735CED54A48}"/>
              </a:ext>
            </a:extLst>
          </p:cNvPr>
          <p:cNvSpPr txBox="1"/>
          <p:nvPr/>
        </p:nvSpPr>
        <p:spPr>
          <a:xfrm>
            <a:off x="0" y="4053884"/>
            <a:ext cx="12191999" cy="1446550"/>
          </a:xfrm>
          <a:prstGeom prst="rect">
            <a:avLst/>
          </a:prstGeom>
          <a:noFill/>
        </p:spPr>
        <p:txBody>
          <a:bodyPr wrap="square" rtlCol="0">
            <a:spAutoFit/>
          </a:bodyPr>
          <a:lstStyle/>
          <a:p>
            <a:pPr algn="ctr"/>
            <a:r>
              <a:rPr lang="en-US" sz="4400" b="1" dirty="0">
                <a:latin typeface="Arial" panose="020B0604020202020204" pitchFamily="34" charset="0"/>
                <a:cs typeface="Arial" panose="020B0604020202020204" pitchFamily="34" charset="0"/>
              </a:rPr>
              <a:t>Ultimate Goal: </a:t>
            </a:r>
          </a:p>
          <a:p>
            <a:pPr algn="ctr"/>
            <a:r>
              <a:rPr lang="en-US" sz="4400" dirty="0">
                <a:latin typeface="Arial" panose="020B0604020202020204" pitchFamily="34" charset="0"/>
                <a:cs typeface="Arial" panose="020B0604020202020204" pitchFamily="34" charset="0"/>
              </a:rPr>
              <a:t>Explain the Natural World</a:t>
            </a:r>
          </a:p>
        </p:txBody>
      </p:sp>
    </p:spTree>
    <p:extLst>
      <p:ext uri="{BB962C8B-B14F-4D97-AF65-F5344CB8AC3E}">
        <p14:creationId xmlns:p14="http://schemas.microsoft.com/office/powerpoint/2010/main" val="3048477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91CFF-085E-BC46-8710-7D25E4671D20}"/>
              </a:ext>
            </a:extLst>
          </p:cNvPr>
          <p:cNvSpPr>
            <a:spLocks noGrp="1"/>
          </p:cNvSpPr>
          <p:nvPr>
            <p:ph type="title"/>
          </p:nvPr>
        </p:nvSpPr>
        <p:spPr>
          <a:xfrm>
            <a:off x="838200" y="365125"/>
            <a:ext cx="10695432" cy="1390523"/>
          </a:xfrm>
        </p:spPr>
        <p:txBody>
          <a:bodyPr>
            <a:normAutofit/>
          </a:bodyPr>
          <a:lstStyle/>
          <a:p>
            <a:pPr algn="ctr"/>
            <a:r>
              <a:rPr lang="en-US" dirty="0"/>
              <a:t>How an introductory biology book defines science:</a:t>
            </a:r>
            <a:endParaRPr lang="en-US" sz="4800" dirty="0"/>
          </a:p>
        </p:txBody>
      </p:sp>
      <p:sp>
        <p:nvSpPr>
          <p:cNvPr id="3" name="Content Placeholder 2">
            <a:extLst>
              <a:ext uri="{FF2B5EF4-FFF2-40B4-BE49-F238E27FC236}">
                <a16:creationId xmlns:a16="http://schemas.microsoft.com/office/drawing/2014/main" id="{EC49653F-52CF-644B-A70E-0AE20F4ADB7F}"/>
              </a:ext>
            </a:extLst>
          </p:cNvPr>
          <p:cNvSpPr>
            <a:spLocks noGrp="1"/>
          </p:cNvSpPr>
          <p:nvPr>
            <p:ph idx="1"/>
          </p:nvPr>
        </p:nvSpPr>
        <p:spPr>
          <a:xfrm>
            <a:off x="838200" y="1901953"/>
            <a:ext cx="10515600" cy="2512886"/>
          </a:xfrm>
        </p:spPr>
        <p:txBody>
          <a:bodyPr>
            <a:noAutofit/>
          </a:bodyPr>
          <a:lstStyle/>
          <a:p>
            <a:pPr marL="0" indent="0">
              <a:buNone/>
            </a:pPr>
            <a:r>
              <a:rPr lang="en-US" sz="3200" dirty="0"/>
              <a:t>Science is the experimental, hypothesis-driven investigation of phenomena to elucidate: </a:t>
            </a:r>
          </a:p>
          <a:p>
            <a:pPr marL="514350" indent="-514350">
              <a:buFont typeface="+mj-lt"/>
              <a:buAutoNum type="arabicPeriod"/>
            </a:pPr>
            <a:r>
              <a:rPr lang="en-US" sz="3200" dirty="0"/>
              <a:t>patterns in nature</a:t>
            </a:r>
          </a:p>
          <a:p>
            <a:pPr marL="514350" indent="-514350">
              <a:buFont typeface="+mj-lt"/>
              <a:buAutoNum type="arabicPeriod"/>
            </a:pPr>
            <a:r>
              <a:rPr lang="en-US" sz="3200" dirty="0"/>
              <a:t>the processes governing the formation, maintenance, and changing of those patterns</a:t>
            </a:r>
          </a:p>
          <a:p>
            <a:endParaRPr lang="en-US" sz="3200" dirty="0"/>
          </a:p>
          <a:p>
            <a:pPr marL="0" indent="0">
              <a:buNone/>
            </a:pPr>
            <a:endParaRPr lang="en-US" sz="3200" dirty="0"/>
          </a:p>
          <a:p>
            <a:pPr marL="0" indent="0">
              <a:buNone/>
            </a:pPr>
            <a:endParaRPr lang="en-US" sz="3200" dirty="0"/>
          </a:p>
          <a:p>
            <a:endParaRPr lang="en-US" sz="3200" dirty="0"/>
          </a:p>
        </p:txBody>
      </p:sp>
      <p:sp>
        <p:nvSpPr>
          <p:cNvPr id="6" name="Rectangle 5">
            <a:extLst>
              <a:ext uri="{FF2B5EF4-FFF2-40B4-BE49-F238E27FC236}">
                <a16:creationId xmlns:a16="http://schemas.microsoft.com/office/drawing/2014/main" id="{7E4C0950-D50F-454E-BD5A-504FD88919B6}"/>
              </a:ext>
            </a:extLst>
          </p:cNvPr>
          <p:cNvSpPr/>
          <p:nvPr/>
        </p:nvSpPr>
        <p:spPr>
          <a:xfrm>
            <a:off x="838199" y="4889760"/>
            <a:ext cx="10515599" cy="584775"/>
          </a:xfrm>
          <a:prstGeom prst="rect">
            <a:avLst/>
          </a:prstGeom>
        </p:spPr>
        <p:txBody>
          <a:bodyPr wrap="square">
            <a:spAutoFit/>
          </a:bodyPr>
          <a:lstStyle/>
          <a:p>
            <a:r>
              <a:rPr lang="en-US" sz="3200" dirty="0">
                <a:latin typeface="Arial" panose="020B0604020202020204" pitchFamily="34" charset="0"/>
                <a:cs typeface="Arial" panose="020B0604020202020204" pitchFamily="34" charset="0"/>
              </a:rPr>
              <a:t>Where does cause and effect fit in? </a:t>
            </a:r>
          </a:p>
        </p:txBody>
      </p:sp>
    </p:spTree>
    <p:extLst>
      <p:ext uri="{BB962C8B-B14F-4D97-AF65-F5344CB8AC3E}">
        <p14:creationId xmlns:p14="http://schemas.microsoft.com/office/powerpoint/2010/main" val="873164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DD8E8-C963-4947-AA73-F94AC2D514F4}"/>
              </a:ext>
            </a:extLst>
          </p:cNvPr>
          <p:cNvSpPr>
            <a:spLocks noGrp="1"/>
          </p:cNvSpPr>
          <p:nvPr>
            <p:ph type="title"/>
          </p:nvPr>
        </p:nvSpPr>
        <p:spPr>
          <a:xfrm>
            <a:off x="838200" y="584898"/>
            <a:ext cx="10515600" cy="1390523"/>
          </a:xfrm>
        </p:spPr>
        <p:txBody>
          <a:bodyPr>
            <a:noAutofit/>
          </a:bodyPr>
          <a:lstStyle/>
          <a:p>
            <a:r>
              <a:rPr lang="en-US" dirty="0"/>
              <a:t>Explaining the natural world means using cause and effect!</a:t>
            </a:r>
          </a:p>
        </p:txBody>
      </p:sp>
      <p:sp>
        <p:nvSpPr>
          <p:cNvPr id="3" name="Content Placeholder 2">
            <a:extLst>
              <a:ext uri="{FF2B5EF4-FFF2-40B4-BE49-F238E27FC236}">
                <a16:creationId xmlns:a16="http://schemas.microsoft.com/office/drawing/2014/main" id="{7CA28D3B-14E2-E94B-ADC5-3E7EAC47822C}"/>
              </a:ext>
            </a:extLst>
          </p:cNvPr>
          <p:cNvSpPr>
            <a:spLocks noGrp="1"/>
          </p:cNvSpPr>
          <p:nvPr>
            <p:ph idx="1"/>
          </p:nvPr>
        </p:nvSpPr>
        <p:spPr/>
        <p:txBody>
          <a:bodyPr anchor="ctr"/>
          <a:lstStyle/>
          <a:p>
            <a:pPr marL="0" indent="0">
              <a:buNone/>
            </a:pPr>
            <a:r>
              <a:rPr lang="en-US" sz="3200" dirty="0"/>
              <a:t>Answering questions about cause and effect has led to most of the powerful insights offered in science.</a:t>
            </a:r>
          </a:p>
          <a:p>
            <a:endParaRPr lang="en-US" dirty="0"/>
          </a:p>
        </p:txBody>
      </p:sp>
    </p:spTree>
    <p:extLst>
      <p:ext uri="{BB962C8B-B14F-4D97-AF65-F5344CB8AC3E}">
        <p14:creationId xmlns:p14="http://schemas.microsoft.com/office/powerpoint/2010/main" val="42720729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522B79-9AC4-6445-B204-1C76CD02EB76}"/>
              </a:ext>
            </a:extLst>
          </p:cNvPr>
          <p:cNvSpPr>
            <a:spLocks noGrp="1"/>
          </p:cNvSpPr>
          <p:nvPr>
            <p:ph idx="1"/>
          </p:nvPr>
        </p:nvSpPr>
        <p:spPr>
          <a:xfrm>
            <a:off x="838200" y="0"/>
            <a:ext cx="10515600" cy="6176963"/>
          </a:xfrm>
        </p:spPr>
        <p:txBody>
          <a:bodyPr anchor="ctr">
            <a:normAutofit/>
          </a:bodyPr>
          <a:lstStyle/>
          <a:p>
            <a:pPr marL="0" indent="0">
              <a:buNone/>
            </a:pPr>
            <a:r>
              <a:rPr lang="en-US" sz="3200" dirty="0"/>
              <a:t>Cause and effect are such important ingredients that we have come up with different names for them in different fields of study, but they are all synonyms and mean cause and effect. </a:t>
            </a:r>
          </a:p>
        </p:txBody>
      </p:sp>
    </p:spTree>
    <p:extLst>
      <p:ext uri="{BB962C8B-B14F-4D97-AF65-F5344CB8AC3E}">
        <p14:creationId xmlns:p14="http://schemas.microsoft.com/office/powerpoint/2010/main" val="3435436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AC7BD-8F49-BC4F-B485-3F61A387C5BF}"/>
              </a:ext>
            </a:extLst>
          </p:cNvPr>
          <p:cNvSpPr>
            <a:spLocks noGrp="1"/>
          </p:cNvSpPr>
          <p:nvPr>
            <p:ph type="title"/>
          </p:nvPr>
        </p:nvSpPr>
        <p:spPr>
          <a:xfrm>
            <a:off x="838200" y="365125"/>
            <a:ext cx="10515600" cy="1963547"/>
          </a:xfrm>
        </p:spPr>
        <p:txBody>
          <a:bodyPr>
            <a:normAutofit fontScale="90000"/>
          </a:bodyPr>
          <a:lstStyle/>
          <a:p>
            <a:r>
              <a:rPr lang="en-US" dirty="0"/>
              <a:t>Let’s demystify scientific jargon with a synonym game so you can reduce intimidation and let your brain start being creative. </a:t>
            </a:r>
            <a:br>
              <a:rPr lang="en-US" dirty="0"/>
            </a:br>
            <a:endParaRPr lang="en-US" dirty="0"/>
          </a:p>
        </p:txBody>
      </p:sp>
      <p:graphicFrame>
        <p:nvGraphicFramePr>
          <p:cNvPr id="4" name="Table 3">
            <a:extLst>
              <a:ext uri="{FF2B5EF4-FFF2-40B4-BE49-F238E27FC236}">
                <a16:creationId xmlns:a16="http://schemas.microsoft.com/office/drawing/2014/main" id="{62B5BACB-32A4-344C-BC92-5A0FE4AF3EC8}"/>
              </a:ext>
            </a:extLst>
          </p:cNvPr>
          <p:cNvGraphicFramePr>
            <a:graphicFrameLocks noGrp="1"/>
          </p:cNvGraphicFramePr>
          <p:nvPr>
            <p:extLst>
              <p:ext uri="{D42A27DB-BD31-4B8C-83A1-F6EECF244321}">
                <p14:modId xmlns:p14="http://schemas.microsoft.com/office/powerpoint/2010/main" val="2282088789"/>
              </p:ext>
            </p:extLst>
          </p:nvPr>
        </p:nvGraphicFramePr>
        <p:xfrm>
          <a:off x="1722658" y="2131928"/>
          <a:ext cx="8735209" cy="3864762"/>
        </p:xfrm>
        <a:graphic>
          <a:graphicData uri="http://schemas.openxmlformats.org/drawingml/2006/table">
            <a:tbl>
              <a:tblPr firstRow="1" firstCol="1" bandRow="1">
                <a:tableStyleId>{7E9639D4-E3E2-4D34-9284-5A2195B3D0D7}</a:tableStyleId>
              </a:tblPr>
              <a:tblGrid>
                <a:gridCol w="3145131">
                  <a:extLst>
                    <a:ext uri="{9D8B030D-6E8A-4147-A177-3AD203B41FA5}">
                      <a16:colId xmlns:a16="http://schemas.microsoft.com/office/drawing/2014/main" val="1651561455"/>
                    </a:ext>
                  </a:extLst>
                </a:gridCol>
                <a:gridCol w="2166671">
                  <a:extLst>
                    <a:ext uri="{9D8B030D-6E8A-4147-A177-3AD203B41FA5}">
                      <a16:colId xmlns:a16="http://schemas.microsoft.com/office/drawing/2014/main" val="2394217735"/>
                    </a:ext>
                  </a:extLst>
                </a:gridCol>
                <a:gridCol w="3423407">
                  <a:extLst>
                    <a:ext uri="{9D8B030D-6E8A-4147-A177-3AD203B41FA5}">
                      <a16:colId xmlns:a16="http://schemas.microsoft.com/office/drawing/2014/main" val="671545614"/>
                    </a:ext>
                  </a:extLst>
                </a:gridCol>
              </a:tblGrid>
              <a:tr h="374290">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Cause</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Effect</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6883087"/>
                  </a:ext>
                </a:extLst>
              </a:tr>
              <a:tr h="37429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44241371"/>
                  </a:ext>
                </a:extLst>
              </a:tr>
              <a:tr h="374290">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2943150"/>
                  </a:ext>
                </a:extLst>
              </a:tr>
              <a:tr h="374290">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93818201"/>
                  </a:ext>
                </a:extLst>
              </a:tr>
              <a:tr h="374290">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1036964"/>
                  </a:ext>
                </a:extLst>
              </a:tr>
              <a:tr h="374290">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912637"/>
                  </a:ext>
                </a:extLst>
              </a:tr>
              <a:tr h="374290">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2294364"/>
                  </a:ext>
                </a:extLst>
              </a:tr>
              <a:tr h="374290">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0283040"/>
                  </a:ext>
                </a:extLst>
              </a:tr>
              <a:tr h="374290">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07000"/>
                        </a:lnSpc>
                        <a:spcAft>
                          <a:spcPts val="800"/>
                        </a:spcAft>
                      </a:pPr>
                      <a:endParaRPr lang="en-US" sz="2800" b="0" i="0" dirty="0">
                        <a:effectLst/>
                        <a:latin typeface="Calibri" panose="020F0502020204030204" pitchFamily="34" charset="0"/>
                        <a:ea typeface="Helvetica Neue Regular" panose="02000503000000020004" pitchFamily="2" charset="0"/>
                        <a:cs typeface="Calibri" panose="020F0502020204030204" pitchFamily="34"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1821289"/>
                  </a:ext>
                </a:extLst>
              </a:tr>
            </a:tbl>
          </a:graphicData>
        </a:graphic>
      </p:graphicFrame>
    </p:spTree>
    <p:extLst>
      <p:ext uri="{BB962C8B-B14F-4D97-AF65-F5344CB8AC3E}">
        <p14:creationId xmlns:p14="http://schemas.microsoft.com/office/powerpoint/2010/main" val="23383895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48869B0-DAF7-C44D-A348-840AC77DCF68}"/>
              </a:ext>
            </a:extLst>
          </p:cNvPr>
          <p:cNvGraphicFramePr>
            <a:graphicFrameLocks noGrp="1"/>
          </p:cNvGraphicFramePr>
          <p:nvPr>
            <p:extLst>
              <p:ext uri="{D42A27DB-BD31-4B8C-83A1-F6EECF244321}">
                <p14:modId xmlns:p14="http://schemas.microsoft.com/office/powerpoint/2010/main" val="1925215665"/>
              </p:ext>
            </p:extLst>
          </p:nvPr>
        </p:nvGraphicFramePr>
        <p:xfrm>
          <a:off x="1082040" y="691769"/>
          <a:ext cx="9963912" cy="5097902"/>
        </p:xfrm>
        <a:graphic>
          <a:graphicData uri="http://schemas.openxmlformats.org/drawingml/2006/table">
            <a:tbl>
              <a:tblPr firstRow="1" firstCol="1" bandRow="1">
                <a:tableStyleId>{7E9639D4-E3E2-4D34-9284-5A2195B3D0D7}</a:tableStyleId>
              </a:tblPr>
              <a:tblGrid>
                <a:gridCol w="3505997">
                  <a:extLst>
                    <a:ext uri="{9D8B030D-6E8A-4147-A177-3AD203B41FA5}">
                      <a16:colId xmlns:a16="http://schemas.microsoft.com/office/drawing/2014/main" val="659353493"/>
                    </a:ext>
                  </a:extLst>
                </a:gridCol>
                <a:gridCol w="3043708">
                  <a:extLst>
                    <a:ext uri="{9D8B030D-6E8A-4147-A177-3AD203B41FA5}">
                      <a16:colId xmlns:a16="http://schemas.microsoft.com/office/drawing/2014/main" val="1546372958"/>
                    </a:ext>
                  </a:extLst>
                </a:gridCol>
                <a:gridCol w="3414207">
                  <a:extLst>
                    <a:ext uri="{9D8B030D-6E8A-4147-A177-3AD203B41FA5}">
                      <a16:colId xmlns:a16="http://schemas.microsoft.com/office/drawing/2014/main" val="1912189371"/>
                    </a:ext>
                  </a:extLst>
                </a:gridCol>
              </a:tblGrid>
              <a:tr h="477078">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Cause</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Effect</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0396325"/>
                  </a:ext>
                </a:extLst>
              </a:tr>
              <a:tr h="422608">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600" b="0" i="0" dirty="0">
                          <a:effectLst/>
                          <a:latin typeface="Arial" panose="020B0604020202020204" pitchFamily="34" charset="0"/>
                          <a:cs typeface="Arial" panose="020B0604020202020204" pitchFamily="34" charset="0"/>
                        </a:rPr>
                        <a:t>independent variable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dependent variable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736917"/>
                  </a:ext>
                </a:extLst>
              </a:tr>
              <a:tr h="422608">
                <a:tc>
                  <a:txBody>
                    <a:bodyPr/>
                    <a:lstStyle/>
                    <a:p>
                      <a:pPr algn="ctr">
                        <a:lnSpc>
                          <a:spcPct val="107000"/>
                        </a:lnSpc>
                        <a:spcAft>
                          <a:spcPts val="800"/>
                        </a:spcAft>
                      </a:pPr>
                      <a:r>
                        <a:rPr lang="en-US" sz="2600" b="0" i="1" dirty="0">
                          <a:effectLst/>
                          <a:latin typeface="Arial" panose="020B0604020202020204" pitchFamily="34" charset="0"/>
                          <a:cs typeface="Arial" panose="020B0604020202020204" pitchFamily="34" charset="0"/>
                        </a:rPr>
                        <a:t>x</a:t>
                      </a:r>
                      <a:endParaRPr lang="en-US" sz="2600" b="0" i="1"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1" dirty="0">
                          <a:effectLst/>
                          <a:latin typeface="Arial" panose="020B0604020202020204" pitchFamily="34" charset="0"/>
                          <a:cs typeface="Arial" panose="020B0604020202020204" pitchFamily="34" charset="0"/>
                        </a:rPr>
                        <a:t>y</a:t>
                      </a:r>
                      <a:endParaRPr lang="en-US" sz="2600" b="0" i="1"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6935365"/>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driver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responding variable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44893"/>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generator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1" dirty="0">
                          <a:effectLst/>
                          <a:latin typeface="Arial" panose="020B0604020202020204" pitchFamily="34" charset="0"/>
                          <a:cs typeface="Arial" panose="020B0604020202020204" pitchFamily="34" charset="0"/>
                        </a:rPr>
                        <a:t>f</a:t>
                      </a:r>
                      <a:r>
                        <a:rPr lang="en-US" sz="2600" b="0" i="0" dirty="0">
                          <a:effectLst/>
                          <a:latin typeface="Arial" panose="020B0604020202020204" pitchFamily="34" charset="0"/>
                          <a:cs typeface="Arial" panose="020B0604020202020204" pitchFamily="34" charset="0"/>
                        </a:rPr>
                        <a:t>(</a:t>
                      </a:r>
                      <a:r>
                        <a:rPr lang="en-US" sz="2600" b="0" i="1" dirty="0">
                          <a:effectLst/>
                          <a:latin typeface="Arial" panose="020B0604020202020204" pitchFamily="34" charset="0"/>
                          <a:cs typeface="Arial" panose="020B0604020202020204" pitchFamily="34" charset="0"/>
                        </a:rPr>
                        <a:t>x</a:t>
                      </a:r>
                      <a:r>
                        <a:rPr lang="en-US" sz="2600" b="0" i="0" dirty="0">
                          <a:effectLst/>
                          <a:latin typeface="Arial" panose="020B0604020202020204" pitchFamily="34" charset="0"/>
                          <a:cs typeface="Arial" panose="020B0604020202020204" pitchFamily="34" charset="0"/>
                        </a:rPr>
                        <a:t>)</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47419929"/>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process</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pattern</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461238"/>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agent</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2131198"/>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force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2480859"/>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factor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448603"/>
                  </a:ext>
                </a:extLst>
              </a:tr>
              <a:tr h="413320">
                <a:tc>
                  <a:txBody>
                    <a:bodyPr/>
                    <a:lstStyle/>
                    <a:p>
                      <a:pPr algn="ctr">
                        <a:spcAft>
                          <a:spcPts val="0"/>
                        </a:spcAft>
                      </a:pPr>
                      <a:r>
                        <a:rPr lang="en-US" sz="2600" b="0" i="0" dirty="0">
                          <a:effectLst/>
                          <a:latin typeface="Arial" panose="020B0604020202020204" pitchFamily="34" charset="0"/>
                          <a:cs typeface="Arial" panose="020B0604020202020204" pitchFamily="34" charset="0"/>
                        </a:rPr>
                        <a:t>actor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7788992"/>
                  </a:ext>
                </a:extLst>
              </a:tr>
              <a:tr h="413320">
                <a:tc>
                  <a:txBody>
                    <a:bodyPr/>
                    <a:lstStyle/>
                    <a:p>
                      <a:pPr algn="ctr">
                        <a:spcAft>
                          <a:spcPts val="0"/>
                        </a:spcAft>
                      </a:pPr>
                      <a:r>
                        <a:rPr lang="en-US" sz="2600" b="0" i="0" dirty="0">
                          <a:effectLst/>
                          <a:latin typeface="Arial" panose="020B0604020202020204" pitchFamily="34" charset="0"/>
                          <a:cs typeface="Arial" panose="020B0604020202020204" pitchFamily="34" charset="0"/>
                        </a:rPr>
                        <a:t>source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7536413"/>
                  </a:ext>
                </a:extLst>
              </a:tr>
              <a:tr h="413320">
                <a:tc>
                  <a:txBody>
                    <a:bodyPr/>
                    <a:lstStyle/>
                    <a:p>
                      <a:pPr algn="ctr">
                        <a:spcAft>
                          <a:spcPts val="0"/>
                        </a:spcAft>
                      </a:pPr>
                      <a:r>
                        <a:rPr lang="en-US" sz="2600" b="0" i="0" dirty="0">
                          <a:effectLst/>
                          <a:latin typeface="Arial" panose="020B0604020202020204" pitchFamily="34" charset="0"/>
                          <a:cs typeface="Arial" panose="020B0604020202020204" pitchFamily="34" charset="0"/>
                        </a:rPr>
                        <a:t>basis</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0793049"/>
                  </a:ext>
                </a:extLst>
              </a:tr>
            </a:tbl>
          </a:graphicData>
        </a:graphic>
      </p:graphicFrame>
    </p:spTree>
    <p:extLst>
      <p:ext uri="{BB962C8B-B14F-4D97-AF65-F5344CB8AC3E}">
        <p14:creationId xmlns:p14="http://schemas.microsoft.com/office/powerpoint/2010/main" val="32145204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F8378-4DD6-704D-AD29-F69E3324E7C2}"/>
              </a:ext>
            </a:extLst>
          </p:cNvPr>
          <p:cNvSpPr>
            <a:spLocks noGrp="1"/>
          </p:cNvSpPr>
          <p:nvPr>
            <p:ph type="title"/>
          </p:nvPr>
        </p:nvSpPr>
        <p:spPr>
          <a:xfrm>
            <a:off x="838200" y="365125"/>
            <a:ext cx="10515600" cy="1841627"/>
          </a:xfrm>
        </p:spPr>
        <p:txBody>
          <a:bodyPr>
            <a:noAutofit/>
          </a:bodyPr>
          <a:lstStyle/>
          <a:p>
            <a:r>
              <a:rPr lang="en-US" dirty="0"/>
              <a:t>Remember English grammar? What kind of words are cause and effect?</a:t>
            </a:r>
          </a:p>
        </p:txBody>
      </p:sp>
      <p:sp>
        <p:nvSpPr>
          <p:cNvPr id="3" name="Content Placeholder 2">
            <a:extLst>
              <a:ext uri="{FF2B5EF4-FFF2-40B4-BE49-F238E27FC236}">
                <a16:creationId xmlns:a16="http://schemas.microsoft.com/office/drawing/2014/main" id="{5699F6E9-9AA4-CC4C-B4C7-38C1A9DE7070}"/>
              </a:ext>
            </a:extLst>
          </p:cNvPr>
          <p:cNvSpPr>
            <a:spLocks noGrp="1"/>
          </p:cNvSpPr>
          <p:nvPr>
            <p:ph idx="1"/>
          </p:nvPr>
        </p:nvSpPr>
        <p:spPr>
          <a:xfrm>
            <a:off x="838200" y="1780032"/>
            <a:ext cx="10515600" cy="4396931"/>
          </a:xfrm>
        </p:spPr>
        <p:txBody>
          <a:bodyPr anchor="ctr">
            <a:normAutofit/>
          </a:bodyPr>
          <a:lstStyle/>
          <a:p>
            <a:pPr marL="0" indent="0" algn="ctr">
              <a:buNone/>
            </a:pPr>
            <a:r>
              <a:rPr lang="en-US" sz="3200" dirty="0"/>
              <a:t>Subject and Object</a:t>
            </a:r>
          </a:p>
        </p:txBody>
      </p:sp>
    </p:spTree>
    <p:extLst>
      <p:ext uri="{BB962C8B-B14F-4D97-AF65-F5344CB8AC3E}">
        <p14:creationId xmlns:p14="http://schemas.microsoft.com/office/powerpoint/2010/main" val="211643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70FBB-FBA4-D249-9F93-2D37FBC955F9}"/>
              </a:ext>
            </a:extLst>
          </p:cNvPr>
          <p:cNvSpPr>
            <a:spLocks noGrp="1"/>
          </p:cNvSpPr>
          <p:nvPr>
            <p:ph type="title"/>
          </p:nvPr>
        </p:nvSpPr>
        <p:spPr/>
        <p:txBody>
          <a:bodyPr>
            <a:normAutofit/>
          </a:bodyPr>
          <a:lstStyle/>
          <a:p>
            <a:r>
              <a:rPr lang="en-US" dirty="0"/>
              <a:t>What type of word connects subjects to direct objects in a sentence?</a:t>
            </a:r>
          </a:p>
        </p:txBody>
      </p:sp>
      <p:sp>
        <p:nvSpPr>
          <p:cNvPr id="4" name="Content Placeholder 2">
            <a:extLst>
              <a:ext uri="{FF2B5EF4-FFF2-40B4-BE49-F238E27FC236}">
                <a16:creationId xmlns:a16="http://schemas.microsoft.com/office/drawing/2014/main" id="{E7E040D2-875E-9C47-A54C-B56F11A9A5D0}"/>
              </a:ext>
            </a:extLst>
          </p:cNvPr>
          <p:cNvSpPr txBox="1">
            <a:spLocks/>
          </p:cNvSpPr>
          <p:nvPr/>
        </p:nvSpPr>
        <p:spPr>
          <a:xfrm>
            <a:off x="838200" y="1858617"/>
            <a:ext cx="10515600" cy="40719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3200" dirty="0">
                <a:latin typeface="Arial" panose="020B0604020202020204" pitchFamily="34" charset="0"/>
                <a:cs typeface="Arial" panose="020B0604020202020204" pitchFamily="34" charset="0"/>
              </a:rPr>
              <a:t>Verb</a:t>
            </a:r>
            <a:br>
              <a:rPr lang="en-US" sz="3200" dirty="0">
                <a:latin typeface="Arial" panose="020B0604020202020204" pitchFamily="34" charset="0"/>
                <a:cs typeface="Arial" panose="020B0604020202020204" pitchFamily="34" charset="0"/>
              </a:rPr>
            </a:br>
            <a:endParaRPr lang="en-US" sz="3200" dirty="0">
              <a:latin typeface="Arial" panose="020B0604020202020204" pitchFamily="34" charset="0"/>
              <a:cs typeface="Arial" panose="020B0604020202020204" pitchFamily="34" charset="0"/>
            </a:endParaRPr>
          </a:p>
          <a:p>
            <a:pPr marL="0" indent="0">
              <a:buNone/>
            </a:pPr>
            <a:r>
              <a:rPr lang="en-US" sz="3200" dirty="0">
                <a:latin typeface="Arial" panose="020B0604020202020204" pitchFamily="34" charset="0"/>
                <a:cs typeface="Arial" panose="020B0604020202020204" pitchFamily="34" charset="0"/>
              </a:rPr>
              <a:t>So let’s think of some verbs that can link all those synonyms for cause and effect.</a:t>
            </a:r>
          </a:p>
          <a:p>
            <a:pPr marL="0" indent="0">
              <a:buNone/>
            </a:pPr>
            <a:endParaRPr lang="en-US" sz="3200" dirty="0">
              <a:latin typeface="Arial" panose="020B0604020202020204" pitchFamily="34" charset="0"/>
              <a:cs typeface="Arial" panose="020B0604020202020204" pitchFamily="34" charset="0"/>
            </a:endParaRPr>
          </a:p>
          <a:p>
            <a:pPr marL="0" indent="0">
              <a:buNone/>
            </a:pPr>
            <a:r>
              <a:rPr lang="en-US" sz="3200" dirty="0">
                <a:latin typeface="Arial" panose="020B0604020202020204" pitchFamily="34" charset="0"/>
                <a:cs typeface="Arial" panose="020B0604020202020204" pitchFamily="34" charset="0"/>
              </a:rPr>
              <a:t>This is a third ingredient in your question.</a:t>
            </a:r>
            <a:br>
              <a:rPr lang="en-US" sz="3200" dirty="0">
                <a:latin typeface="Arial" panose="020B0604020202020204" pitchFamily="34" charset="0"/>
                <a:cs typeface="Arial" panose="020B0604020202020204" pitchFamily="34" charset="0"/>
              </a:rPr>
            </a:br>
            <a:endParaRPr lang="en-US" sz="3200" dirty="0">
              <a:latin typeface="Arial" panose="020B0604020202020204" pitchFamily="34" charset="0"/>
              <a:cs typeface="Arial" panose="020B0604020202020204" pitchFamily="34" charset="0"/>
            </a:endParaRPr>
          </a:p>
          <a:p>
            <a:pPr marL="0" indent="0">
              <a:buNone/>
            </a:pPr>
            <a:r>
              <a:rPr lang="en-US" sz="3200" dirty="0">
                <a:latin typeface="Arial" panose="020B0604020202020204" pitchFamily="34" charset="0"/>
                <a:cs typeface="Arial" panose="020B0604020202020204" pitchFamily="34" charset="0"/>
              </a:rPr>
              <a:t>Cause, effect, and a verb!</a:t>
            </a:r>
          </a:p>
          <a:p>
            <a:pPr marL="0" indent="0">
              <a:buNone/>
            </a:pPr>
            <a:endParaRPr lang="en-US" sz="3200" dirty="0">
              <a:latin typeface="Arial" panose="020B0604020202020204" pitchFamily="34" charset="0"/>
              <a:cs typeface="Arial" panose="020B0604020202020204" pitchFamily="34" charset="0"/>
            </a:endParaRPr>
          </a:p>
          <a:p>
            <a:pPr marL="0" indent="0">
              <a:buNone/>
            </a:pPr>
            <a:endParaRPr lang="en-US" sz="3200" dirty="0">
              <a:latin typeface="Arial" panose="020B0604020202020204" pitchFamily="34" charset="0"/>
              <a:cs typeface="Arial" panose="020B0604020202020204" pitchFamily="34" charset="0"/>
            </a:endParaRPr>
          </a:p>
          <a:p>
            <a:pPr marL="0" indent="0">
              <a:buNone/>
            </a:pPr>
            <a:endParaRPr lang="en-US" sz="3200" dirty="0">
              <a:latin typeface="Arial" panose="020B0604020202020204" pitchFamily="34" charset="0"/>
              <a:cs typeface="Arial" panose="020B0604020202020204" pitchFamily="34" charset="0"/>
            </a:endParaRPr>
          </a:p>
          <a:p>
            <a:pPr marL="0" indent="0">
              <a:buNone/>
            </a:pPr>
            <a:endParaRPr lang="en-US" sz="3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832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48869B0-DAF7-C44D-A348-840AC77DCF68}"/>
              </a:ext>
            </a:extLst>
          </p:cNvPr>
          <p:cNvGraphicFramePr>
            <a:graphicFrameLocks noGrp="1"/>
          </p:cNvGraphicFramePr>
          <p:nvPr>
            <p:extLst>
              <p:ext uri="{D42A27DB-BD31-4B8C-83A1-F6EECF244321}">
                <p14:modId xmlns:p14="http://schemas.microsoft.com/office/powerpoint/2010/main" val="1819447464"/>
              </p:ext>
            </p:extLst>
          </p:nvPr>
        </p:nvGraphicFramePr>
        <p:xfrm>
          <a:off x="1082040" y="691769"/>
          <a:ext cx="9963912" cy="5097902"/>
        </p:xfrm>
        <a:graphic>
          <a:graphicData uri="http://schemas.openxmlformats.org/drawingml/2006/table">
            <a:tbl>
              <a:tblPr firstRow="1" firstCol="1" bandRow="1">
                <a:tableStyleId>{7E9639D4-E3E2-4D34-9284-5A2195B3D0D7}</a:tableStyleId>
              </a:tblPr>
              <a:tblGrid>
                <a:gridCol w="3505997">
                  <a:extLst>
                    <a:ext uri="{9D8B030D-6E8A-4147-A177-3AD203B41FA5}">
                      <a16:colId xmlns:a16="http://schemas.microsoft.com/office/drawing/2014/main" val="659353493"/>
                    </a:ext>
                  </a:extLst>
                </a:gridCol>
                <a:gridCol w="3043708">
                  <a:extLst>
                    <a:ext uri="{9D8B030D-6E8A-4147-A177-3AD203B41FA5}">
                      <a16:colId xmlns:a16="http://schemas.microsoft.com/office/drawing/2014/main" val="1546372958"/>
                    </a:ext>
                  </a:extLst>
                </a:gridCol>
                <a:gridCol w="3414207">
                  <a:extLst>
                    <a:ext uri="{9D8B030D-6E8A-4147-A177-3AD203B41FA5}">
                      <a16:colId xmlns:a16="http://schemas.microsoft.com/office/drawing/2014/main" val="1912189371"/>
                    </a:ext>
                  </a:extLst>
                </a:gridCol>
              </a:tblGrid>
              <a:tr h="477078">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Cause</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400" b="0" i="0" dirty="0">
                          <a:effectLst/>
                          <a:latin typeface="Arial" panose="020B0604020202020204" pitchFamily="34" charset="0"/>
                          <a:ea typeface="Helvetica Neue Regular" panose="02000503000000020004" pitchFamily="2" charset="0"/>
                          <a:cs typeface="Arial" panose="020B0604020202020204" pitchFamily="34" charset="0"/>
                        </a:rPr>
                        <a:t>Verbs</a:t>
                      </a: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Effect</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0396325"/>
                  </a:ext>
                </a:extLst>
              </a:tr>
              <a:tr h="422608">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600" b="0" i="0" dirty="0">
                          <a:effectLst/>
                          <a:latin typeface="Arial" panose="020B0604020202020204" pitchFamily="34" charset="0"/>
                          <a:cs typeface="Arial" panose="020B0604020202020204" pitchFamily="34" charset="0"/>
                        </a:rPr>
                        <a:t>independent variable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dependent variable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736917"/>
                  </a:ext>
                </a:extLst>
              </a:tr>
              <a:tr h="422608">
                <a:tc>
                  <a:txBody>
                    <a:bodyPr/>
                    <a:lstStyle/>
                    <a:p>
                      <a:pPr algn="ctr">
                        <a:lnSpc>
                          <a:spcPct val="107000"/>
                        </a:lnSpc>
                        <a:spcAft>
                          <a:spcPts val="800"/>
                        </a:spcAft>
                      </a:pPr>
                      <a:r>
                        <a:rPr lang="en-US" sz="2600" b="0" i="1" dirty="0">
                          <a:effectLst/>
                          <a:latin typeface="Arial" panose="020B0604020202020204" pitchFamily="34" charset="0"/>
                          <a:cs typeface="Arial" panose="020B0604020202020204" pitchFamily="34" charset="0"/>
                        </a:rPr>
                        <a:t>x</a:t>
                      </a:r>
                      <a:endParaRPr lang="en-US" sz="2600" b="0" i="1"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1" dirty="0">
                          <a:effectLst/>
                          <a:latin typeface="Arial" panose="020B0604020202020204" pitchFamily="34" charset="0"/>
                          <a:cs typeface="Arial" panose="020B0604020202020204" pitchFamily="34" charset="0"/>
                        </a:rPr>
                        <a:t>y</a:t>
                      </a:r>
                      <a:endParaRPr lang="en-US" sz="2600" b="0" i="1"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6935365"/>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driver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responding variable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44893"/>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generator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1" dirty="0">
                          <a:effectLst/>
                          <a:latin typeface="Arial" panose="020B0604020202020204" pitchFamily="34" charset="0"/>
                          <a:cs typeface="Arial" panose="020B0604020202020204" pitchFamily="34" charset="0"/>
                        </a:rPr>
                        <a:t>f</a:t>
                      </a:r>
                      <a:r>
                        <a:rPr lang="en-US" sz="2600" b="0" i="0" dirty="0">
                          <a:effectLst/>
                          <a:latin typeface="Arial" panose="020B0604020202020204" pitchFamily="34" charset="0"/>
                          <a:cs typeface="Arial" panose="020B0604020202020204" pitchFamily="34" charset="0"/>
                        </a:rPr>
                        <a:t>(</a:t>
                      </a:r>
                      <a:r>
                        <a:rPr lang="en-US" sz="2600" b="0" i="1" dirty="0">
                          <a:effectLst/>
                          <a:latin typeface="Arial" panose="020B0604020202020204" pitchFamily="34" charset="0"/>
                          <a:cs typeface="Arial" panose="020B0604020202020204" pitchFamily="34" charset="0"/>
                        </a:rPr>
                        <a:t>x</a:t>
                      </a:r>
                      <a:r>
                        <a:rPr lang="en-US" sz="2600" b="0" i="0" dirty="0">
                          <a:effectLst/>
                          <a:latin typeface="Arial" panose="020B0604020202020204" pitchFamily="34" charset="0"/>
                          <a:cs typeface="Arial" panose="020B0604020202020204" pitchFamily="34" charset="0"/>
                        </a:rPr>
                        <a:t>)</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47419929"/>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process</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pattern</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461238"/>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agent</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2131198"/>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force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2480859"/>
                  </a:ext>
                </a:extLst>
              </a:tr>
              <a:tr h="422608">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factor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448603"/>
                  </a:ext>
                </a:extLst>
              </a:tr>
              <a:tr h="413320">
                <a:tc>
                  <a:txBody>
                    <a:bodyPr/>
                    <a:lstStyle/>
                    <a:p>
                      <a:pPr algn="ctr">
                        <a:spcAft>
                          <a:spcPts val="0"/>
                        </a:spcAft>
                      </a:pPr>
                      <a:r>
                        <a:rPr lang="en-US" sz="2600" b="0" i="0" dirty="0">
                          <a:effectLst/>
                          <a:latin typeface="Arial" panose="020B0604020202020204" pitchFamily="34" charset="0"/>
                          <a:cs typeface="Arial" panose="020B0604020202020204" pitchFamily="34" charset="0"/>
                        </a:rPr>
                        <a:t>actor</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7788992"/>
                  </a:ext>
                </a:extLst>
              </a:tr>
              <a:tr h="413320">
                <a:tc>
                  <a:txBody>
                    <a:bodyPr/>
                    <a:lstStyle/>
                    <a:p>
                      <a:pPr algn="ctr">
                        <a:spcAft>
                          <a:spcPts val="0"/>
                        </a:spcAft>
                      </a:pPr>
                      <a:r>
                        <a:rPr lang="en-US" sz="2600" b="0" i="0" dirty="0">
                          <a:effectLst/>
                          <a:latin typeface="Arial" panose="020B0604020202020204" pitchFamily="34" charset="0"/>
                          <a:cs typeface="Arial" panose="020B0604020202020204" pitchFamily="34" charset="0"/>
                        </a:rPr>
                        <a:t>source</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7536413"/>
                  </a:ext>
                </a:extLst>
              </a:tr>
              <a:tr h="413320">
                <a:tc>
                  <a:txBody>
                    <a:bodyPr/>
                    <a:lstStyle/>
                    <a:p>
                      <a:pPr algn="ctr">
                        <a:spcAft>
                          <a:spcPts val="0"/>
                        </a:spcAft>
                      </a:pPr>
                      <a:r>
                        <a:rPr lang="en-US" sz="2600" b="0" i="0" dirty="0">
                          <a:effectLst/>
                          <a:latin typeface="Arial" panose="020B0604020202020204" pitchFamily="34" charset="0"/>
                          <a:cs typeface="Arial" panose="020B0604020202020204" pitchFamily="34" charset="0"/>
                        </a:rPr>
                        <a:t>basis</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0793049"/>
                  </a:ext>
                </a:extLst>
              </a:tr>
            </a:tbl>
          </a:graphicData>
        </a:graphic>
      </p:graphicFrame>
    </p:spTree>
    <p:extLst>
      <p:ext uri="{BB962C8B-B14F-4D97-AF65-F5344CB8AC3E}">
        <p14:creationId xmlns:p14="http://schemas.microsoft.com/office/powerpoint/2010/main" val="24919799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48869B0-DAF7-C44D-A348-840AC77DCF68}"/>
              </a:ext>
            </a:extLst>
          </p:cNvPr>
          <p:cNvGraphicFramePr>
            <a:graphicFrameLocks noGrp="1"/>
          </p:cNvGraphicFramePr>
          <p:nvPr>
            <p:extLst>
              <p:ext uri="{D42A27DB-BD31-4B8C-83A1-F6EECF244321}">
                <p14:modId xmlns:p14="http://schemas.microsoft.com/office/powerpoint/2010/main" val="3729746316"/>
              </p:ext>
            </p:extLst>
          </p:nvPr>
        </p:nvGraphicFramePr>
        <p:xfrm>
          <a:off x="1082040" y="691769"/>
          <a:ext cx="9963912" cy="5080822"/>
        </p:xfrm>
        <a:graphic>
          <a:graphicData uri="http://schemas.openxmlformats.org/drawingml/2006/table">
            <a:tbl>
              <a:tblPr firstRow="1" firstCol="1" bandRow="1">
                <a:tableStyleId>{7E9639D4-E3E2-4D34-9284-5A2195B3D0D7}</a:tableStyleId>
              </a:tblPr>
              <a:tblGrid>
                <a:gridCol w="3505997">
                  <a:extLst>
                    <a:ext uri="{9D8B030D-6E8A-4147-A177-3AD203B41FA5}">
                      <a16:colId xmlns:a16="http://schemas.microsoft.com/office/drawing/2014/main" val="659353493"/>
                    </a:ext>
                  </a:extLst>
                </a:gridCol>
                <a:gridCol w="3043708">
                  <a:extLst>
                    <a:ext uri="{9D8B030D-6E8A-4147-A177-3AD203B41FA5}">
                      <a16:colId xmlns:a16="http://schemas.microsoft.com/office/drawing/2014/main" val="1546372958"/>
                    </a:ext>
                  </a:extLst>
                </a:gridCol>
                <a:gridCol w="3414207">
                  <a:extLst>
                    <a:ext uri="{9D8B030D-6E8A-4147-A177-3AD203B41FA5}">
                      <a16:colId xmlns:a16="http://schemas.microsoft.com/office/drawing/2014/main" val="1912189371"/>
                    </a:ext>
                  </a:extLst>
                </a:gridCol>
              </a:tblGrid>
              <a:tr h="477078">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Cause</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400" b="0" i="0" dirty="0">
                          <a:effectLst/>
                          <a:latin typeface="Arial" panose="020B0604020202020204" pitchFamily="34" charset="0"/>
                          <a:ea typeface="Helvetica Neue Regular" panose="02000503000000020004" pitchFamily="2" charset="0"/>
                          <a:cs typeface="Arial" panose="020B0604020202020204" pitchFamily="34" charset="0"/>
                        </a:rPr>
                        <a:t>Verbs</a:t>
                      </a: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400" b="0" i="0" dirty="0">
                          <a:effectLst/>
                          <a:latin typeface="Arial" panose="020B0604020202020204" pitchFamily="34" charset="0"/>
                          <a:cs typeface="Arial" panose="020B0604020202020204" pitchFamily="34" charset="0"/>
                        </a:rPr>
                        <a:t>Synonyms for Effect</a:t>
                      </a:r>
                      <a:endParaRPr lang="en-US" sz="24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0396325"/>
                  </a:ext>
                </a:extLst>
              </a:tr>
              <a:tr h="422608">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600" b="0" i="0" dirty="0">
                          <a:solidFill>
                            <a:schemeClr val="bg1">
                              <a:lumMod val="65000"/>
                            </a:schemeClr>
                          </a:solidFill>
                          <a:effectLst/>
                          <a:latin typeface="Arial" panose="020B0604020202020204" pitchFamily="34" charset="0"/>
                          <a:cs typeface="Arial" panose="020B0604020202020204" pitchFamily="34" charset="0"/>
                        </a:rPr>
                        <a:t>independent variable</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drives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dependent variable</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736917"/>
                  </a:ext>
                </a:extLst>
              </a:tr>
              <a:tr h="422608">
                <a:tc>
                  <a:txBody>
                    <a:bodyPr/>
                    <a:lstStyle/>
                    <a:p>
                      <a:pPr algn="ctr">
                        <a:lnSpc>
                          <a:spcPct val="107000"/>
                        </a:lnSpc>
                        <a:spcAft>
                          <a:spcPts val="800"/>
                        </a:spcAft>
                      </a:pPr>
                      <a:r>
                        <a:rPr lang="en-US" sz="2600" b="0" i="1" dirty="0">
                          <a:solidFill>
                            <a:schemeClr val="bg1">
                              <a:lumMod val="65000"/>
                            </a:schemeClr>
                          </a:solidFill>
                          <a:effectLst/>
                          <a:latin typeface="Arial" panose="020B0604020202020204" pitchFamily="34" charset="0"/>
                          <a:cs typeface="Arial" panose="020B0604020202020204" pitchFamily="34" charset="0"/>
                        </a:rPr>
                        <a:t>x</a:t>
                      </a:r>
                      <a:endParaRPr lang="en-US" sz="2600" b="0" i="1"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generates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1" dirty="0">
                          <a:solidFill>
                            <a:schemeClr val="bg1">
                              <a:lumMod val="65000"/>
                            </a:schemeClr>
                          </a:solidFill>
                          <a:effectLst/>
                          <a:latin typeface="Arial" panose="020B0604020202020204" pitchFamily="34" charset="0"/>
                          <a:cs typeface="Arial" panose="020B0604020202020204" pitchFamily="34" charset="0"/>
                        </a:rPr>
                        <a:t>y</a:t>
                      </a:r>
                      <a:endParaRPr lang="en-US" sz="2600" b="0" i="1"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6935365"/>
                  </a:ext>
                </a:extLst>
              </a:tr>
              <a:tr h="422608">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driver</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causes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responding variable</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5844893"/>
                  </a:ext>
                </a:extLst>
              </a:tr>
              <a:tr h="422608">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generator</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regulates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1" dirty="0">
                          <a:solidFill>
                            <a:schemeClr val="bg1">
                              <a:lumMod val="65000"/>
                            </a:schemeClr>
                          </a:solidFill>
                          <a:effectLst/>
                          <a:latin typeface="Arial" panose="020B0604020202020204" pitchFamily="34" charset="0"/>
                          <a:cs typeface="Arial" panose="020B0604020202020204" pitchFamily="34" charset="0"/>
                        </a:rPr>
                        <a:t>f</a:t>
                      </a:r>
                      <a:r>
                        <a:rPr lang="en-US" sz="2600" b="0" i="0" dirty="0">
                          <a:solidFill>
                            <a:schemeClr val="bg1">
                              <a:lumMod val="65000"/>
                            </a:schemeClr>
                          </a:solidFill>
                          <a:effectLst/>
                          <a:latin typeface="Arial" panose="020B0604020202020204" pitchFamily="34" charset="0"/>
                          <a:cs typeface="Arial" panose="020B0604020202020204" pitchFamily="34" charset="0"/>
                        </a:rPr>
                        <a:t>(</a:t>
                      </a:r>
                      <a:r>
                        <a:rPr lang="en-US" sz="2600" b="0" i="1" dirty="0">
                          <a:solidFill>
                            <a:schemeClr val="bg1">
                              <a:lumMod val="65000"/>
                            </a:schemeClr>
                          </a:solidFill>
                          <a:effectLst/>
                          <a:latin typeface="Arial" panose="020B0604020202020204" pitchFamily="34" charset="0"/>
                          <a:cs typeface="Arial" panose="020B0604020202020204" pitchFamily="34" charset="0"/>
                        </a:rPr>
                        <a:t>x</a:t>
                      </a:r>
                      <a:r>
                        <a:rPr lang="en-US" sz="2600" b="0" i="0" dirty="0">
                          <a:solidFill>
                            <a:schemeClr val="bg1">
                              <a:lumMod val="65000"/>
                            </a:schemeClr>
                          </a:solidFill>
                          <a:effectLst/>
                          <a:latin typeface="Arial" panose="020B0604020202020204" pitchFamily="34" charset="0"/>
                          <a:cs typeface="Arial" panose="020B0604020202020204" pitchFamily="34" charset="0"/>
                        </a:rPr>
                        <a:t>)</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47419929"/>
                  </a:ext>
                </a:extLst>
              </a:tr>
              <a:tr h="422608">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process</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controls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pattern</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461238"/>
                  </a:ext>
                </a:extLst>
              </a:tr>
              <a:tr h="422608">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agent</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increases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42131198"/>
                  </a:ext>
                </a:extLst>
              </a:tr>
              <a:tr h="422608">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force</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decreases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2480859"/>
                  </a:ext>
                </a:extLst>
              </a:tr>
              <a:tr h="422608">
                <a:tc>
                  <a:txBody>
                    <a:bodyPr/>
                    <a:lstStyle/>
                    <a:p>
                      <a:pPr algn="ctr">
                        <a:lnSpc>
                          <a:spcPct val="107000"/>
                        </a:lnSpc>
                        <a:spcAft>
                          <a:spcPts val="800"/>
                        </a:spcAft>
                      </a:pPr>
                      <a:r>
                        <a:rPr lang="en-US" sz="2600" b="0" i="0" dirty="0">
                          <a:solidFill>
                            <a:schemeClr val="bg1">
                              <a:lumMod val="65000"/>
                            </a:schemeClr>
                          </a:solidFill>
                          <a:effectLst/>
                          <a:latin typeface="Arial" panose="020B0604020202020204" pitchFamily="34" charset="0"/>
                          <a:cs typeface="Arial" panose="020B0604020202020204" pitchFamily="34" charset="0"/>
                        </a:rPr>
                        <a:t>factor</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ea typeface="Helvetica Neue Regular" panose="02000503000000020004" pitchFamily="2" charset="0"/>
                          <a:cs typeface="Arial" panose="020B0604020202020204" pitchFamily="34" charset="0"/>
                        </a:rPr>
                        <a:t>suppresses</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07000"/>
                        </a:lnSpc>
                        <a:spcAft>
                          <a:spcPts val="80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448603"/>
                  </a:ext>
                </a:extLst>
              </a:tr>
              <a:tr h="413320">
                <a:tc>
                  <a:txBody>
                    <a:bodyPr/>
                    <a:lstStyle/>
                    <a:p>
                      <a:pPr algn="ctr">
                        <a:spcAft>
                          <a:spcPts val="0"/>
                        </a:spcAft>
                      </a:pPr>
                      <a:r>
                        <a:rPr lang="en-US" sz="2600" b="0" i="0" dirty="0">
                          <a:solidFill>
                            <a:schemeClr val="bg1">
                              <a:lumMod val="65000"/>
                            </a:schemeClr>
                          </a:solidFill>
                          <a:effectLst/>
                          <a:latin typeface="Arial" panose="020B0604020202020204" pitchFamily="34" charset="0"/>
                          <a:cs typeface="Arial" panose="020B0604020202020204" pitchFamily="34" charset="0"/>
                        </a:rPr>
                        <a:t>actor</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7788992"/>
                  </a:ext>
                </a:extLst>
              </a:tr>
              <a:tr h="0">
                <a:tc>
                  <a:txBody>
                    <a:bodyPr/>
                    <a:lstStyle/>
                    <a:p>
                      <a:pPr algn="ctr">
                        <a:spcAft>
                          <a:spcPts val="0"/>
                        </a:spcAft>
                      </a:pPr>
                      <a:r>
                        <a:rPr lang="en-US" sz="2600" b="0" i="0" dirty="0">
                          <a:solidFill>
                            <a:schemeClr val="bg1">
                              <a:lumMod val="65000"/>
                            </a:schemeClr>
                          </a:solidFill>
                          <a:effectLst/>
                          <a:latin typeface="Arial" panose="020B0604020202020204" pitchFamily="34" charset="0"/>
                          <a:cs typeface="Arial" panose="020B0604020202020204" pitchFamily="34" charset="0"/>
                        </a:rPr>
                        <a:t>source</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7536413"/>
                  </a:ext>
                </a:extLst>
              </a:tr>
              <a:tr h="413320">
                <a:tc>
                  <a:txBody>
                    <a:bodyPr/>
                    <a:lstStyle/>
                    <a:p>
                      <a:pPr algn="ctr">
                        <a:spcAft>
                          <a:spcPts val="0"/>
                        </a:spcAft>
                      </a:pPr>
                      <a:r>
                        <a:rPr lang="en-US" sz="2600" b="0" i="0" dirty="0">
                          <a:solidFill>
                            <a:schemeClr val="bg1">
                              <a:lumMod val="65000"/>
                            </a:schemeClr>
                          </a:solidFill>
                          <a:effectLst/>
                          <a:latin typeface="Arial" panose="020B0604020202020204" pitchFamily="34" charset="0"/>
                          <a:cs typeface="Arial" panose="020B0604020202020204" pitchFamily="34" charset="0"/>
                        </a:rPr>
                        <a:t>basis</a:t>
                      </a:r>
                      <a:endParaRPr lang="en-US" sz="2600" b="0" i="0" dirty="0">
                        <a:solidFill>
                          <a:schemeClr val="bg1">
                            <a:lumMod val="65000"/>
                          </a:schemeClr>
                        </a:solidFill>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spcAft>
                          <a:spcPts val="0"/>
                        </a:spcAft>
                      </a:pPr>
                      <a:r>
                        <a:rPr lang="en-US" sz="2600" b="0" i="0" dirty="0">
                          <a:effectLst/>
                          <a:latin typeface="Arial" panose="020B0604020202020204" pitchFamily="34" charset="0"/>
                          <a:cs typeface="Arial" panose="020B0604020202020204" pitchFamily="34" charset="0"/>
                        </a:rPr>
                        <a:t> </a:t>
                      </a:r>
                      <a:endParaRPr lang="en-US" sz="2600" b="0" i="0" dirty="0">
                        <a:effectLst/>
                        <a:latin typeface="Arial" panose="020B0604020202020204" pitchFamily="34" charset="0"/>
                        <a:ea typeface="Helvetica Neue Regular" panose="02000503000000020004" pitchFamily="2" charset="0"/>
                        <a:cs typeface="Arial" panose="020B0604020202020204" pitchFamily="34"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0793049"/>
                  </a:ext>
                </a:extLst>
              </a:tr>
            </a:tbl>
          </a:graphicData>
        </a:graphic>
      </p:graphicFrame>
    </p:spTree>
    <p:extLst>
      <p:ext uri="{BB962C8B-B14F-4D97-AF65-F5344CB8AC3E}">
        <p14:creationId xmlns:p14="http://schemas.microsoft.com/office/powerpoint/2010/main" val="23852462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p:cNvSpPr/>
          <p:nvPr/>
        </p:nvSpPr>
        <p:spPr>
          <a:xfrm>
            <a:off x="2057400" y="152400"/>
            <a:ext cx="7696200" cy="6400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4343400" y="358697"/>
            <a:ext cx="3581400" cy="523220"/>
          </a:xfrm>
          <a:prstGeom prst="rect">
            <a:avLst/>
          </a:prstGeom>
          <a:noFill/>
        </p:spPr>
        <p:txBody>
          <a:bodyPr wrap="square" rtlCol="0">
            <a:spAutoFit/>
          </a:bodyPr>
          <a:lstStyle/>
          <a:p>
            <a:r>
              <a:rPr lang="en-US" sz="2800" dirty="0"/>
              <a:t>Research Question</a:t>
            </a:r>
          </a:p>
        </p:txBody>
      </p:sp>
      <p:sp>
        <p:nvSpPr>
          <p:cNvPr id="7" name="Oval 6"/>
          <p:cNvSpPr/>
          <p:nvPr/>
        </p:nvSpPr>
        <p:spPr>
          <a:xfrm>
            <a:off x="3429000" y="978932"/>
            <a:ext cx="6019800" cy="5269468"/>
          </a:xfrm>
          <a:prstGeom prst="ellipse">
            <a:avLst/>
          </a:prstGeom>
          <a:solidFill>
            <a:schemeClr val="tx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4953000" y="1446839"/>
            <a:ext cx="3581400" cy="523220"/>
          </a:xfrm>
          <a:prstGeom prst="rect">
            <a:avLst/>
          </a:prstGeom>
          <a:noFill/>
        </p:spPr>
        <p:txBody>
          <a:bodyPr wrap="square" rtlCol="0">
            <a:spAutoFit/>
          </a:bodyPr>
          <a:lstStyle/>
          <a:p>
            <a:r>
              <a:rPr lang="en-US" sz="2800" dirty="0"/>
              <a:t>Research Hypothesis</a:t>
            </a:r>
          </a:p>
        </p:txBody>
      </p:sp>
      <p:sp>
        <p:nvSpPr>
          <p:cNvPr id="17" name="Rounded Rectangle 16"/>
          <p:cNvSpPr/>
          <p:nvPr/>
        </p:nvSpPr>
        <p:spPr>
          <a:xfrm>
            <a:off x="3810000" y="2164986"/>
            <a:ext cx="5364666" cy="2897668"/>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3908502" y="21936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5676900" y="2164574"/>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7498266" y="21699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5667804" y="2398694"/>
            <a:ext cx="1737732" cy="954107"/>
          </a:xfrm>
          <a:prstGeom prst="rect">
            <a:avLst/>
          </a:prstGeom>
          <a:noFill/>
        </p:spPr>
        <p:txBody>
          <a:bodyPr wrap="square" rtlCol="0">
            <a:spAutoFit/>
          </a:bodyPr>
          <a:lstStyle/>
          <a:p>
            <a:pPr algn="ctr"/>
            <a:r>
              <a:rPr lang="en-US" sz="2800" dirty="0"/>
              <a:t>Prediction</a:t>
            </a:r>
          </a:p>
          <a:p>
            <a:pPr algn="ctr"/>
            <a:r>
              <a:rPr lang="en-US" sz="2800" dirty="0"/>
              <a:t>2</a:t>
            </a:r>
          </a:p>
        </p:txBody>
      </p:sp>
      <p:sp>
        <p:nvSpPr>
          <p:cNvPr id="15" name="TextBox 14"/>
          <p:cNvSpPr txBox="1"/>
          <p:nvPr/>
        </p:nvSpPr>
        <p:spPr>
          <a:xfrm>
            <a:off x="3864629" y="2406533"/>
            <a:ext cx="1737732" cy="954107"/>
          </a:xfrm>
          <a:prstGeom prst="rect">
            <a:avLst/>
          </a:prstGeom>
          <a:noFill/>
        </p:spPr>
        <p:txBody>
          <a:bodyPr wrap="square" rtlCol="0">
            <a:spAutoFit/>
          </a:bodyPr>
          <a:lstStyle/>
          <a:p>
            <a:pPr algn="ctr"/>
            <a:r>
              <a:rPr lang="en-US" sz="2800" dirty="0"/>
              <a:t>Prediction</a:t>
            </a:r>
          </a:p>
          <a:p>
            <a:pPr algn="ctr"/>
            <a:r>
              <a:rPr lang="en-US" sz="2800" dirty="0"/>
              <a:t>1</a:t>
            </a:r>
          </a:p>
        </p:txBody>
      </p:sp>
      <p:sp>
        <p:nvSpPr>
          <p:cNvPr id="16" name="TextBox 15"/>
          <p:cNvSpPr txBox="1"/>
          <p:nvPr/>
        </p:nvSpPr>
        <p:spPr>
          <a:xfrm>
            <a:off x="7497534" y="2425659"/>
            <a:ext cx="1737732" cy="954107"/>
          </a:xfrm>
          <a:prstGeom prst="rect">
            <a:avLst/>
          </a:prstGeom>
          <a:noFill/>
        </p:spPr>
        <p:txBody>
          <a:bodyPr wrap="square" rtlCol="0">
            <a:spAutoFit/>
          </a:bodyPr>
          <a:lstStyle/>
          <a:p>
            <a:pPr algn="ctr"/>
            <a:r>
              <a:rPr lang="en-US" sz="2800" dirty="0"/>
              <a:t>Prediction</a:t>
            </a:r>
          </a:p>
          <a:p>
            <a:pPr algn="ctr"/>
            <a:r>
              <a:rPr lang="en-US" sz="2800" dirty="0"/>
              <a:t>3</a:t>
            </a:r>
          </a:p>
        </p:txBody>
      </p:sp>
      <p:sp>
        <p:nvSpPr>
          <p:cNvPr id="18" name="TextBox 17"/>
          <p:cNvSpPr txBox="1"/>
          <p:nvPr/>
        </p:nvSpPr>
        <p:spPr>
          <a:xfrm>
            <a:off x="5708495" y="4549599"/>
            <a:ext cx="2332464" cy="523220"/>
          </a:xfrm>
          <a:prstGeom prst="rect">
            <a:avLst/>
          </a:prstGeom>
          <a:noFill/>
        </p:spPr>
        <p:txBody>
          <a:bodyPr wrap="square" rtlCol="0">
            <a:spAutoFit/>
          </a:bodyPr>
          <a:lstStyle/>
          <a:p>
            <a:r>
              <a:rPr lang="en-US" sz="2800" dirty="0"/>
              <a:t>Methods</a:t>
            </a:r>
          </a:p>
        </p:txBody>
      </p:sp>
      <p:sp>
        <p:nvSpPr>
          <p:cNvPr id="23" name="5-Point Star 22"/>
          <p:cNvSpPr/>
          <p:nvPr/>
        </p:nvSpPr>
        <p:spPr>
          <a:xfrm>
            <a:off x="9174666" y="5432409"/>
            <a:ext cx="1493334" cy="1327088"/>
          </a:xfrm>
          <a:prstGeom prst="star5">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p:cNvSpPr txBox="1"/>
          <p:nvPr/>
        </p:nvSpPr>
        <p:spPr>
          <a:xfrm>
            <a:off x="8848145" y="5866058"/>
            <a:ext cx="2016861" cy="369332"/>
          </a:xfrm>
          <a:prstGeom prst="rect">
            <a:avLst/>
          </a:prstGeom>
          <a:noFill/>
        </p:spPr>
        <p:txBody>
          <a:bodyPr wrap="square" rtlCol="0">
            <a:spAutoFit/>
          </a:bodyPr>
          <a:lstStyle/>
          <a:p>
            <a:pPr algn="ctr"/>
            <a:r>
              <a:rPr lang="en-US" dirty="0"/>
              <a:t>Conclusion</a:t>
            </a:r>
          </a:p>
        </p:txBody>
      </p:sp>
      <p:sp>
        <p:nvSpPr>
          <p:cNvPr id="25" name="Notched Right Arrow 24"/>
          <p:cNvSpPr/>
          <p:nvPr/>
        </p:nvSpPr>
        <p:spPr>
          <a:xfrm rot="2822520">
            <a:off x="8697120" y="5304133"/>
            <a:ext cx="835072" cy="552048"/>
          </a:xfrm>
          <a:prstGeom prst="notchedRightArrow">
            <a:avLst/>
          </a:prstGeom>
          <a:solidFill>
            <a:schemeClr val="tx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41"/>
          <p:cNvGrpSpPr/>
          <p:nvPr/>
        </p:nvGrpSpPr>
        <p:grpSpPr>
          <a:xfrm>
            <a:off x="3871914" y="3379766"/>
            <a:ext cx="1620989" cy="1574439"/>
            <a:chOff x="2347913" y="3379765"/>
            <a:chExt cx="1620989" cy="1574439"/>
          </a:xfrm>
        </p:grpSpPr>
        <p:sp>
          <p:nvSpPr>
            <p:cNvPr id="19" name="Oval 18"/>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26" name="TextBox 25"/>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38" name="Group 37"/>
            <p:cNvGrpSpPr/>
            <p:nvPr/>
          </p:nvGrpSpPr>
          <p:grpSpPr>
            <a:xfrm>
              <a:off x="2837636" y="3657600"/>
              <a:ext cx="770131" cy="472058"/>
              <a:chOff x="2837636" y="3731436"/>
              <a:chExt cx="770131" cy="472058"/>
            </a:xfrm>
          </p:grpSpPr>
          <p:sp>
            <p:nvSpPr>
              <p:cNvPr id="28" name="Flowchart: Process 27"/>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36" name="Flowchart: Process 35"/>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lowchart: Process 36"/>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Down Arrow 38"/>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Down Arrow 39"/>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Down Arrow 40"/>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p:cNvGrpSpPr/>
          <p:nvPr/>
        </p:nvGrpSpPr>
        <p:grpSpPr>
          <a:xfrm>
            <a:off x="7467502" y="3374365"/>
            <a:ext cx="1620989" cy="1574439"/>
            <a:chOff x="2347913" y="3379765"/>
            <a:chExt cx="1620989" cy="1574439"/>
          </a:xfrm>
        </p:grpSpPr>
        <p:sp>
          <p:nvSpPr>
            <p:cNvPr id="44" name="Oval 43"/>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47" name="TextBox 46"/>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48" name="Group 47"/>
            <p:cNvGrpSpPr/>
            <p:nvPr/>
          </p:nvGrpSpPr>
          <p:grpSpPr>
            <a:xfrm>
              <a:off x="2837636" y="3657600"/>
              <a:ext cx="770131" cy="472058"/>
              <a:chOff x="2837636" y="3731436"/>
              <a:chExt cx="770131" cy="472058"/>
            </a:xfrm>
          </p:grpSpPr>
          <p:sp>
            <p:nvSpPr>
              <p:cNvPr id="52" name="Flowchart: Process 51"/>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55" name="Flowchart: Process 54"/>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lowchart: Process 55"/>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9" name="Down Arrow 48"/>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Down Arrow 49"/>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Down Arrow 50"/>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p:cNvGrpSpPr/>
          <p:nvPr/>
        </p:nvGrpSpPr>
        <p:grpSpPr>
          <a:xfrm>
            <a:off x="5799113" y="3337518"/>
            <a:ext cx="1298792" cy="1075611"/>
            <a:chOff x="2347913" y="3379765"/>
            <a:chExt cx="1620989" cy="1574439"/>
          </a:xfrm>
        </p:grpSpPr>
        <p:sp>
          <p:nvSpPr>
            <p:cNvPr id="58" name="Oval 57"/>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p:cNvSpPr txBox="1"/>
            <p:nvPr/>
          </p:nvSpPr>
          <p:spPr>
            <a:xfrm>
              <a:off x="3156025" y="4292223"/>
              <a:ext cx="812877" cy="585666"/>
            </a:xfrm>
            <a:prstGeom prst="rect">
              <a:avLst/>
            </a:prstGeom>
            <a:noFill/>
          </p:spPr>
          <p:txBody>
            <a:bodyPr wrap="square" rtlCol="0">
              <a:spAutoFit/>
            </a:bodyPr>
            <a:lstStyle/>
            <a:p>
              <a:pPr algn="ctr"/>
              <a:r>
                <a:rPr lang="en-US" sz="2000" dirty="0"/>
                <a:t>H</a:t>
              </a:r>
              <a:r>
                <a:rPr lang="en-US" sz="2000" baseline="-25000" dirty="0"/>
                <a:t>a</a:t>
              </a:r>
              <a:endParaRPr lang="en-US" sz="2000" dirty="0"/>
            </a:p>
          </p:txBody>
        </p:sp>
        <p:sp>
          <p:nvSpPr>
            <p:cNvPr id="61" name="TextBox 60"/>
            <p:cNvSpPr txBox="1"/>
            <p:nvPr/>
          </p:nvSpPr>
          <p:spPr>
            <a:xfrm>
              <a:off x="2347913" y="4282057"/>
              <a:ext cx="812877" cy="585666"/>
            </a:xfrm>
            <a:prstGeom prst="rect">
              <a:avLst/>
            </a:prstGeom>
            <a:noFill/>
          </p:spPr>
          <p:txBody>
            <a:bodyPr wrap="square" rtlCol="0">
              <a:spAutoFit/>
            </a:bodyPr>
            <a:lstStyle/>
            <a:p>
              <a:pPr algn="ctr"/>
              <a:r>
                <a:rPr lang="en-US" sz="2000" dirty="0"/>
                <a:t>H</a:t>
              </a:r>
              <a:r>
                <a:rPr lang="en-US" sz="2000" baseline="-25000" dirty="0"/>
                <a:t>0</a:t>
              </a:r>
              <a:endParaRPr lang="en-US" sz="2000" dirty="0"/>
            </a:p>
          </p:txBody>
        </p:sp>
        <p:grpSp>
          <p:nvGrpSpPr>
            <p:cNvPr id="62" name="Group 61"/>
            <p:cNvGrpSpPr/>
            <p:nvPr/>
          </p:nvGrpSpPr>
          <p:grpSpPr>
            <a:xfrm>
              <a:off x="2837636" y="3657600"/>
              <a:ext cx="770131" cy="472058"/>
              <a:chOff x="2837636" y="3731436"/>
              <a:chExt cx="770131" cy="472058"/>
            </a:xfrm>
          </p:grpSpPr>
          <p:sp>
            <p:nvSpPr>
              <p:cNvPr id="66" name="Flowchart: Process 65"/>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7" name="Straight Connector 66"/>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69" name="Flowchart: Process 68"/>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Flowchart: Process 69"/>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Down Arrow 62"/>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Down Arrow 63"/>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Down Arrow 64"/>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59605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DE2E1-12BB-AB1B-6FAA-11107CC34104}"/>
            </a:ext>
          </a:extLst>
        </p:cNvPr>
        <p:cNvGrpSpPr/>
        <p:nvPr/>
      </p:nvGrpSpPr>
      <p:grpSpPr>
        <a:xfrm>
          <a:off x="0" y="0"/>
          <a:ext cx="0" cy="0"/>
          <a:chOff x="0" y="0"/>
          <a:chExt cx="0" cy="0"/>
        </a:xfrm>
      </p:grpSpPr>
      <p:sp>
        <p:nvSpPr>
          <p:cNvPr id="5" name="Oval 4">
            <a:extLst>
              <a:ext uri="{FF2B5EF4-FFF2-40B4-BE49-F238E27FC236}">
                <a16:creationId xmlns:a16="http://schemas.microsoft.com/office/drawing/2014/main" id="{2B5D6424-6844-7561-1313-BED7B873AD75}"/>
              </a:ext>
            </a:extLst>
          </p:cNvPr>
          <p:cNvSpPr/>
          <p:nvPr/>
        </p:nvSpPr>
        <p:spPr>
          <a:xfrm>
            <a:off x="2057400" y="152400"/>
            <a:ext cx="7696200" cy="6400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4DC11DE-E046-718A-29AE-A6542C56E942}"/>
              </a:ext>
            </a:extLst>
          </p:cNvPr>
          <p:cNvSpPr txBox="1"/>
          <p:nvPr/>
        </p:nvSpPr>
        <p:spPr>
          <a:xfrm>
            <a:off x="4343400" y="358697"/>
            <a:ext cx="3581400" cy="523220"/>
          </a:xfrm>
          <a:prstGeom prst="rect">
            <a:avLst/>
          </a:prstGeom>
          <a:noFill/>
        </p:spPr>
        <p:txBody>
          <a:bodyPr wrap="square" rtlCol="0">
            <a:spAutoFit/>
          </a:bodyPr>
          <a:lstStyle/>
          <a:p>
            <a:r>
              <a:rPr lang="en-US" sz="2800" dirty="0"/>
              <a:t>Research Question</a:t>
            </a:r>
          </a:p>
        </p:txBody>
      </p:sp>
      <p:sp>
        <p:nvSpPr>
          <p:cNvPr id="7" name="Oval 6">
            <a:extLst>
              <a:ext uri="{FF2B5EF4-FFF2-40B4-BE49-F238E27FC236}">
                <a16:creationId xmlns:a16="http://schemas.microsoft.com/office/drawing/2014/main" id="{D9C989D9-A6C8-E21D-06ED-D85A90546494}"/>
              </a:ext>
            </a:extLst>
          </p:cNvPr>
          <p:cNvSpPr/>
          <p:nvPr/>
        </p:nvSpPr>
        <p:spPr>
          <a:xfrm>
            <a:off x="3429000" y="978932"/>
            <a:ext cx="6019800" cy="5269468"/>
          </a:xfrm>
          <a:prstGeom prst="ellipse">
            <a:avLst/>
          </a:prstGeom>
          <a:solidFill>
            <a:schemeClr val="tx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E2AC33-6A2D-1ED8-92EC-C854AD3B60C0}"/>
              </a:ext>
            </a:extLst>
          </p:cNvPr>
          <p:cNvSpPr txBox="1"/>
          <p:nvPr/>
        </p:nvSpPr>
        <p:spPr>
          <a:xfrm>
            <a:off x="4953000" y="1446839"/>
            <a:ext cx="3581400" cy="523220"/>
          </a:xfrm>
          <a:prstGeom prst="rect">
            <a:avLst/>
          </a:prstGeom>
          <a:noFill/>
        </p:spPr>
        <p:txBody>
          <a:bodyPr wrap="square" rtlCol="0">
            <a:spAutoFit/>
          </a:bodyPr>
          <a:lstStyle/>
          <a:p>
            <a:r>
              <a:rPr lang="en-US" sz="2800" dirty="0"/>
              <a:t>Research Hypothesis</a:t>
            </a:r>
          </a:p>
        </p:txBody>
      </p:sp>
      <p:sp>
        <p:nvSpPr>
          <p:cNvPr id="17" name="Rounded Rectangle 16">
            <a:extLst>
              <a:ext uri="{FF2B5EF4-FFF2-40B4-BE49-F238E27FC236}">
                <a16:creationId xmlns:a16="http://schemas.microsoft.com/office/drawing/2014/main" id="{6BD730D8-1DA3-E166-33F4-9DFD8362AB54}"/>
              </a:ext>
            </a:extLst>
          </p:cNvPr>
          <p:cNvSpPr/>
          <p:nvPr/>
        </p:nvSpPr>
        <p:spPr>
          <a:xfrm>
            <a:off x="3810000" y="2164986"/>
            <a:ext cx="5364666" cy="2897668"/>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7C93D21C-B409-B43A-8BAB-64D09B857398}"/>
              </a:ext>
            </a:extLst>
          </p:cNvPr>
          <p:cNvSpPr/>
          <p:nvPr/>
        </p:nvSpPr>
        <p:spPr>
          <a:xfrm>
            <a:off x="3908502" y="21936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5C5828C7-7688-38D4-9E36-2956AF3496D5}"/>
              </a:ext>
            </a:extLst>
          </p:cNvPr>
          <p:cNvSpPr/>
          <p:nvPr/>
        </p:nvSpPr>
        <p:spPr>
          <a:xfrm>
            <a:off x="5676900" y="2164574"/>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05A14A81-BB9A-0CEA-7D8F-83E64616E0E2}"/>
              </a:ext>
            </a:extLst>
          </p:cNvPr>
          <p:cNvSpPr/>
          <p:nvPr/>
        </p:nvSpPr>
        <p:spPr>
          <a:xfrm>
            <a:off x="7498266" y="21699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5FD6B91-5951-F023-E80F-3EDFB3665371}"/>
              </a:ext>
            </a:extLst>
          </p:cNvPr>
          <p:cNvSpPr txBox="1"/>
          <p:nvPr/>
        </p:nvSpPr>
        <p:spPr>
          <a:xfrm>
            <a:off x="5667804" y="2398694"/>
            <a:ext cx="1737732" cy="954107"/>
          </a:xfrm>
          <a:prstGeom prst="rect">
            <a:avLst/>
          </a:prstGeom>
          <a:noFill/>
        </p:spPr>
        <p:txBody>
          <a:bodyPr wrap="square" rtlCol="0">
            <a:spAutoFit/>
          </a:bodyPr>
          <a:lstStyle/>
          <a:p>
            <a:pPr algn="ctr"/>
            <a:r>
              <a:rPr lang="en-US" sz="2800" dirty="0"/>
              <a:t>Prediction</a:t>
            </a:r>
          </a:p>
          <a:p>
            <a:pPr algn="ctr"/>
            <a:r>
              <a:rPr lang="en-US" sz="2800" dirty="0"/>
              <a:t>2</a:t>
            </a:r>
          </a:p>
        </p:txBody>
      </p:sp>
      <p:sp>
        <p:nvSpPr>
          <p:cNvPr id="15" name="TextBox 14">
            <a:extLst>
              <a:ext uri="{FF2B5EF4-FFF2-40B4-BE49-F238E27FC236}">
                <a16:creationId xmlns:a16="http://schemas.microsoft.com/office/drawing/2014/main" id="{76933933-12B2-E303-94E2-FC91CA1184F8}"/>
              </a:ext>
            </a:extLst>
          </p:cNvPr>
          <p:cNvSpPr txBox="1"/>
          <p:nvPr/>
        </p:nvSpPr>
        <p:spPr>
          <a:xfrm>
            <a:off x="3864629" y="2406533"/>
            <a:ext cx="1737732" cy="954107"/>
          </a:xfrm>
          <a:prstGeom prst="rect">
            <a:avLst/>
          </a:prstGeom>
          <a:noFill/>
        </p:spPr>
        <p:txBody>
          <a:bodyPr wrap="square" rtlCol="0">
            <a:spAutoFit/>
          </a:bodyPr>
          <a:lstStyle/>
          <a:p>
            <a:pPr algn="ctr"/>
            <a:r>
              <a:rPr lang="en-US" sz="2800" dirty="0"/>
              <a:t>Prediction</a:t>
            </a:r>
          </a:p>
          <a:p>
            <a:pPr algn="ctr"/>
            <a:r>
              <a:rPr lang="en-US" sz="2800" dirty="0"/>
              <a:t>1</a:t>
            </a:r>
          </a:p>
        </p:txBody>
      </p:sp>
      <p:sp>
        <p:nvSpPr>
          <p:cNvPr id="16" name="TextBox 15">
            <a:extLst>
              <a:ext uri="{FF2B5EF4-FFF2-40B4-BE49-F238E27FC236}">
                <a16:creationId xmlns:a16="http://schemas.microsoft.com/office/drawing/2014/main" id="{1B4C17B3-22EB-FF83-1656-7CD5D092DE2C}"/>
              </a:ext>
            </a:extLst>
          </p:cNvPr>
          <p:cNvSpPr txBox="1"/>
          <p:nvPr/>
        </p:nvSpPr>
        <p:spPr>
          <a:xfrm>
            <a:off x="7497534" y="2425659"/>
            <a:ext cx="1737732" cy="954107"/>
          </a:xfrm>
          <a:prstGeom prst="rect">
            <a:avLst/>
          </a:prstGeom>
          <a:noFill/>
        </p:spPr>
        <p:txBody>
          <a:bodyPr wrap="square" rtlCol="0">
            <a:spAutoFit/>
          </a:bodyPr>
          <a:lstStyle/>
          <a:p>
            <a:pPr algn="ctr"/>
            <a:r>
              <a:rPr lang="en-US" sz="2800" dirty="0"/>
              <a:t>Prediction</a:t>
            </a:r>
          </a:p>
          <a:p>
            <a:pPr algn="ctr"/>
            <a:r>
              <a:rPr lang="en-US" sz="2800" dirty="0"/>
              <a:t>3</a:t>
            </a:r>
          </a:p>
        </p:txBody>
      </p:sp>
      <p:sp>
        <p:nvSpPr>
          <p:cNvPr id="18" name="TextBox 17">
            <a:extLst>
              <a:ext uri="{FF2B5EF4-FFF2-40B4-BE49-F238E27FC236}">
                <a16:creationId xmlns:a16="http://schemas.microsoft.com/office/drawing/2014/main" id="{0809C70F-ABBB-8A72-35D7-89750351E114}"/>
              </a:ext>
            </a:extLst>
          </p:cNvPr>
          <p:cNvSpPr txBox="1"/>
          <p:nvPr/>
        </p:nvSpPr>
        <p:spPr>
          <a:xfrm>
            <a:off x="5708495" y="4549599"/>
            <a:ext cx="2332464" cy="523220"/>
          </a:xfrm>
          <a:prstGeom prst="rect">
            <a:avLst/>
          </a:prstGeom>
          <a:noFill/>
        </p:spPr>
        <p:txBody>
          <a:bodyPr wrap="square" rtlCol="0">
            <a:spAutoFit/>
          </a:bodyPr>
          <a:lstStyle/>
          <a:p>
            <a:r>
              <a:rPr lang="en-US" sz="2800" dirty="0"/>
              <a:t>Methods</a:t>
            </a:r>
          </a:p>
        </p:txBody>
      </p:sp>
      <p:sp>
        <p:nvSpPr>
          <p:cNvPr id="23" name="5-Point Star 22">
            <a:extLst>
              <a:ext uri="{FF2B5EF4-FFF2-40B4-BE49-F238E27FC236}">
                <a16:creationId xmlns:a16="http://schemas.microsoft.com/office/drawing/2014/main" id="{2F5EA919-4232-FAA1-E6E7-E665CCFD626E}"/>
              </a:ext>
            </a:extLst>
          </p:cNvPr>
          <p:cNvSpPr/>
          <p:nvPr/>
        </p:nvSpPr>
        <p:spPr>
          <a:xfrm>
            <a:off x="9174666" y="5432409"/>
            <a:ext cx="1493334" cy="1327088"/>
          </a:xfrm>
          <a:prstGeom prst="star5">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E45FD666-DF37-CD80-2C57-1E0ED39E3986}"/>
              </a:ext>
            </a:extLst>
          </p:cNvPr>
          <p:cNvSpPr txBox="1"/>
          <p:nvPr/>
        </p:nvSpPr>
        <p:spPr>
          <a:xfrm>
            <a:off x="8848145" y="5866058"/>
            <a:ext cx="2016861" cy="369332"/>
          </a:xfrm>
          <a:prstGeom prst="rect">
            <a:avLst/>
          </a:prstGeom>
          <a:noFill/>
        </p:spPr>
        <p:txBody>
          <a:bodyPr wrap="square" rtlCol="0">
            <a:spAutoFit/>
          </a:bodyPr>
          <a:lstStyle/>
          <a:p>
            <a:pPr algn="ctr"/>
            <a:r>
              <a:rPr lang="en-US" dirty="0"/>
              <a:t>Conclusion</a:t>
            </a:r>
          </a:p>
        </p:txBody>
      </p:sp>
      <p:sp>
        <p:nvSpPr>
          <p:cNvPr id="25" name="Notched Right Arrow 24">
            <a:extLst>
              <a:ext uri="{FF2B5EF4-FFF2-40B4-BE49-F238E27FC236}">
                <a16:creationId xmlns:a16="http://schemas.microsoft.com/office/drawing/2014/main" id="{EDCE4C33-2FD5-C9B1-F72C-425BACFFA9CE}"/>
              </a:ext>
            </a:extLst>
          </p:cNvPr>
          <p:cNvSpPr/>
          <p:nvPr/>
        </p:nvSpPr>
        <p:spPr>
          <a:xfrm rot="2822520">
            <a:off x="8697120" y="5304133"/>
            <a:ext cx="835072" cy="552048"/>
          </a:xfrm>
          <a:prstGeom prst="notchedRightArrow">
            <a:avLst/>
          </a:prstGeom>
          <a:solidFill>
            <a:schemeClr val="tx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41">
            <a:extLst>
              <a:ext uri="{FF2B5EF4-FFF2-40B4-BE49-F238E27FC236}">
                <a16:creationId xmlns:a16="http://schemas.microsoft.com/office/drawing/2014/main" id="{335871A9-65FB-FBB1-A93B-22326A142AF1}"/>
              </a:ext>
            </a:extLst>
          </p:cNvPr>
          <p:cNvGrpSpPr/>
          <p:nvPr/>
        </p:nvGrpSpPr>
        <p:grpSpPr>
          <a:xfrm>
            <a:off x="3871914" y="3379766"/>
            <a:ext cx="1620989" cy="1574439"/>
            <a:chOff x="2347913" y="3379765"/>
            <a:chExt cx="1620989" cy="1574439"/>
          </a:xfrm>
        </p:grpSpPr>
        <p:sp>
          <p:nvSpPr>
            <p:cNvPr id="19" name="Oval 18">
              <a:extLst>
                <a:ext uri="{FF2B5EF4-FFF2-40B4-BE49-F238E27FC236}">
                  <a16:creationId xmlns:a16="http://schemas.microsoft.com/office/drawing/2014/main" id="{A5BF9B0E-2E33-747B-0BBD-62F64261C5BB}"/>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3CA020C2-06F1-55BC-B885-2C89017C9EE2}"/>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469E01D-7E35-11B5-422B-8211C1213579}"/>
                </a:ext>
              </a:extLst>
            </p:cNvPr>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26" name="TextBox 25">
              <a:extLst>
                <a:ext uri="{FF2B5EF4-FFF2-40B4-BE49-F238E27FC236}">
                  <a16:creationId xmlns:a16="http://schemas.microsoft.com/office/drawing/2014/main" id="{97610F4F-C69F-A1A7-EFBD-409F19F2275B}"/>
                </a:ext>
              </a:extLst>
            </p:cNvPr>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38" name="Group 37">
              <a:extLst>
                <a:ext uri="{FF2B5EF4-FFF2-40B4-BE49-F238E27FC236}">
                  <a16:creationId xmlns:a16="http://schemas.microsoft.com/office/drawing/2014/main" id="{B218B488-E847-ACA6-64BA-BEAB56226F3B}"/>
                </a:ext>
              </a:extLst>
            </p:cNvPr>
            <p:cNvGrpSpPr/>
            <p:nvPr/>
          </p:nvGrpSpPr>
          <p:grpSpPr>
            <a:xfrm>
              <a:off x="2837636" y="3657600"/>
              <a:ext cx="770131" cy="472058"/>
              <a:chOff x="2837636" y="3731436"/>
              <a:chExt cx="770131" cy="472058"/>
            </a:xfrm>
          </p:grpSpPr>
          <p:sp>
            <p:nvSpPr>
              <p:cNvPr id="28" name="Flowchart: Process 27">
                <a:extLst>
                  <a:ext uri="{FF2B5EF4-FFF2-40B4-BE49-F238E27FC236}">
                    <a16:creationId xmlns:a16="http://schemas.microsoft.com/office/drawing/2014/main" id="{90063F3B-07BD-4203-F272-3340101D3A69}"/>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902238E-A0A6-AF6B-75B9-C9205BCF23DF}"/>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BB93867-D5EE-D6D1-0FF8-3C8DCF3558D6}"/>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36" name="Flowchart: Process 35">
                <a:extLst>
                  <a:ext uri="{FF2B5EF4-FFF2-40B4-BE49-F238E27FC236}">
                    <a16:creationId xmlns:a16="http://schemas.microsoft.com/office/drawing/2014/main" id="{FEDA2E2D-75F3-2B49-3505-3EDCC1F7AF7F}"/>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lowchart: Process 36">
                <a:extLst>
                  <a:ext uri="{FF2B5EF4-FFF2-40B4-BE49-F238E27FC236}">
                    <a16:creationId xmlns:a16="http://schemas.microsoft.com/office/drawing/2014/main" id="{54506216-69A2-92B9-26E8-A449E116E6F8}"/>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Down Arrow 38">
              <a:extLst>
                <a:ext uri="{FF2B5EF4-FFF2-40B4-BE49-F238E27FC236}">
                  <a16:creationId xmlns:a16="http://schemas.microsoft.com/office/drawing/2014/main" id="{33D177E6-1A10-B8BC-E25B-0C957FD01547}"/>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Down Arrow 39">
              <a:extLst>
                <a:ext uri="{FF2B5EF4-FFF2-40B4-BE49-F238E27FC236}">
                  <a16:creationId xmlns:a16="http://schemas.microsoft.com/office/drawing/2014/main" id="{3D7C7A72-EBBC-5A41-DB93-F1410966E447}"/>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Down Arrow 40">
              <a:extLst>
                <a:ext uri="{FF2B5EF4-FFF2-40B4-BE49-F238E27FC236}">
                  <a16:creationId xmlns:a16="http://schemas.microsoft.com/office/drawing/2014/main" id="{C548DEA1-9F37-7981-46FE-929FCFCA2BE4}"/>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549C11F1-23B9-5453-D60D-159DE20F4341}"/>
              </a:ext>
            </a:extLst>
          </p:cNvPr>
          <p:cNvGrpSpPr/>
          <p:nvPr/>
        </p:nvGrpSpPr>
        <p:grpSpPr>
          <a:xfrm>
            <a:off x="7467502" y="3374365"/>
            <a:ext cx="1620989" cy="1574439"/>
            <a:chOff x="2347913" y="3379765"/>
            <a:chExt cx="1620989" cy="1574439"/>
          </a:xfrm>
        </p:grpSpPr>
        <p:sp>
          <p:nvSpPr>
            <p:cNvPr id="44" name="Oval 43">
              <a:extLst>
                <a:ext uri="{FF2B5EF4-FFF2-40B4-BE49-F238E27FC236}">
                  <a16:creationId xmlns:a16="http://schemas.microsoft.com/office/drawing/2014/main" id="{599D5261-8E64-2687-6347-11D5715C333C}"/>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AD31567F-2431-9A05-4953-B70167D2EFB5}"/>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712F5231-948B-65B1-0834-ECC691C996CC}"/>
                </a:ext>
              </a:extLst>
            </p:cNvPr>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47" name="TextBox 46">
              <a:extLst>
                <a:ext uri="{FF2B5EF4-FFF2-40B4-BE49-F238E27FC236}">
                  <a16:creationId xmlns:a16="http://schemas.microsoft.com/office/drawing/2014/main" id="{46E3783F-AE1F-CB19-F935-E6A8A55A5191}"/>
                </a:ext>
              </a:extLst>
            </p:cNvPr>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48" name="Group 47">
              <a:extLst>
                <a:ext uri="{FF2B5EF4-FFF2-40B4-BE49-F238E27FC236}">
                  <a16:creationId xmlns:a16="http://schemas.microsoft.com/office/drawing/2014/main" id="{3CA13384-AA08-6FF5-3C59-CDEBD33B998F}"/>
                </a:ext>
              </a:extLst>
            </p:cNvPr>
            <p:cNvGrpSpPr/>
            <p:nvPr/>
          </p:nvGrpSpPr>
          <p:grpSpPr>
            <a:xfrm>
              <a:off x="2837636" y="3657600"/>
              <a:ext cx="770131" cy="472058"/>
              <a:chOff x="2837636" y="3731436"/>
              <a:chExt cx="770131" cy="472058"/>
            </a:xfrm>
          </p:grpSpPr>
          <p:sp>
            <p:nvSpPr>
              <p:cNvPr id="52" name="Flowchart: Process 51">
                <a:extLst>
                  <a:ext uri="{FF2B5EF4-FFF2-40B4-BE49-F238E27FC236}">
                    <a16:creationId xmlns:a16="http://schemas.microsoft.com/office/drawing/2014/main" id="{21D926C8-3052-4B28-C67A-4EE294B9B042}"/>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a:extLst>
                  <a:ext uri="{FF2B5EF4-FFF2-40B4-BE49-F238E27FC236}">
                    <a16:creationId xmlns:a16="http://schemas.microsoft.com/office/drawing/2014/main" id="{EBB8924B-4B72-9822-CED6-8985D9E8011F}"/>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F7D3069-327F-B9B6-C672-4BB992326F7D}"/>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55" name="Flowchart: Process 54">
                <a:extLst>
                  <a:ext uri="{FF2B5EF4-FFF2-40B4-BE49-F238E27FC236}">
                    <a16:creationId xmlns:a16="http://schemas.microsoft.com/office/drawing/2014/main" id="{22476BA8-68DC-6C92-649F-1119741A84F5}"/>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lowchart: Process 55">
                <a:extLst>
                  <a:ext uri="{FF2B5EF4-FFF2-40B4-BE49-F238E27FC236}">
                    <a16:creationId xmlns:a16="http://schemas.microsoft.com/office/drawing/2014/main" id="{256FAC6D-C682-AC7F-577F-BBF292A16965}"/>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9" name="Down Arrow 48">
              <a:extLst>
                <a:ext uri="{FF2B5EF4-FFF2-40B4-BE49-F238E27FC236}">
                  <a16:creationId xmlns:a16="http://schemas.microsoft.com/office/drawing/2014/main" id="{B3D744FF-A34E-6308-D718-A7A16ECDC4E2}"/>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Down Arrow 49">
              <a:extLst>
                <a:ext uri="{FF2B5EF4-FFF2-40B4-BE49-F238E27FC236}">
                  <a16:creationId xmlns:a16="http://schemas.microsoft.com/office/drawing/2014/main" id="{9D831997-FE9C-2EA8-A2C4-1322B9AA8B04}"/>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Down Arrow 50">
              <a:extLst>
                <a:ext uri="{FF2B5EF4-FFF2-40B4-BE49-F238E27FC236}">
                  <a16:creationId xmlns:a16="http://schemas.microsoft.com/office/drawing/2014/main" id="{F2796051-2227-9116-6EA9-B82AD9244720}"/>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95A1F0B7-DB2F-20E8-E83B-7BC35EE55381}"/>
              </a:ext>
            </a:extLst>
          </p:cNvPr>
          <p:cNvGrpSpPr/>
          <p:nvPr/>
        </p:nvGrpSpPr>
        <p:grpSpPr>
          <a:xfrm>
            <a:off x="5799113" y="3337518"/>
            <a:ext cx="1298792" cy="1075611"/>
            <a:chOff x="2347913" y="3379765"/>
            <a:chExt cx="1620989" cy="1574439"/>
          </a:xfrm>
        </p:grpSpPr>
        <p:sp>
          <p:nvSpPr>
            <p:cNvPr id="58" name="Oval 57">
              <a:extLst>
                <a:ext uri="{FF2B5EF4-FFF2-40B4-BE49-F238E27FC236}">
                  <a16:creationId xmlns:a16="http://schemas.microsoft.com/office/drawing/2014/main" id="{D7B96F79-0495-185D-75C3-A35BEE106AD5}"/>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3AB63637-76CD-7D46-8809-5FC0A567EB18}"/>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2FB6473D-E419-ECE5-2642-12447EC3BEC5}"/>
                </a:ext>
              </a:extLst>
            </p:cNvPr>
            <p:cNvSpPr txBox="1"/>
            <p:nvPr/>
          </p:nvSpPr>
          <p:spPr>
            <a:xfrm>
              <a:off x="3156025" y="4292223"/>
              <a:ext cx="812877" cy="585666"/>
            </a:xfrm>
            <a:prstGeom prst="rect">
              <a:avLst/>
            </a:prstGeom>
            <a:noFill/>
          </p:spPr>
          <p:txBody>
            <a:bodyPr wrap="square" rtlCol="0">
              <a:spAutoFit/>
            </a:bodyPr>
            <a:lstStyle/>
            <a:p>
              <a:pPr algn="ctr"/>
              <a:r>
                <a:rPr lang="en-US" sz="2000" dirty="0"/>
                <a:t>H</a:t>
              </a:r>
              <a:r>
                <a:rPr lang="en-US" sz="2000" baseline="-25000" dirty="0"/>
                <a:t>a</a:t>
              </a:r>
              <a:endParaRPr lang="en-US" sz="2000" dirty="0"/>
            </a:p>
          </p:txBody>
        </p:sp>
        <p:sp>
          <p:nvSpPr>
            <p:cNvPr id="61" name="TextBox 60">
              <a:extLst>
                <a:ext uri="{FF2B5EF4-FFF2-40B4-BE49-F238E27FC236}">
                  <a16:creationId xmlns:a16="http://schemas.microsoft.com/office/drawing/2014/main" id="{255A2DF4-57BA-47C2-5004-81ADBECC2EDE}"/>
                </a:ext>
              </a:extLst>
            </p:cNvPr>
            <p:cNvSpPr txBox="1"/>
            <p:nvPr/>
          </p:nvSpPr>
          <p:spPr>
            <a:xfrm>
              <a:off x="2347913" y="4282057"/>
              <a:ext cx="812877" cy="585666"/>
            </a:xfrm>
            <a:prstGeom prst="rect">
              <a:avLst/>
            </a:prstGeom>
            <a:noFill/>
          </p:spPr>
          <p:txBody>
            <a:bodyPr wrap="square" rtlCol="0">
              <a:spAutoFit/>
            </a:bodyPr>
            <a:lstStyle/>
            <a:p>
              <a:pPr algn="ctr"/>
              <a:r>
                <a:rPr lang="en-US" sz="2000" dirty="0"/>
                <a:t>H</a:t>
              </a:r>
              <a:r>
                <a:rPr lang="en-US" sz="2000" baseline="-25000" dirty="0"/>
                <a:t>0</a:t>
              </a:r>
              <a:endParaRPr lang="en-US" sz="2000" dirty="0"/>
            </a:p>
          </p:txBody>
        </p:sp>
        <p:grpSp>
          <p:nvGrpSpPr>
            <p:cNvPr id="62" name="Group 61">
              <a:extLst>
                <a:ext uri="{FF2B5EF4-FFF2-40B4-BE49-F238E27FC236}">
                  <a16:creationId xmlns:a16="http://schemas.microsoft.com/office/drawing/2014/main" id="{DC442DD1-B020-C03B-2DF0-432D0E23C953}"/>
                </a:ext>
              </a:extLst>
            </p:cNvPr>
            <p:cNvGrpSpPr/>
            <p:nvPr/>
          </p:nvGrpSpPr>
          <p:grpSpPr>
            <a:xfrm>
              <a:off x="2837636" y="3657600"/>
              <a:ext cx="770131" cy="472058"/>
              <a:chOff x="2837636" y="3731436"/>
              <a:chExt cx="770131" cy="472058"/>
            </a:xfrm>
          </p:grpSpPr>
          <p:sp>
            <p:nvSpPr>
              <p:cNvPr id="66" name="Flowchart: Process 65">
                <a:extLst>
                  <a:ext uri="{FF2B5EF4-FFF2-40B4-BE49-F238E27FC236}">
                    <a16:creationId xmlns:a16="http://schemas.microsoft.com/office/drawing/2014/main" id="{934451FE-208D-6941-1820-9DD5B04130C2}"/>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7" name="Straight Connector 66">
                <a:extLst>
                  <a:ext uri="{FF2B5EF4-FFF2-40B4-BE49-F238E27FC236}">
                    <a16:creationId xmlns:a16="http://schemas.microsoft.com/office/drawing/2014/main" id="{E474C8D8-86D3-6CCD-C5BA-BAF35F3D85A4}"/>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ABF228B9-A93B-77F4-CE72-F7AC4FF36493}"/>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69" name="Flowchart: Process 68">
                <a:extLst>
                  <a:ext uri="{FF2B5EF4-FFF2-40B4-BE49-F238E27FC236}">
                    <a16:creationId xmlns:a16="http://schemas.microsoft.com/office/drawing/2014/main" id="{F8180293-32D4-B087-50DD-4CFD63376BE2}"/>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Flowchart: Process 69">
                <a:extLst>
                  <a:ext uri="{FF2B5EF4-FFF2-40B4-BE49-F238E27FC236}">
                    <a16:creationId xmlns:a16="http://schemas.microsoft.com/office/drawing/2014/main" id="{A63730FC-4E29-593E-1D0C-419AADB06B29}"/>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Down Arrow 62">
              <a:extLst>
                <a:ext uri="{FF2B5EF4-FFF2-40B4-BE49-F238E27FC236}">
                  <a16:creationId xmlns:a16="http://schemas.microsoft.com/office/drawing/2014/main" id="{8F88F8CD-C6AE-EBE1-D0C7-7D689C269E85}"/>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Down Arrow 63">
              <a:extLst>
                <a:ext uri="{FF2B5EF4-FFF2-40B4-BE49-F238E27FC236}">
                  <a16:creationId xmlns:a16="http://schemas.microsoft.com/office/drawing/2014/main" id="{FD5E894A-DE39-B1EB-965B-1548F771A950}"/>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Down Arrow 64">
              <a:extLst>
                <a:ext uri="{FF2B5EF4-FFF2-40B4-BE49-F238E27FC236}">
                  <a16:creationId xmlns:a16="http://schemas.microsoft.com/office/drawing/2014/main" id="{827C9A84-0206-C2C1-8EB4-7117EFD219C1}"/>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Rounded Corners 2">
            <a:extLst>
              <a:ext uri="{FF2B5EF4-FFF2-40B4-BE49-F238E27FC236}">
                <a16:creationId xmlns:a16="http://schemas.microsoft.com/office/drawing/2014/main" id="{E4C24782-2F36-2418-70DC-1F88DCA52AFF}"/>
              </a:ext>
            </a:extLst>
          </p:cNvPr>
          <p:cNvSpPr/>
          <p:nvPr/>
        </p:nvSpPr>
        <p:spPr>
          <a:xfrm>
            <a:off x="4353878" y="311099"/>
            <a:ext cx="2924259" cy="685743"/>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35320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8220" y="646158"/>
            <a:ext cx="8194074" cy="1325563"/>
          </a:xfrm>
        </p:spPr>
        <p:txBody>
          <a:bodyPr>
            <a:normAutofit/>
          </a:bodyPr>
          <a:lstStyle/>
          <a:p>
            <a:r>
              <a:rPr lang="en-US" dirty="0"/>
              <a:t>FINER: Research question acronym</a:t>
            </a:r>
          </a:p>
        </p:txBody>
      </p:sp>
      <p:sp>
        <p:nvSpPr>
          <p:cNvPr id="3" name="Content Placeholder 2"/>
          <p:cNvSpPr>
            <a:spLocks noGrp="1"/>
          </p:cNvSpPr>
          <p:nvPr>
            <p:ph idx="1"/>
          </p:nvPr>
        </p:nvSpPr>
        <p:spPr>
          <a:xfrm>
            <a:off x="1565988" y="2074996"/>
            <a:ext cx="1990982" cy="4243388"/>
          </a:xfrm>
        </p:spPr>
        <p:txBody>
          <a:bodyPr>
            <a:normAutofit fontScale="92500" lnSpcReduction="20000"/>
          </a:bodyPr>
          <a:lstStyle/>
          <a:p>
            <a:pPr>
              <a:lnSpc>
                <a:spcPct val="200000"/>
              </a:lnSpc>
            </a:pPr>
            <a:r>
              <a:rPr lang="en-US" u="sng" dirty="0"/>
              <a:t>F</a:t>
            </a:r>
            <a:r>
              <a:rPr lang="en-US" dirty="0"/>
              <a:t>easible</a:t>
            </a:r>
          </a:p>
          <a:p>
            <a:pPr>
              <a:lnSpc>
                <a:spcPct val="200000"/>
              </a:lnSpc>
            </a:pPr>
            <a:r>
              <a:rPr lang="en-US" u="sng" dirty="0"/>
              <a:t>I</a:t>
            </a:r>
            <a:r>
              <a:rPr lang="en-US" dirty="0"/>
              <a:t>nteresting</a:t>
            </a:r>
          </a:p>
          <a:p>
            <a:pPr>
              <a:lnSpc>
                <a:spcPct val="200000"/>
              </a:lnSpc>
            </a:pPr>
            <a:r>
              <a:rPr lang="en-US" u="sng" dirty="0"/>
              <a:t>N</a:t>
            </a:r>
            <a:r>
              <a:rPr lang="en-US" dirty="0"/>
              <a:t>ovel</a:t>
            </a:r>
          </a:p>
          <a:p>
            <a:pPr>
              <a:lnSpc>
                <a:spcPct val="200000"/>
              </a:lnSpc>
            </a:pPr>
            <a:r>
              <a:rPr lang="en-US" u="sng" dirty="0"/>
              <a:t>E</a:t>
            </a:r>
            <a:r>
              <a:rPr lang="en-US" dirty="0"/>
              <a:t>thical</a:t>
            </a:r>
          </a:p>
          <a:p>
            <a:pPr>
              <a:lnSpc>
                <a:spcPct val="200000"/>
              </a:lnSpc>
            </a:pPr>
            <a:r>
              <a:rPr lang="en-US" u="sng" dirty="0"/>
              <a:t>R</a:t>
            </a:r>
            <a:r>
              <a:rPr lang="en-US" dirty="0"/>
              <a:t>elevant</a:t>
            </a:r>
          </a:p>
        </p:txBody>
      </p:sp>
      <p:sp>
        <p:nvSpPr>
          <p:cNvPr id="5" name="TextBox 4">
            <a:extLst>
              <a:ext uri="{FF2B5EF4-FFF2-40B4-BE49-F238E27FC236}">
                <a16:creationId xmlns:a16="http://schemas.microsoft.com/office/drawing/2014/main" id="{B0330612-EB98-465E-8F1B-4C407BB04B2A}"/>
              </a:ext>
            </a:extLst>
          </p:cNvPr>
          <p:cNvSpPr txBox="1"/>
          <p:nvPr/>
        </p:nvSpPr>
        <p:spPr>
          <a:xfrm>
            <a:off x="5963441" y="2947288"/>
            <a:ext cx="3516270" cy="1938992"/>
          </a:xfrm>
          <a:prstGeom prst="rect">
            <a:avLst/>
          </a:prstGeom>
          <a:noFill/>
        </p:spPr>
        <p:txBody>
          <a:bodyPr wrap="square" rtlCol="0">
            <a:spAutoFit/>
          </a:bodyPr>
          <a:lstStyle/>
          <a:p>
            <a:r>
              <a:rPr lang="en-US" sz="4000" dirty="0">
                <a:solidFill>
                  <a:srgbClr val="00B050"/>
                </a:solidFill>
              </a:rPr>
              <a:t>Asking a </a:t>
            </a:r>
            <a:r>
              <a:rPr lang="en-US" sz="4000" b="1" i="1" dirty="0">
                <a:solidFill>
                  <a:srgbClr val="00B050"/>
                </a:solidFill>
              </a:rPr>
              <a:t>good</a:t>
            </a:r>
            <a:r>
              <a:rPr lang="en-US" sz="4000" dirty="0">
                <a:solidFill>
                  <a:srgbClr val="00B050"/>
                </a:solidFill>
              </a:rPr>
              <a:t> question, vs. </a:t>
            </a:r>
          </a:p>
          <a:p>
            <a:r>
              <a:rPr lang="en-US" sz="4000" dirty="0">
                <a:solidFill>
                  <a:srgbClr val="00B050"/>
                </a:solidFill>
              </a:rPr>
              <a:t>a question</a:t>
            </a:r>
          </a:p>
        </p:txBody>
      </p:sp>
    </p:spTree>
    <p:extLst>
      <p:ext uri="{BB962C8B-B14F-4D97-AF65-F5344CB8AC3E}">
        <p14:creationId xmlns:p14="http://schemas.microsoft.com/office/powerpoint/2010/main" val="26102265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24224-6E0A-4180-8640-D759D4DC797B}"/>
              </a:ext>
            </a:extLst>
          </p:cNvPr>
          <p:cNvSpPr>
            <a:spLocks noGrp="1"/>
          </p:cNvSpPr>
          <p:nvPr>
            <p:ph type="title"/>
          </p:nvPr>
        </p:nvSpPr>
        <p:spPr/>
        <p:txBody>
          <a:bodyPr/>
          <a:lstStyle/>
          <a:p>
            <a:r>
              <a:rPr lang="en-US" dirty="0"/>
              <a:t>Some Tips on Questions</a:t>
            </a:r>
          </a:p>
        </p:txBody>
      </p:sp>
      <p:sp>
        <p:nvSpPr>
          <p:cNvPr id="3" name="Content Placeholder 2">
            <a:extLst>
              <a:ext uri="{FF2B5EF4-FFF2-40B4-BE49-F238E27FC236}">
                <a16:creationId xmlns:a16="http://schemas.microsoft.com/office/drawing/2014/main" id="{62BDEA51-AAA9-484C-80AA-7260BF23A24B}"/>
              </a:ext>
            </a:extLst>
          </p:cNvPr>
          <p:cNvSpPr>
            <a:spLocks noGrp="1"/>
          </p:cNvSpPr>
          <p:nvPr>
            <p:ph idx="1"/>
          </p:nvPr>
        </p:nvSpPr>
        <p:spPr/>
        <p:txBody>
          <a:bodyPr>
            <a:normAutofit/>
          </a:bodyPr>
          <a:lstStyle/>
          <a:p>
            <a:pPr algn="l"/>
            <a:r>
              <a:rPr lang="en-US" sz="3600" dirty="0">
                <a:latin typeface="Arial" panose="020B0604020202020204" pitchFamily="34" charset="0"/>
                <a:cs typeface="Arial" panose="020B0604020202020204" pitchFamily="34" charset="0"/>
              </a:rPr>
              <a:t>Ask a question with an interesting answer, </a:t>
            </a:r>
            <a:r>
              <a:rPr lang="en-US" sz="3600" i="1" dirty="0">
                <a:latin typeface="Arial" panose="020B0604020202020204" pitchFamily="34" charset="0"/>
                <a:cs typeface="Arial" panose="020B0604020202020204" pitchFamily="34" charset="0"/>
              </a:rPr>
              <a:t>no matter </a:t>
            </a:r>
            <a:r>
              <a:rPr lang="en-US" sz="3600" i="1" u="sng" dirty="0">
                <a:latin typeface="Arial" panose="020B0604020202020204" pitchFamily="34" charset="0"/>
                <a:cs typeface="Arial" panose="020B0604020202020204" pitchFamily="34" charset="0"/>
              </a:rPr>
              <a:t>what</a:t>
            </a:r>
            <a:r>
              <a:rPr lang="en-US" sz="3600" i="1" dirty="0">
                <a:latin typeface="Arial" panose="020B0604020202020204" pitchFamily="34" charset="0"/>
                <a:cs typeface="Arial" panose="020B0604020202020204" pitchFamily="34" charset="0"/>
              </a:rPr>
              <a:t> the answer</a:t>
            </a:r>
            <a:r>
              <a:rPr lang="en-US" sz="3600" dirty="0">
                <a:latin typeface="Arial" panose="020B0604020202020204" pitchFamily="34" charset="0"/>
                <a:cs typeface="Arial" panose="020B0604020202020204" pitchFamily="34" charset="0"/>
              </a:rPr>
              <a:t>.</a:t>
            </a:r>
          </a:p>
          <a:p>
            <a:pPr algn="l"/>
            <a:r>
              <a:rPr lang="en-US" sz="3200" dirty="0">
                <a:latin typeface="Arial" panose="020B0604020202020204" pitchFamily="34" charset="0"/>
                <a:cs typeface="Arial" panose="020B0604020202020204" pitchFamily="34" charset="0"/>
              </a:rPr>
              <a:t>Ask a question whose answer is not yes/no.</a:t>
            </a:r>
          </a:p>
          <a:p>
            <a:pPr lvl="1"/>
            <a:r>
              <a:rPr lang="en-US" sz="2800" dirty="0">
                <a:latin typeface="Arial" panose="020B0604020202020204" pitchFamily="34" charset="0"/>
                <a:cs typeface="Arial" panose="020B0604020202020204" pitchFamily="34" charset="0"/>
              </a:rPr>
              <a:t>Often, questions worded as yes/no are not investigated as so in practice!</a:t>
            </a:r>
          </a:p>
          <a:p>
            <a:pPr lvl="2"/>
            <a:endParaRPr lang="en-US" sz="4000" dirty="0"/>
          </a:p>
        </p:txBody>
      </p:sp>
    </p:spTree>
    <p:extLst>
      <p:ext uri="{BB962C8B-B14F-4D97-AF65-F5344CB8AC3E}">
        <p14:creationId xmlns:p14="http://schemas.microsoft.com/office/powerpoint/2010/main" val="19937819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26F40-F177-BE0F-50EE-37F6E8BEDA8A}"/>
            </a:ext>
          </a:extLst>
        </p:cNvPr>
        <p:cNvGrpSpPr/>
        <p:nvPr/>
      </p:nvGrpSpPr>
      <p:grpSpPr>
        <a:xfrm>
          <a:off x="0" y="0"/>
          <a:ext cx="0" cy="0"/>
          <a:chOff x="0" y="0"/>
          <a:chExt cx="0" cy="0"/>
        </a:xfrm>
      </p:grpSpPr>
      <p:sp>
        <p:nvSpPr>
          <p:cNvPr id="5" name="Oval 4">
            <a:extLst>
              <a:ext uri="{FF2B5EF4-FFF2-40B4-BE49-F238E27FC236}">
                <a16:creationId xmlns:a16="http://schemas.microsoft.com/office/drawing/2014/main" id="{EE0D2FBD-9BC1-1883-24A7-D72C9E922FEC}"/>
              </a:ext>
            </a:extLst>
          </p:cNvPr>
          <p:cNvSpPr/>
          <p:nvPr/>
        </p:nvSpPr>
        <p:spPr>
          <a:xfrm>
            <a:off x="2057400" y="152400"/>
            <a:ext cx="7696200" cy="6400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EF7337A-AF3A-74DF-682E-844E51D587CF}"/>
              </a:ext>
            </a:extLst>
          </p:cNvPr>
          <p:cNvSpPr txBox="1"/>
          <p:nvPr/>
        </p:nvSpPr>
        <p:spPr>
          <a:xfrm>
            <a:off x="4343400" y="358697"/>
            <a:ext cx="3581400" cy="523220"/>
          </a:xfrm>
          <a:prstGeom prst="rect">
            <a:avLst/>
          </a:prstGeom>
          <a:noFill/>
        </p:spPr>
        <p:txBody>
          <a:bodyPr wrap="square" rtlCol="0">
            <a:spAutoFit/>
          </a:bodyPr>
          <a:lstStyle/>
          <a:p>
            <a:r>
              <a:rPr lang="en-US" sz="2800" dirty="0"/>
              <a:t>Research Question</a:t>
            </a:r>
          </a:p>
        </p:txBody>
      </p:sp>
      <p:sp>
        <p:nvSpPr>
          <p:cNvPr id="7" name="Oval 6">
            <a:extLst>
              <a:ext uri="{FF2B5EF4-FFF2-40B4-BE49-F238E27FC236}">
                <a16:creationId xmlns:a16="http://schemas.microsoft.com/office/drawing/2014/main" id="{ACCA4E71-3083-6F6C-5E8D-599BCAA4767F}"/>
              </a:ext>
            </a:extLst>
          </p:cNvPr>
          <p:cNvSpPr/>
          <p:nvPr/>
        </p:nvSpPr>
        <p:spPr>
          <a:xfrm>
            <a:off x="3429000" y="978932"/>
            <a:ext cx="6019800" cy="5269468"/>
          </a:xfrm>
          <a:prstGeom prst="ellipse">
            <a:avLst/>
          </a:prstGeom>
          <a:solidFill>
            <a:schemeClr val="tx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C271299-2AC2-2C24-A2C4-D77BE6F351DA}"/>
              </a:ext>
            </a:extLst>
          </p:cNvPr>
          <p:cNvSpPr txBox="1"/>
          <p:nvPr/>
        </p:nvSpPr>
        <p:spPr>
          <a:xfrm>
            <a:off x="4953000" y="1446839"/>
            <a:ext cx="3581400" cy="523220"/>
          </a:xfrm>
          <a:prstGeom prst="rect">
            <a:avLst/>
          </a:prstGeom>
          <a:noFill/>
        </p:spPr>
        <p:txBody>
          <a:bodyPr wrap="square" rtlCol="0">
            <a:spAutoFit/>
          </a:bodyPr>
          <a:lstStyle/>
          <a:p>
            <a:r>
              <a:rPr lang="en-US" sz="2800" dirty="0"/>
              <a:t>Research Hypothesis</a:t>
            </a:r>
          </a:p>
        </p:txBody>
      </p:sp>
      <p:sp>
        <p:nvSpPr>
          <p:cNvPr id="17" name="Rounded Rectangle 16">
            <a:extLst>
              <a:ext uri="{FF2B5EF4-FFF2-40B4-BE49-F238E27FC236}">
                <a16:creationId xmlns:a16="http://schemas.microsoft.com/office/drawing/2014/main" id="{9711660A-9F7A-72A1-AF90-5E69F3824B36}"/>
              </a:ext>
            </a:extLst>
          </p:cNvPr>
          <p:cNvSpPr/>
          <p:nvPr/>
        </p:nvSpPr>
        <p:spPr>
          <a:xfrm>
            <a:off x="3810000" y="2164986"/>
            <a:ext cx="5364666" cy="2897668"/>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D001330A-6D59-E384-BAEA-526C7A6EC3FB}"/>
              </a:ext>
            </a:extLst>
          </p:cNvPr>
          <p:cNvSpPr/>
          <p:nvPr/>
        </p:nvSpPr>
        <p:spPr>
          <a:xfrm>
            <a:off x="3908502" y="21936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4EE51091-D44E-2EDB-B969-3ADB2391971F}"/>
              </a:ext>
            </a:extLst>
          </p:cNvPr>
          <p:cNvSpPr/>
          <p:nvPr/>
        </p:nvSpPr>
        <p:spPr>
          <a:xfrm>
            <a:off x="5676900" y="2164574"/>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926D3BC-989C-115F-1F62-839851A62372}"/>
              </a:ext>
            </a:extLst>
          </p:cNvPr>
          <p:cNvSpPr/>
          <p:nvPr/>
        </p:nvSpPr>
        <p:spPr>
          <a:xfrm>
            <a:off x="7498266" y="21699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E5CD1AC-358F-848C-9E46-C84071E5E40B}"/>
              </a:ext>
            </a:extLst>
          </p:cNvPr>
          <p:cNvSpPr txBox="1"/>
          <p:nvPr/>
        </p:nvSpPr>
        <p:spPr>
          <a:xfrm>
            <a:off x="5667804" y="2398694"/>
            <a:ext cx="1737732" cy="954107"/>
          </a:xfrm>
          <a:prstGeom prst="rect">
            <a:avLst/>
          </a:prstGeom>
          <a:noFill/>
        </p:spPr>
        <p:txBody>
          <a:bodyPr wrap="square" rtlCol="0">
            <a:spAutoFit/>
          </a:bodyPr>
          <a:lstStyle/>
          <a:p>
            <a:pPr algn="ctr"/>
            <a:r>
              <a:rPr lang="en-US" sz="2800" dirty="0"/>
              <a:t>Prediction</a:t>
            </a:r>
          </a:p>
          <a:p>
            <a:pPr algn="ctr"/>
            <a:r>
              <a:rPr lang="en-US" sz="2800" dirty="0"/>
              <a:t>2</a:t>
            </a:r>
          </a:p>
        </p:txBody>
      </p:sp>
      <p:sp>
        <p:nvSpPr>
          <p:cNvPr id="15" name="TextBox 14">
            <a:extLst>
              <a:ext uri="{FF2B5EF4-FFF2-40B4-BE49-F238E27FC236}">
                <a16:creationId xmlns:a16="http://schemas.microsoft.com/office/drawing/2014/main" id="{9D4EDA57-1C7E-2246-8012-99A9FC9C29AC}"/>
              </a:ext>
            </a:extLst>
          </p:cNvPr>
          <p:cNvSpPr txBox="1"/>
          <p:nvPr/>
        </p:nvSpPr>
        <p:spPr>
          <a:xfrm>
            <a:off x="3864629" y="2406533"/>
            <a:ext cx="1737732" cy="954107"/>
          </a:xfrm>
          <a:prstGeom prst="rect">
            <a:avLst/>
          </a:prstGeom>
          <a:noFill/>
        </p:spPr>
        <p:txBody>
          <a:bodyPr wrap="square" rtlCol="0">
            <a:spAutoFit/>
          </a:bodyPr>
          <a:lstStyle/>
          <a:p>
            <a:pPr algn="ctr"/>
            <a:r>
              <a:rPr lang="en-US" sz="2800" dirty="0"/>
              <a:t>Prediction</a:t>
            </a:r>
          </a:p>
          <a:p>
            <a:pPr algn="ctr"/>
            <a:r>
              <a:rPr lang="en-US" sz="2800" dirty="0"/>
              <a:t>1</a:t>
            </a:r>
          </a:p>
        </p:txBody>
      </p:sp>
      <p:sp>
        <p:nvSpPr>
          <p:cNvPr id="16" name="TextBox 15">
            <a:extLst>
              <a:ext uri="{FF2B5EF4-FFF2-40B4-BE49-F238E27FC236}">
                <a16:creationId xmlns:a16="http://schemas.microsoft.com/office/drawing/2014/main" id="{AB2F1887-8808-27CE-6E8A-66427F25DD7C}"/>
              </a:ext>
            </a:extLst>
          </p:cNvPr>
          <p:cNvSpPr txBox="1"/>
          <p:nvPr/>
        </p:nvSpPr>
        <p:spPr>
          <a:xfrm>
            <a:off x="7497534" y="2425659"/>
            <a:ext cx="1737732" cy="954107"/>
          </a:xfrm>
          <a:prstGeom prst="rect">
            <a:avLst/>
          </a:prstGeom>
          <a:noFill/>
        </p:spPr>
        <p:txBody>
          <a:bodyPr wrap="square" rtlCol="0">
            <a:spAutoFit/>
          </a:bodyPr>
          <a:lstStyle/>
          <a:p>
            <a:pPr algn="ctr"/>
            <a:r>
              <a:rPr lang="en-US" sz="2800" dirty="0"/>
              <a:t>Prediction</a:t>
            </a:r>
          </a:p>
          <a:p>
            <a:pPr algn="ctr"/>
            <a:r>
              <a:rPr lang="en-US" sz="2800" dirty="0"/>
              <a:t>3</a:t>
            </a:r>
          </a:p>
        </p:txBody>
      </p:sp>
      <p:sp>
        <p:nvSpPr>
          <p:cNvPr id="18" name="TextBox 17">
            <a:extLst>
              <a:ext uri="{FF2B5EF4-FFF2-40B4-BE49-F238E27FC236}">
                <a16:creationId xmlns:a16="http://schemas.microsoft.com/office/drawing/2014/main" id="{F70C2E48-4164-D6AB-484D-4D797876F5BF}"/>
              </a:ext>
            </a:extLst>
          </p:cNvPr>
          <p:cNvSpPr txBox="1"/>
          <p:nvPr/>
        </p:nvSpPr>
        <p:spPr>
          <a:xfrm>
            <a:off x="5708495" y="4549599"/>
            <a:ext cx="2332464" cy="523220"/>
          </a:xfrm>
          <a:prstGeom prst="rect">
            <a:avLst/>
          </a:prstGeom>
          <a:noFill/>
        </p:spPr>
        <p:txBody>
          <a:bodyPr wrap="square" rtlCol="0">
            <a:spAutoFit/>
          </a:bodyPr>
          <a:lstStyle/>
          <a:p>
            <a:r>
              <a:rPr lang="en-US" sz="2800" dirty="0"/>
              <a:t>Methods</a:t>
            </a:r>
          </a:p>
        </p:txBody>
      </p:sp>
      <p:sp>
        <p:nvSpPr>
          <p:cNvPr id="23" name="5-Point Star 22">
            <a:extLst>
              <a:ext uri="{FF2B5EF4-FFF2-40B4-BE49-F238E27FC236}">
                <a16:creationId xmlns:a16="http://schemas.microsoft.com/office/drawing/2014/main" id="{795F43D9-C5B4-94A6-29E2-C342BEEF8822}"/>
              </a:ext>
            </a:extLst>
          </p:cNvPr>
          <p:cNvSpPr/>
          <p:nvPr/>
        </p:nvSpPr>
        <p:spPr>
          <a:xfrm>
            <a:off x="9174666" y="5432409"/>
            <a:ext cx="1493334" cy="1327088"/>
          </a:xfrm>
          <a:prstGeom prst="star5">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AF7F085B-DBBD-BEBC-ED23-4BAB98389B85}"/>
              </a:ext>
            </a:extLst>
          </p:cNvPr>
          <p:cNvSpPr txBox="1"/>
          <p:nvPr/>
        </p:nvSpPr>
        <p:spPr>
          <a:xfrm>
            <a:off x="8848145" y="5866058"/>
            <a:ext cx="2016861" cy="369332"/>
          </a:xfrm>
          <a:prstGeom prst="rect">
            <a:avLst/>
          </a:prstGeom>
          <a:noFill/>
        </p:spPr>
        <p:txBody>
          <a:bodyPr wrap="square" rtlCol="0">
            <a:spAutoFit/>
          </a:bodyPr>
          <a:lstStyle/>
          <a:p>
            <a:pPr algn="ctr"/>
            <a:r>
              <a:rPr lang="en-US" dirty="0"/>
              <a:t>Conclusion</a:t>
            </a:r>
          </a:p>
        </p:txBody>
      </p:sp>
      <p:sp>
        <p:nvSpPr>
          <p:cNvPr id="25" name="Notched Right Arrow 24">
            <a:extLst>
              <a:ext uri="{FF2B5EF4-FFF2-40B4-BE49-F238E27FC236}">
                <a16:creationId xmlns:a16="http://schemas.microsoft.com/office/drawing/2014/main" id="{C957D0A6-7C17-5ED4-B56B-1EC0B3AEF1CA}"/>
              </a:ext>
            </a:extLst>
          </p:cNvPr>
          <p:cNvSpPr/>
          <p:nvPr/>
        </p:nvSpPr>
        <p:spPr>
          <a:xfrm rot="2822520">
            <a:off x="8697120" y="5304133"/>
            <a:ext cx="835072" cy="552048"/>
          </a:xfrm>
          <a:prstGeom prst="notchedRightArrow">
            <a:avLst/>
          </a:prstGeom>
          <a:solidFill>
            <a:schemeClr val="tx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41">
            <a:extLst>
              <a:ext uri="{FF2B5EF4-FFF2-40B4-BE49-F238E27FC236}">
                <a16:creationId xmlns:a16="http://schemas.microsoft.com/office/drawing/2014/main" id="{5A9773CB-B4F1-D410-8073-CE1477FC8A96}"/>
              </a:ext>
            </a:extLst>
          </p:cNvPr>
          <p:cNvGrpSpPr/>
          <p:nvPr/>
        </p:nvGrpSpPr>
        <p:grpSpPr>
          <a:xfrm>
            <a:off x="3871914" y="3379766"/>
            <a:ext cx="1620989" cy="1574439"/>
            <a:chOff x="2347913" y="3379765"/>
            <a:chExt cx="1620989" cy="1574439"/>
          </a:xfrm>
        </p:grpSpPr>
        <p:sp>
          <p:nvSpPr>
            <p:cNvPr id="19" name="Oval 18">
              <a:extLst>
                <a:ext uri="{FF2B5EF4-FFF2-40B4-BE49-F238E27FC236}">
                  <a16:creationId xmlns:a16="http://schemas.microsoft.com/office/drawing/2014/main" id="{E3301EE9-7D21-7CAA-F348-1E0D9832ECB1}"/>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7DB4115-B69E-0C2C-6AC2-2EDB8E77EAA3}"/>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BC7B8BF-6EC8-FB5F-67E9-1EA7506D7FED}"/>
                </a:ext>
              </a:extLst>
            </p:cNvPr>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26" name="TextBox 25">
              <a:extLst>
                <a:ext uri="{FF2B5EF4-FFF2-40B4-BE49-F238E27FC236}">
                  <a16:creationId xmlns:a16="http://schemas.microsoft.com/office/drawing/2014/main" id="{3E3A66FE-D21E-4DF1-AF2D-B7CD3FB215A9}"/>
                </a:ext>
              </a:extLst>
            </p:cNvPr>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38" name="Group 37">
              <a:extLst>
                <a:ext uri="{FF2B5EF4-FFF2-40B4-BE49-F238E27FC236}">
                  <a16:creationId xmlns:a16="http://schemas.microsoft.com/office/drawing/2014/main" id="{CB60DDD4-AD83-6B0C-CCE2-431DA1E13129}"/>
                </a:ext>
              </a:extLst>
            </p:cNvPr>
            <p:cNvGrpSpPr/>
            <p:nvPr/>
          </p:nvGrpSpPr>
          <p:grpSpPr>
            <a:xfrm>
              <a:off x="2837636" y="3657600"/>
              <a:ext cx="770131" cy="472058"/>
              <a:chOff x="2837636" y="3731436"/>
              <a:chExt cx="770131" cy="472058"/>
            </a:xfrm>
          </p:grpSpPr>
          <p:sp>
            <p:nvSpPr>
              <p:cNvPr id="28" name="Flowchart: Process 27">
                <a:extLst>
                  <a:ext uri="{FF2B5EF4-FFF2-40B4-BE49-F238E27FC236}">
                    <a16:creationId xmlns:a16="http://schemas.microsoft.com/office/drawing/2014/main" id="{532C1224-210A-F7E1-DC72-278D0E88F48E}"/>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88681DB7-EAEE-A9EA-876B-DB4CD4D84352}"/>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1B3EA740-AC0F-01B0-B170-111757EB71F0}"/>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36" name="Flowchart: Process 35">
                <a:extLst>
                  <a:ext uri="{FF2B5EF4-FFF2-40B4-BE49-F238E27FC236}">
                    <a16:creationId xmlns:a16="http://schemas.microsoft.com/office/drawing/2014/main" id="{2248BE26-1375-AE73-E105-E3807A45CE44}"/>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lowchart: Process 36">
                <a:extLst>
                  <a:ext uri="{FF2B5EF4-FFF2-40B4-BE49-F238E27FC236}">
                    <a16:creationId xmlns:a16="http://schemas.microsoft.com/office/drawing/2014/main" id="{7FEE4419-3224-B380-3FF5-013D5F846798}"/>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Down Arrow 38">
              <a:extLst>
                <a:ext uri="{FF2B5EF4-FFF2-40B4-BE49-F238E27FC236}">
                  <a16:creationId xmlns:a16="http://schemas.microsoft.com/office/drawing/2014/main" id="{31A920D1-49E9-9048-7192-DB20737EBEE6}"/>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Down Arrow 39">
              <a:extLst>
                <a:ext uri="{FF2B5EF4-FFF2-40B4-BE49-F238E27FC236}">
                  <a16:creationId xmlns:a16="http://schemas.microsoft.com/office/drawing/2014/main" id="{F77673AA-4CF1-2C29-09E3-F91BC92FC137}"/>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Down Arrow 40">
              <a:extLst>
                <a:ext uri="{FF2B5EF4-FFF2-40B4-BE49-F238E27FC236}">
                  <a16:creationId xmlns:a16="http://schemas.microsoft.com/office/drawing/2014/main" id="{C0864679-1178-2E0E-4742-2EA12942B04C}"/>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23A2D715-DD4F-9812-E5A9-0839834D1C7D}"/>
              </a:ext>
            </a:extLst>
          </p:cNvPr>
          <p:cNvGrpSpPr/>
          <p:nvPr/>
        </p:nvGrpSpPr>
        <p:grpSpPr>
          <a:xfrm>
            <a:off x="7467502" y="3374365"/>
            <a:ext cx="1620989" cy="1574439"/>
            <a:chOff x="2347913" y="3379765"/>
            <a:chExt cx="1620989" cy="1574439"/>
          </a:xfrm>
        </p:grpSpPr>
        <p:sp>
          <p:nvSpPr>
            <p:cNvPr id="44" name="Oval 43">
              <a:extLst>
                <a:ext uri="{FF2B5EF4-FFF2-40B4-BE49-F238E27FC236}">
                  <a16:creationId xmlns:a16="http://schemas.microsoft.com/office/drawing/2014/main" id="{46D195B3-5F5A-ECD5-3891-3BC421ECA855}"/>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87A403A6-AC4D-62DA-83FC-AC28E4EEF18E}"/>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D43A5194-7C84-9F89-6C90-43C244BEBAEB}"/>
                </a:ext>
              </a:extLst>
            </p:cNvPr>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47" name="TextBox 46">
              <a:extLst>
                <a:ext uri="{FF2B5EF4-FFF2-40B4-BE49-F238E27FC236}">
                  <a16:creationId xmlns:a16="http://schemas.microsoft.com/office/drawing/2014/main" id="{8991CBB0-79F3-66A1-6301-793D83C96949}"/>
                </a:ext>
              </a:extLst>
            </p:cNvPr>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48" name="Group 47">
              <a:extLst>
                <a:ext uri="{FF2B5EF4-FFF2-40B4-BE49-F238E27FC236}">
                  <a16:creationId xmlns:a16="http://schemas.microsoft.com/office/drawing/2014/main" id="{3847C364-C78C-DA77-2828-889CD21BC35B}"/>
                </a:ext>
              </a:extLst>
            </p:cNvPr>
            <p:cNvGrpSpPr/>
            <p:nvPr/>
          </p:nvGrpSpPr>
          <p:grpSpPr>
            <a:xfrm>
              <a:off x="2837636" y="3657600"/>
              <a:ext cx="770131" cy="472058"/>
              <a:chOff x="2837636" y="3731436"/>
              <a:chExt cx="770131" cy="472058"/>
            </a:xfrm>
          </p:grpSpPr>
          <p:sp>
            <p:nvSpPr>
              <p:cNvPr id="52" name="Flowchart: Process 51">
                <a:extLst>
                  <a:ext uri="{FF2B5EF4-FFF2-40B4-BE49-F238E27FC236}">
                    <a16:creationId xmlns:a16="http://schemas.microsoft.com/office/drawing/2014/main" id="{1624690C-5020-D47F-7A48-9ECA028EB166}"/>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a:extLst>
                  <a:ext uri="{FF2B5EF4-FFF2-40B4-BE49-F238E27FC236}">
                    <a16:creationId xmlns:a16="http://schemas.microsoft.com/office/drawing/2014/main" id="{2D3990C4-427C-8630-14CF-79BBD8BE5F05}"/>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6D26F88-64DF-EB00-85FE-3975B6E93B50}"/>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55" name="Flowchart: Process 54">
                <a:extLst>
                  <a:ext uri="{FF2B5EF4-FFF2-40B4-BE49-F238E27FC236}">
                    <a16:creationId xmlns:a16="http://schemas.microsoft.com/office/drawing/2014/main" id="{8CB28D66-95F9-AD62-9B49-9D6A7837CDC8}"/>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lowchart: Process 55">
                <a:extLst>
                  <a:ext uri="{FF2B5EF4-FFF2-40B4-BE49-F238E27FC236}">
                    <a16:creationId xmlns:a16="http://schemas.microsoft.com/office/drawing/2014/main" id="{3C9C5125-5E29-2062-8320-15D04048A9EA}"/>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9" name="Down Arrow 48">
              <a:extLst>
                <a:ext uri="{FF2B5EF4-FFF2-40B4-BE49-F238E27FC236}">
                  <a16:creationId xmlns:a16="http://schemas.microsoft.com/office/drawing/2014/main" id="{D434E67B-53C2-0517-F86A-3B0F552F107F}"/>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Down Arrow 49">
              <a:extLst>
                <a:ext uri="{FF2B5EF4-FFF2-40B4-BE49-F238E27FC236}">
                  <a16:creationId xmlns:a16="http://schemas.microsoft.com/office/drawing/2014/main" id="{72FCBF97-71E5-945F-9D43-ADA42D2F2108}"/>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Down Arrow 50">
              <a:extLst>
                <a:ext uri="{FF2B5EF4-FFF2-40B4-BE49-F238E27FC236}">
                  <a16:creationId xmlns:a16="http://schemas.microsoft.com/office/drawing/2014/main" id="{3414F848-C0D1-AED1-7EA5-E0827315B178}"/>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CA00C8F0-2D19-C44B-F068-33DC82A6819E}"/>
              </a:ext>
            </a:extLst>
          </p:cNvPr>
          <p:cNvGrpSpPr/>
          <p:nvPr/>
        </p:nvGrpSpPr>
        <p:grpSpPr>
          <a:xfrm>
            <a:off x="5799113" y="3337518"/>
            <a:ext cx="1298792" cy="1075611"/>
            <a:chOff x="2347913" y="3379765"/>
            <a:chExt cx="1620989" cy="1574439"/>
          </a:xfrm>
        </p:grpSpPr>
        <p:sp>
          <p:nvSpPr>
            <p:cNvPr id="58" name="Oval 57">
              <a:extLst>
                <a:ext uri="{FF2B5EF4-FFF2-40B4-BE49-F238E27FC236}">
                  <a16:creationId xmlns:a16="http://schemas.microsoft.com/office/drawing/2014/main" id="{267856CD-3FC2-F900-6FE4-428A7BE3FB5B}"/>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E61D8116-8C4B-53E6-2C49-F9FC3EAFD56D}"/>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2E26D0E7-A414-6AC6-4F2F-5C729C52F896}"/>
                </a:ext>
              </a:extLst>
            </p:cNvPr>
            <p:cNvSpPr txBox="1"/>
            <p:nvPr/>
          </p:nvSpPr>
          <p:spPr>
            <a:xfrm>
              <a:off x="3156025" y="4292223"/>
              <a:ext cx="812877" cy="585666"/>
            </a:xfrm>
            <a:prstGeom prst="rect">
              <a:avLst/>
            </a:prstGeom>
            <a:noFill/>
          </p:spPr>
          <p:txBody>
            <a:bodyPr wrap="square" rtlCol="0">
              <a:spAutoFit/>
            </a:bodyPr>
            <a:lstStyle/>
            <a:p>
              <a:pPr algn="ctr"/>
              <a:r>
                <a:rPr lang="en-US" sz="2000" dirty="0"/>
                <a:t>H</a:t>
              </a:r>
              <a:r>
                <a:rPr lang="en-US" sz="2000" baseline="-25000" dirty="0"/>
                <a:t>a</a:t>
              </a:r>
              <a:endParaRPr lang="en-US" sz="2000" dirty="0"/>
            </a:p>
          </p:txBody>
        </p:sp>
        <p:sp>
          <p:nvSpPr>
            <p:cNvPr id="61" name="TextBox 60">
              <a:extLst>
                <a:ext uri="{FF2B5EF4-FFF2-40B4-BE49-F238E27FC236}">
                  <a16:creationId xmlns:a16="http://schemas.microsoft.com/office/drawing/2014/main" id="{784E9F75-9D3F-7A24-4E86-535F3E433458}"/>
                </a:ext>
              </a:extLst>
            </p:cNvPr>
            <p:cNvSpPr txBox="1"/>
            <p:nvPr/>
          </p:nvSpPr>
          <p:spPr>
            <a:xfrm>
              <a:off x="2347913" y="4282057"/>
              <a:ext cx="812877" cy="585666"/>
            </a:xfrm>
            <a:prstGeom prst="rect">
              <a:avLst/>
            </a:prstGeom>
            <a:noFill/>
          </p:spPr>
          <p:txBody>
            <a:bodyPr wrap="square" rtlCol="0">
              <a:spAutoFit/>
            </a:bodyPr>
            <a:lstStyle/>
            <a:p>
              <a:pPr algn="ctr"/>
              <a:r>
                <a:rPr lang="en-US" sz="2000" dirty="0"/>
                <a:t>H</a:t>
              </a:r>
              <a:r>
                <a:rPr lang="en-US" sz="2000" baseline="-25000" dirty="0"/>
                <a:t>0</a:t>
              </a:r>
              <a:endParaRPr lang="en-US" sz="2000" dirty="0"/>
            </a:p>
          </p:txBody>
        </p:sp>
        <p:grpSp>
          <p:nvGrpSpPr>
            <p:cNvPr id="62" name="Group 61">
              <a:extLst>
                <a:ext uri="{FF2B5EF4-FFF2-40B4-BE49-F238E27FC236}">
                  <a16:creationId xmlns:a16="http://schemas.microsoft.com/office/drawing/2014/main" id="{6085F51E-1675-7FA4-8098-AB68CE1E2B9E}"/>
                </a:ext>
              </a:extLst>
            </p:cNvPr>
            <p:cNvGrpSpPr/>
            <p:nvPr/>
          </p:nvGrpSpPr>
          <p:grpSpPr>
            <a:xfrm>
              <a:off x="2837636" y="3657600"/>
              <a:ext cx="770131" cy="472058"/>
              <a:chOff x="2837636" y="3731436"/>
              <a:chExt cx="770131" cy="472058"/>
            </a:xfrm>
          </p:grpSpPr>
          <p:sp>
            <p:nvSpPr>
              <p:cNvPr id="66" name="Flowchart: Process 65">
                <a:extLst>
                  <a:ext uri="{FF2B5EF4-FFF2-40B4-BE49-F238E27FC236}">
                    <a16:creationId xmlns:a16="http://schemas.microsoft.com/office/drawing/2014/main" id="{108924AA-0530-A9F6-C303-456D90B3C6E4}"/>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7" name="Straight Connector 66">
                <a:extLst>
                  <a:ext uri="{FF2B5EF4-FFF2-40B4-BE49-F238E27FC236}">
                    <a16:creationId xmlns:a16="http://schemas.microsoft.com/office/drawing/2014/main" id="{047CB4AF-17CD-42D4-2FC9-97D8CD6E8975}"/>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2BA63B7-A69D-FB70-9461-6C8A72851AF4}"/>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69" name="Flowchart: Process 68">
                <a:extLst>
                  <a:ext uri="{FF2B5EF4-FFF2-40B4-BE49-F238E27FC236}">
                    <a16:creationId xmlns:a16="http://schemas.microsoft.com/office/drawing/2014/main" id="{BB7434F1-C50A-1E2D-2FCC-55ADAB934A3B}"/>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Flowchart: Process 69">
                <a:extLst>
                  <a:ext uri="{FF2B5EF4-FFF2-40B4-BE49-F238E27FC236}">
                    <a16:creationId xmlns:a16="http://schemas.microsoft.com/office/drawing/2014/main" id="{8D501113-C0E7-222F-AD16-2C5946D7C62A}"/>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Down Arrow 62">
              <a:extLst>
                <a:ext uri="{FF2B5EF4-FFF2-40B4-BE49-F238E27FC236}">
                  <a16:creationId xmlns:a16="http://schemas.microsoft.com/office/drawing/2014/main" id="{9F341A60-9B6E-5BFF-2F8D-036E3FAF03CB}"/>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Down Arrow 63">
              <a:extLst>
                <a:ext uri="{FF2B5EF4-FFF2-40B4-BE49-F238E27FC236}">
                  <a16:creationId xmlns:a16="http://schemas.microsoft.com/office/drawing/2014/main" id="{C9B66C52-D12F-8F51-B923-61114EC69DE1}"/>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Down Arrow 64">
              <a:extLst>
                <a:ext uri="{FF2B5EF4-FFF2-40B4-BE49-F238E27FC236}">
                  <a16:creationId xmlns:a16="http://schemas.microsoft.com/office/drawing/2014/main" id="{64BCCAB6-589B-3BB3-1110-34EB68F4ECDF}"/>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Rounded Corners 2">
            <a:extLst>
              <a:ext uri="{FF2B5EF4-FFF2-40B4-BE49-F238E27FC236}">
                <a16:creationId xmlns:a16="http://schemas.microsoft.com/office/drawing/2014/main" id="{5D89DF48-DB44-3643-C672-7548D68DC18C}"/>
              </a:ext>
            </a:extLst>
          </p:cNvPr>
          <p:cNvSpPr/>
          <p:nvPr/>
        </p:nvSpPr>
        <p:spPr>
          <a:xfrm>
            <a:off x="5000541" y="1391962"/>
            <a:ext cx="2966289" cy="685743"/>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98418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47956" y="1768475"/>
            <a:ext cx="8839200" cy="4724400"/>
          </a:xfrm>
        </p:spPr>
        <p:txBody>
          <a:bodyPr>
            <a:normAutofit lnSpcReduction="10000"/>
          </a:bodyPr>
          <a:lstStyle/>
          <a:p>
            <a:pPr>
              <a:buNone/>
            </a:pPr>
            <a:r>
              <a:rPr lang="en-US" dirty="0"/>
              <a:t>Research question</a:t>
            </a:r>
          </a:p>
          <a:p>
            <a:pPr lvl="1"/>
            <a:r>
              <a:rPr lang="en-US" dirty="0"/>
              <a:t>Formal statement of an unknown that one would like to understand</a:t>
            </a:r>
          </a:p>
          <a:p>
            <a:pPr>
              <a:buNone/>
            </a:pPr>
            <a:r>
              <a:rPr lang="en-US" dirty="0"/>
              <a:t>Research hypothesis</a:t>
            </a:r>
          </a:p>
          <a:p>
            <a:pPr lvl="1"/>
            <a:r>
              <a:rPr lang="en-US" dirty="0"/>
              <a:t>Explanation based on assumptions that makes a testable prediction</a:t>
            </a:r>
          </a:p>
          <a:p>
            <a:pPr>
              <a:buNone/>
            </a:pPr>
            <a:endParaRPr lang="en-US" i="1" dirty="0"/>
          </a:p>
          <a:p>
            <a:pPr marL="457200" lvl="1" indent="-342900">
              <a:tabLst>
                <a:tab pos="3665538" algn="l"/>
              </a:tabLst>
              <a:defRPr/>
            </a:pPr>
            <a:r>
              <a:rPr lang="en-US" sz="3200" dirty="0">
                <a:solidFill>
                  <a:srgbClr val="000000"/>
                </a:solidFill>
              </a:rPr>
              <a:t>Prose form of the real-world condition, e.g.</a:t>
            </a:r>
          </a:p>
          <a:p>
            <a:pPr marL="800100" lvl="2">
              <a:tabLst>
                <a:tab pos="3665538" algn="l"/>
              </a:tabLst>
              <a:defRPr/>
            </a:pPr>
            <a:r>
              <a:rPr lang="en-US" sz="2800" dirty="0">
                <a:solidFill>
                  <a:srgbClr val="000000"/>
                </a:solidFill>
              </a:rPr>
              <a:t>A new type of therapy will be more effective at reducing depressive symptoms than old type.</a:t>
            </a:r>
          </a:p>
          <a:p>
            <a:pPr marL="800100" lvl="2">
              <a:tabLst>
                <a:tab pos="3665538" algn="l"/>
              </a:tabLst>
              <a:defRPr/>
            </a:pPr>
            <a:r>
              <a:rPr lang="en-US" sz="2800" dirty="0">
                <a:solidFill>
                  <a:srgbClr val="000000"/>
                </a:solidFill>
              </a:rPr>
              <a:t>Studying for the SAT leads to higher than average scores on the SAT.</a:t>
            </a:r>
          </a:p>
          <a:p>
            <a:pPr>
              <a:buNone/>
            </a:pPr>
            <a:endParaRPr lang="en-US" i="1" dirty="0"/>
          </a:p>
          <a:p>
            <a:endParaRPr lang="en-US" dirty="0"/>
          </a:p>
        </p:txBody>
      </p:sp>
      <p:sp>
        <p:nvSpPr>
          <p:cNvPr id="5" name="Title 4">
            <a:extLst>
              <a:ext uri="{FF2B5EF4-FFF2-40B4-BE49-F238E27FC236}">
                <a16:creationId xmlns:a16="http://schemas.microsoft.com/office/drawing/2014/main" id="{13C6D6C1-28CE-37BB-25E4-495D0EF22D34}"/>
              </a:ext>
            </a:extLst>
          </p:cNvPr>
          <p:cNvSpPr>
            <a:spLocks noGrp="1"/>
          </p:cNvSpPr>
          <p:nvPr>
            <p:ph type="title"/>
          </p:nvPr>
        </p:nvSpPr>
        <p:spPr/>
        <p:txBody>
          <a:bodyPr/>
          <a:lstStyle/>
          <a:p>
            <a:r>
              <a:rPr lang="en-US" dirty="0"/>
              <a:t>Research Hypotheses Answer Research Questions</a:t>
            </a:r>
          </a:p>
        </p:txBody>
      </p:sp>
    </p:spTree>
    <p:extLst>
      <p:ext uri="{BB962C8B-B14F-4D97-AF65-F5344CB8AC3E}">
        <p14:creationId xmlns:p14="http://schemas.microsoft.com/office/powerpoint/2010/main" val="2105299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56B9B-F018-E634-4E59-11F9EB9DD051}"/>
            </a:ext>
          </a:extLst>
        </p:cNvPr>
        <p:cNvGrpSpPr/>
        <p:nvPr/>
      </p:nvGrpSpPr>
      <p:grpSpPr>
        <a:xfrm>
          <a:off x="0" y="0"/>
          <a:ext cx="0" cy="0"/>
          <a:chOff x="0" y="0"/>
          <a:chExt cx="0" cy="0"/>
        </a:xfrm>
      </p:grpSpPr>
      <p:sp>
        <p:nvSpPr>
          <p:cNvPr id="5" name="Oval 4">
            <a:extLst>
              <a:ext uri="{FF2B5EF4-FFF2-40B4-BE49-F238E27FC236}">
                <a16:creationId xmlns:a16="http://schemas.microsoft.com/office/drawing/2014/main" id="{19B3D28C-F0FF-CBD8-3200-B52F276EF9C9}"/>
              </a:ext>
            </a:extLst>
          </p:cNvPr>
          <p:cNvSpPr/>
          <p:nvPr/>
        </p:nvSpPr>
        <p:spPr>
          <a:xfrm>
            <a:off x="2057400" y="152400"/>
            <a:ext cx="7696200" cy="6400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B36E3A6-6757-F7ED-E944-854604E6089E}"/>
              </a:ext>
            </a:extLst>
          </p:cNvPr>
          <p:cNvSpPr txBox="1"/>
          <p:nvPr/>
        </p:nvSpPr>
        <p:spPr>
          <a:xfrm>
            <a:off x="4343400" y="358697"/>
            <a:ext cx="3581400" cy="523220"/>
          </a:xfrm>
          <a:prstGeom prst="rect">
            <a:avLst/>
          </a:prstGeom>
          <a:noFill/>
        </p:spPr>
        <p:txBody>
          <a:bodyPr wrap="square" rtlCol="0">
            <a:spAutoFit/>
          </a:bodyPr>
          <a:lstStyle/>
          <a:p>
            <a:r>
              <a:rPr lang="en-US" sz="2800" dirty="0"/>
              <a:t>Research Question</a:t>
            </a:r>
          </a:p>
        </p:txBody>
      </p:sp>
      <p:sp>
        <p:nvSpPr>
          <p:cNvPr id="7" name="Oval 6">
            <a:extLst>
              <a:ext uri="{FF2B5EF4-FFF2-40B4-BE49-F238E27FC236}">
                <a16:creationId xmlns:a16="http://schemas.microsoft.com/office/drawing/2014/main" id="{3C7506EE-04F4-4B38-0954-0B72C1AF9B26}"/>
              </a:ext>
            </a:extLst>
          </p:cNvPr>
          <p:cNvSpPr/>
          <p:nvPr/>
        </p:nvSpPr>
        <p:spPr>
          <a:xfrm>
            <a:off x="3429000" y="978932"/>
            <a:ext cx="6019800" cy="5269468"/>
          </a:xfrm>
          <a:prstGeom prst="ellipse">
            <a:avLst/>
          </a:prstGeom>
          <a:solidFill>
            <a:schemeClr val="tx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6C8BCFE-4AFF-A177-15AA-F5032C026EDC}"/>
              </a:ext>
            </a:extLst>
          </p:cNvPr>
          <p:cNvSpPr txBox="1"/>
          <p:nvPr/>
        </p:nvSpPr>
        <p:spPr>
          <a:xfrm>
            <a:off x="4953000" y="1446839"/>
            <a:ext cx="3581400" cy="523220"/>
          </a:xfrm>
          <a:prstGeom prst="rect">
            <a:avLst/>
          </a:prstGeom>
          <a:noFill/>
        </p:spPr>
        <p:txBody>
          <a:bodyPr wrap="square" rtlCol="0">
            <a:spAutoFit/>
          </a:bodyPr>
          <a:lstStyle/>
          <a:p>
            <a:r>
              <a:rPr lang="en-US" sz="2800" dirty="0"/>
              <a:t>Research Hypothesis</a:t>
            </a:r>
          </a:p>
        </p:txBody>
      </p:sp>
      <p:sp>
        <p:nvSpPr>
          <p:cNvPr id="17" name="Rounded Rectangle 16">
            <a:extLst>
              <a:ext uri="{FF2B5EF4-FFF2-40B4-BE49-F238E27FC236}">
                <a16:creationId xmlns:a16="http://schemas.microsoft.com/office/drawing/2014/main" id="{21BFC318-E988-7EEE-68A9-B22CC7DC8C54}"/>
              </a:ext>
            </a:extLst>
          </p:cNvPr>
          <p:cNvSpPr/>
          <p:nvPr/>
        </p:nvSpPr>
        <p:spPr>
          <a:xfrm>
            <a:off x="3810000" y="2164986"/>
            <a:ext cx="5364666" cy="2897668"/>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8883CD71-84FD-1DF2-5CCE-AA343850D279}"/>
              </a:ext>
            </a:extLst>
          </p:cNvPr>
          <p:cNvSpPr/>
          <p:nvPr/>
        </p:nvSpPr>
        <p:spPr>
          <a:xfrm>
            <a:off x="3908502" y="21936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90A58C9-9904-43C5-8257-D4D81833EEA2}"/>
              </a:ext>
            </a:extLst>
          </p:cNvPr>
          <p:cNvSpPr/>
          <p:nvPr/>
        </p:nvSpPr>
        <p:spPr>
          <a:xfrm>
            <a:off x="5676900" y="2164574"/>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81EF8B4-0F56-78F0-2700-07E513EFD22E}"/>
              </a:ext>
            </a:extLst>
          </p:cNvPr>
          <p:cNvSpPr/>
          <p:nvPr/>
        </p:nvSpPr>
        <p:spPr>
          <a:xfrm>
            <a:off x="7498266" y="2169940"/>
            <a:ext cx="1676400" cy="1280420"/>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CE3E865-245A-DE75-4019-24C76891EB29}"/>
              </a:ext>
            </a:extLst>
          </p:cNvPr>
          <p:cNvSpPr txBox="1"/>
          <p:nvPr/>
        </p:nvSpPr>
        <p:spPr>
          <a:xfrm>
            <a:off x="5667804" y="2398694"/>
            <a:ext cx="1737732" cy="954107"/>
          </a:xfrm>
          <a:prstGeom prst="rect">
            <a:avLst/>
          </a:prstGeom>
          <a:noFill/>
        </p:spPr>
        <p:txBody>
          <a:bodyPr wrap="square" rtlCol="0">
            <a:spAutoFit/>
          </a:bodyPr>
          <a:lstStyle/>
          <a:p>
            <a:pPr algn="ctr"/>
            <a:r>
              <a:rPr lang="en-US" sz="2800" dirty="0"/>
              <a:t>Prediction</a:t>
            </a:r>
          </a:p>
          <a:p>
            <a:pPr algn="ctr"/>
            <a:r>
              <a:rPr lang="en-US" sz="2800" dirty="0"/>
              <a:t>2</a:t>
            </a:r>
          </a:p>
        </p:txBody>
      </p:sp>
      <p:sp>
        <p:nvSpPr>
          <p:cNvPr id="15" name="TextBox 14">
            <a:extLst>
              <a:ext uri="{FF2B5EF4-FFF2-40B4-BE49-F238E27FC236}">
                <a16:creationId xmlns:a16="http://schemas.microsoft.com/office/drawing/2014/main" id="{6EEAD8AD-CD8D-FB10-C962-E4EAAA91CBE2}"/>
              </a:ext>
            </a:extLst>
          </p:cNvPr>
          <p:cNvSpPr txBox="1"/>
          <p:nvPr/>
        </p:nvSpPr>
        <p:spPr>
          <a:xfrm>
            <a:off x="3864629" y="2406533"/>
            <a:ext cx="1737732" cy="954107"/>
          </a:xfrm>
          <a:prstGeom prst="rect">
            <a:avLst/>
          </a:prstGeom>
          <a:noFill/>
        </p:spPr>
        <p:txBody>
          <a:bodyPr wrap="square" rtlCol="0">
            <a:spAutoFit/>
          </a:bodyPr>
          <a:lstStyle/>
          <a:p>
            <a:pPr algn="ctr"/>
            <a:r>
              <a:rPr lang="en-US" sz="2800" dirty="0"/>
              <a:t>Prediction</a:t>
            </a:r>
          </a:p>
          <a:p>
            <a:pPr algn="ctr"/>
            <a:r>
              <a:rPr lang="en-US" sz="2800" dirty="0"/>
              <a:t>1</a:t>
            </a:r>
          </a:p>
        </p:txBody>
      </p:sp>
      <p:sp>
        <p:nvSpPr>
          <p:cNvPr id="16" name="TextBox 15">
            <a:extLst>
              <a:ext uri="{FF2B5EF4-FFF2-40B4-BE49-F238E27FC236}">
                <a16:creationId xmlns:a16="http://schemas.microsoft.com/office/drawing/2014/main" id="{F5624157-AAA1-5809-7FA7-BF145F1BE7FD}"/>
              </a:ext>
            </a:extLst>
          </p:cNvPr>
          <p:cNvSpPr txBox="1"/>
          <p:nvPr/>
        </p:nvSpPr>
        <p:spPr>
          <a:xfrm>
            <a:off x="7497534" y="2425659"/>
            <a:ext cx="1737732" cy="954107"/>
          </a:xfrm>
          <a:prstGeom prst="rect">
            <a:avLst/>
          </a:prstGeom>
          <a:noFill/>
        </p:spPr>
        <p:txBody>
          <a:bodyPr wrap="square" rtlCol="0">
            <a:spAutoFit/>
          </a:bodyPr>
          <a:lstStyle/>
          <a:p>
            <a:pPr algn="ctr"/>
            <a:r>
              <a:rPr lang="en-US" sz="2800" dirty="0"/>
              <a:t>Prediction</a:t>
            </a:r>
          </a:p>
          <a:p>
            <a:pPr algn="ctr"/>
            <a:r>
              <a:rPr lang="en-US" sz="2800" dirty="0"/>
              <a:t>3</a:t>
            </a:r>
          </a:p>
        </p:txBody>
      </p:sp>
      <p:sp>
        <p:nvSpPr>
          <p:cNvPr id="18" name="TextBox 17">
            <a:extLst>
              <a:ext uri="{FF2B5EF4-FFF2-40B4-BE49-F238E27FC236}">
                <a16:creationId xmlns:a16="http://schemas.microsoft.com/office/drawing/2014/main" id="{FF05BA6E-8DE8-C199-A55F-C5830D53932E}"/>
              </a:ext>
            </a:extLst>
          </p:cNvPr>
          <p:cNvSpPr txBox="1"/>
          <p:nvPr/>
        </p:nvSpPr>
        <p:spPr>
          <a:xfrm>
            <a:off x="5708495" y="4549599"/>
            <a:ext cx="2332464" cy="523220"/>
          </a:xfrm>
          <a:prstGeom prst="rect">
            <a:avLst/>
          </a:prstGeom>
          <a:noFill/>
        </p:spPr>
        <p:txBody>
          <a:bodyPr wrap="square" rtlCol="0">
            <a:spAutoFit/>
          </a:bodyPr>
          <a:lstStyle/>
          <a:p>
            <a:r>
              <a:rPr lang="en-US" sz="2800" dirty="0"/>
              <a:t>Methods</a:t>
            </a:r>
          </a:p>
        </p:txBody>
      </p:sp>
      <p:sp>
        <p:nvSpPr>
          <p:cNvPr id="23" name="5-Point Star 22">
            <a:extLst>
              <a:ext uri="{FF2B5EF4-FFF2-40B4-BE49-F238E27FC236}">
                <a16:creationId xmlns:a16="http://schemas.microsoft.com/office/drawing/2014/main" id="{B80F0060-2DE7-6498-5734-55D44D424DA4}"/>
              </a:ext>
            </a:extLst>
          </p:cNvPr>
          <p:cNvSpPr/>
          <p:nvPr/>
        </p:nvSpPr>
        <p:spPr>
          <a:xfrm>
            <a:off x="9174666" y="5432409"/>
            <a:ext cx="1493334" cy="1327088"/>
          </a:xfrm>
          <a:prstGeom prst="star5">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0922FA5-080E-52A6-F924-6767F3D6B6F0}"/>
              </a:ext>
            </a:extLst>
          </p:cNvPr>
          <p:cNvSpPr txBox="1"/>
          <p:nvPr/>
        </p:nvSpPr>
        <p:spPr>
          <a:xfrm>
            <a:off x="8848145" y="5866058"/>
            <a:ext cx="2016861" cy="369332"/>
          </a:xfrm>
          <a:prstGeom prst="rect">
            <a:avLst/>
          </a:prstGeom>
          <a:noFill/>
        </p:spPr>
        <p:txBody>
          <a:bodyPr wrap="square" rtlCol="0">
            <a:spAutoFit/>
          </a:bodyPr>
          <a:lstStyle/>
          <a:p>
            <a:pPr algn="ctr"/>
            <a:r>
              <a:rPr lang="en-US" dirty="0"/>
              <a:t>Conclusion</a:t>
            </a:r>
          </a:p>
        </p:txBody>
      </p:sp>
      <p:sp>
        <p:nvSpPr>
          <p:cNvPr id="25" name="Notched Right Arrow 24">
            <a:extLst>
              <a:ext uri="{FF2B5EF4-FFF2-40B4-BE49-F238E27FC236}">
                <a16:creationId xmlns:a16="http://schemas.microsoft.com/office/drawing/2014/main" id="{55A55F19-7017-709D-4145-412C8369DF33}"/>
              </a:ext>
            </a:extLst>
          </p:cNvPr>
          <p:cNvSpPr/>
          <p:nvPr/>
        </p:nvSpPr>
        <p:spPr>
          <a:xfrm rot="2822520">
            <a:off x="8697120" y="5304133"/>
            <a:ext cx="835072" cy="552048"/>
          </a:xfrm>
          <a:prstGeom prst="notchedRightArrow">
            <a:avLst/>
          </a:prstGeom>
          <a:solidFill>
            <a:schemeClr val="tx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41">
            <a:extLst>
              <a:ext uri="{FF2B5EF4-FFF2-40B4-BE49-F238E27FC236}">
                <a16:creationId xmlns:a16="http://schemas.microsoft.com/office/drawing/2014/main" id="{1FF9F96F-F292-9450-6C17-7B3FC38B544A}"/>
              </a:ext>
            </a:extLst>
          </p:cNvPr>
          <p:cNvGrpSpPr/>
          <p:nvPr/>
        </p:nvGrpSpPr>
        <p:grpSpPr>
          <a:xfrm>
            <a:off x="3871914" y="3379766"/>
            <a:ext cx="1620989" cy="1574439"/>
            <a:chOff x="2347913" y="3379765"/>
            <a:chExt cx="1620989" cy="1574439"/>
          </a:xfrm>
        </p:grpSpPr>
        <p:sp>
          <p:nvSpPr>
            <p:cNvPr id="19" name="Oval 18">
              <a:extLst>
                <a:ext uri="{FF2B5EF4-FFF2-40B4-BE49-F238E27FC236}">
                  <a16:creationId xmlns:a16="http://schemas.microsoft.com/office/drawing/2014/main" id="{3C6D8C1C-B1CD-C1A0-9DF9-F7337B2BA10E}"/>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2391C84-B98A-3DD5-2EF8-42B77210FDC6}"/>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B6118E-A029-B2B6-0CE4-3B3F9BCDEB99}"/>
                </a:ext>
              </a:extLst>
            </p:cNvPr>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26" name="TextBox 25">
              <a:extLst>
                <a:ext uri="{FF2B5EF4-FFF2-40B4-BE49-F238E27FC236}">
                  <a16:creationId xmlns:a16="http://schemas.microsoft.com/office/drawing/2014/main" id="{08A7AD6F-4CAB-2AE1-AD77-51F961AE25F3}"/>
                </a:ext>
              </a:extLst>
            </p:cNvPr>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38" name="Group 37">
              <a:extLst>
                <a:ext uri="{FF2B5EF4-FFF2-40B4-BE49-F238E27FC236}">
                  <a16:creationId xmlns:a16="http://schemas.microsoft.com/office/drawing/2014/main" id="{D4B7499F-97ED-4468-4197-BEC844E64715}"/>
                </a:ext>
              </a:extLst>
            </p:cNvPr>
            <p:cNvGrpSpPr/>
            <p:nvPr/>
          </p:nvGrpSpPr>
          <p:grpSpPr>
            <a:xfrm>
              <a:off x="2837636" y="3657600"/>
              <a:ext cx="770131" cy="472058"/>
              <a:chOff x="2837636" y="3731436"/>
              <a:chExt cx="770131" cy="472058"/>
            </a:xfrm>
          </p:grpSpPr>
          <p:sp>
            <p:nvSpPr>
              <p:cNvPr id="28" name="Flowchart: Process 27">
                <a:extLst>
                  <a:ext uri="{FF2B5EF4-FFF2-40B4-BE49-F238E27FC236}">
                    <a16:creationId xmlns:a16="http://schemas.microsoft.com/office/drawing/2014/main" id="{5217296E-A3C6-18C4-D957-505D34DCE76A}"/>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D7AE0ACD-3C6D-C3AC-9F58-422512F4CA57}"/>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99E88F8-2DF0-E6B3-901B-6EBDD48864FF}"/>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36" name="Flowchart: Process 35">
                <a:extLst>
                  <a:ext uri="{FF2B5EF4-FFF2-40B4-BE49-F238E27FC236}">
                    <a16:creationId xmlns:a16="http://schemas.microsoft.com/office/drawing/2014/main" id="{25570096-A97F-0885-AB3E-EF0A076D7307}"/>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lowchart: Process 36">
                <a:extLst>
                  <a:ext uri="{FF2B5EF4-FFF2-40B4-BE49-F238E27FC236}">
                    <a16:creationId xmlns:a16="http://schemas.microsoft.com/office/drawing/2014/main" id="{E4AC6CDC-DC76-E52E-9A8B-6FB714E9976F}"/>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Down Arrow 38">
              <a:extLst>
                <a:ext uri="{FF2B5EF4-FFF2-40B4-BE49-F238E27FC236}">
                  <a16:creationId xmlns:a16="http://schemas.microsoft.com/office/drawing/2014/main" id="{97C5F9DD-C4CF-6B78-46F2-77807A643FAF}"/>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Down Arrow 39">
              <a:extLst>
                <a:ext uri="{FF2B5EF4-FFF2-40B4-BE49-F238E27FC236}">
                  <a16:creationId xmlns:a16="http://schemas.microsoft.com/office/drawing/2014/main" id="{461EC7C1-227D-3077-ADB0-A8614BE2FFA5}"/>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Down Arrow 40">
              <a:extLst>
                <a:ext uri="{FF2B5EF4-FFF2-40B4-BE49-F238E27FC236}">
                  <a16:creationId xmlns:a16="http://schemas.microsoft.com/office/drawing/2014/main" id="{E54DE015-48FE-9903-D39D-D28F40F030BD}"/>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3" name="Group 42">
            <a:extLst>
              <a:ext uri="{FF2B5EF4-FFF2-40B4-BE49-F238E27FC236}">
                <a16:creationId xmlns:a16="http://schemas.microsoft.com/office/drawing/2014/main" id="{A0F25F74-4A50-D460-FA8A-6D0F6EA26501}"/>
              </a:ext>
            </a:extLst>
          </p:cNvPr>
          <p:cNvGrpSpPr/>
          <p:nvPr/>
        </p:nvGrpSpPr>
        <p:grpSpPr>
          <a:xfrm>
            <a:off x="7467502" y="3374365"/>
            <a:ext cx="1620989" cy="1574439"/>
            <a:chOff x="2347913" y="3379765"/>
            <a:chExt cx="1620989" cy="1574439"/>
          </a:xfrm>
        </p:grpSpPr>
        <p:sp>
          <p:nvSpPr>
            <p:cNvPr id="44" name="Oval 43">
              <a:extLst>
                <a:ext uri="{FF2B5EF4-FFF2-40B4-BE49-F238E27FC236}">
                  <a16:creationId xmlns:a16="http://schemas.microsoft.com/office/drawing/2014/main" id="{845D6B58-9A07-2589-B4B4-4C5B1F15A8C0}"/>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3739DC29-D450-4718-3FB0-0F6530753AA5}"/>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DA6DDD9-4295-4C31-C031-44550FCBE403}"/>
                </a:ext>
              </a:extLst>
            </p:cNvPr>
            <p:cNvSpPr txBox="1"/>
            <p:nvPr/>
          </p:nvSpPr>
          <p:spPr>
            <a:xfrm>
              <a:off x="3156025" y="4292223"/>
              <a:ext cx="812877" cy="523220"/>
            </a:xfrm>
            <a:prstGeom prst="rect">
              <a:avLst/>
            </a:prstGeom>
            <a:noFill/>
          </p:spPr>
          <p:txBody>
            <a:bodyPr wrap="square" rtlCol="0">
              <a:spAutoFit/>
            </a:bodyPr>
            <a:lstStyle/>
            <a:p>
              <a:pPr algn="ctr"/>
              <a:r>
                <a:rPr lang="en-US" sz="2800" dirty="0"/>
                <a:t>H</a:t>
              </a:r>
              <a:r>
                <a:rPr lang="en-US" sz="2800" baseline="-25000" dirty="0"/>
                <a:t>a</a:t>
              </a:r>
              <a:endParaRPr lang="en-US" sz="2800" dirty="0"/>
            </a:p>
          </p:txBody>
        </p:sp>
        <p:sp>
          <p:nvSpPr>
            <p:cNvPr id="47" name="TextBox 46">
              <a:extLst>
                <a:ext uri="{FF2B5EF4-FFF2-40B4-BE49-F238E27FC236}">
                  <a16:creationId xmlns:a16="http://schemas.microsoft.com/office/drawing/2014/main" id="{A837438F-F6EB-9C2F-6B30-2944E536D18F}"/>
                </a:ext>
              </a:extLst>
            </p:cNvPr>
            <p:cNvSpPr txBox="1"/>
            <p:nvPr/>
          </p:nvSpPr>
          <p:spPr>
            <a:xfrm>
              <a:off x="2347913" y="4282058"/>
              <a:ext cx="812877" cy="523220"/>
            </a:xfrm>
            <a:prstGeom prst="rect">
              <a:avLst/>
            </a:prstGeom>
            <a:noFill/>
          </p:spPr>
          <p:txBody>
            <a:bodyPr wrap="square" rtlCol="0">
              <a:spAutoFit/>
            </a:bodyPr>
            <a:lstStyle/>
            <a:p>
              <a:pPr algn="ctr"/>
              <a:r>
                <a:rPr lang="en-US" sz="2800" dirty="0"/>
                <a:t>H</a:t>
              </a:r>
              <a:r>
                <a:rPr lang="en-US" sz="2800" baseline="-25000" dirty="0"/>
                <a:t>0</a:t>
              </a:r>
              <a:endParaRPr lang="en-US" sz="2800" dirty="0"/>
            </a:p>
          </p:txBody>
        </p:sp>
        <p:grpSp>
          <p:nvGrpSpPr>
            <p:cNvPr id="48" name="Group 47">
              <a:extLst>
                <a:ext uri="{FF2B5EF4-FFF2-40B4-BE49-F238E27FC236}">
                  <a16:creationId xmlns:a16="http://schemas.microsoft.com/office/drawing/2014/main" id="{2CB745BF-D0DC-B144-1814-AE22270AB8F9}"/>
                </a:ext>
              </a:extLst>
            </p:cNvPr>
            <p:cNvGrpSpPr/>
            <p:nvPr/>
          </p:nvGrpSpPr>
          <p:grpSpPr>
            <a:xfrm>
              <a:off x="2837636" y="3657600"/>
              <a:ext cx="770131" cy="472058"/>
              <a:chOff x="2837636" y="3731436"/>
              <a:chExt cx="770131" cy="472058"/>
            </a:xfrm>
          </p:grpSpPr>
          <p:sp>
            <p:nvSpPr>
              <p:cNvPr id="52" name="Flowchart: Process 51">
                <a:extLst>
                  <a:ext uri="{FF2B5EF4-FFF2-40B4-BE49-F238E27FC236}">
                    <a16:creationId xmlns:a16="http://schemas.microsoft.com/office/drawing/2014/main" id="{3553A650-E7CE-E292-1716-4BF5632F31E4}"/>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a:extLst>
                  <a:ext uri="{FF2B5EF4-FFF2-40B4-BE49-F238E27FC236}">
                    <a16:creationId xmlns:a16="http://schemas.microsoft.com/office/drawing/2014/main" id="{1BA68487-52A9-469D-82F9-268C85516418}"/>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16C7F9E5-C767-6610-9EB4-FF7E60B86045}"/>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55" name="Flowchart: Process 54">
                <a:extLst>
                  <a:ext uri="{FF2B5EF4-FFF2-40B4-BE49-F238E27FC236}">
                    <a16:creationId xmlns:a16="http://schemas.microsoft.com/office/drawing/2014/main" id="{D35FB670-2B47-3D55-5FEF-5B0C691D232F}"/>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lowchart: Process 55">
                <a:extLst>
                  <a:ext uri="{FF2B5EF4-FFF2-40B4-BE49-F238E27FC236}">
                    <a16:creationId xmlns:a16="http://schemas.microsoft.com/office/drawing/2014/main" id="{6309294F-257A-6A7D-BB5C-A829EF5E7DA6}"/>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9" name="Down Arrow 48">
              <a:extLst>
                <a:ext uri="{FF2B5EF4-FFF2-40B4-BE49-F238E27FC236}">
                  <a16:creationId xmlns:a16="http://schemas.microsoft.com/office/drawing/2014/main" id="{5117A13E-0F6B-C673-CD6B-7E06F4E34919}"/>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Down Arrow 49">
              <a:extLst>
                <a:ext uri="{FF2B5EF4-FFF2-40B4-BE49-F238E27FC236}">
                  <a16:creationId xmlns:a16="http://schemas.microsoft.com/office/drawing/2014/main" id="{B07E5D56-0922-DFB7-0130-CFCE77A79D70}"/>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Down Arrow 50">
              <a:extLst>
                <a:ext uri="{FF2B5EF4-FFF2-40B4-BE49-F238E27FC236}">
                  <a16:creationId xmlns:a16="http://schemas.microsoft.com/office/drawing/2014/main" id="{B4768ABB-44B6-733C-AAE7-B4EA6DCEC9E4}"/>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6B6C74BE-2EBC-9EFC-D53E-F02DD30B198C}"/>
              </a:ext>
            </a:extLst>
          </p:cNvPr>
          <p:cNvGrpSpPr/>
          <p:nvPr/>
        </p:nvGrpSpPr>
        <p:grpSpPr>
          <a:xfrm>
            <a:off x="5799113" y="3337518"/>
            <a:ext cx="1298792" cy="1075611"/>
            <a:chOff x="2347913" y="3379765"/>
            <a:chExt cx="1620989" cy="1574439"/>
          </a:xfrm>
        </p:grpSpPr>
        <p:sp>
          <p:nvSpPr>
            <p:cNvPr id="58" name="Oval 57">
              <a:extLst>
                <a:ext uri="{FF2B5EF4-FFF2-40B4-BE49-F238E27FC236}">
                  <a16:creationId xmlns:a16="http://schemas.microsoft.com/office/drawing/2014/main" id="{D044C8E5-2378-D97B-C61A-3F4235DADAD5}"/>
                </a:ext>
              </a:extLst>
            </p:cNvPr>
            <p:cNvSpPr/>
            <p:nvPr/>
          </p:nvSpPr>
          <p:spPr>
            <a:xfrm>
              <a:off x="3210622" y="4222958"/>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8FA68A48-4884-D8F8-B250-7140187DACD0}"/>
                </a:ext>
              </a:extLst>
            </p:cNvPr>
            <p:cNvSpPr/>
            <p:nvPr/>
          </p:nvSpPr>
          <p:spPr>
            <a:xfrm>
              <a:off x="2397745" y="4263941"/>
              <a:ext cx="757818" cy="690263"/>
            </a:xfrm>
            <a:prstGeom prst="ellipse">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269B6FAC-95EB-5F0D-BB8E-85A0345D7FBA}"/>
                </a:ext>
              </a:extLst>
            </p:cNvPr>
            <p:cNvSpPr txBox="1"/>
            <p:nvPr/>
          </p:nvSpPr>
          <p:spPr>
            <a:xfrm>
              <a:off x="3156025" y="4292223"/>
              <a:ext cx="812877" cy="585666"/>
            </a:xfrm>
            <a:prstGeom prst="rect">
              <a:avLst/>
            </a:prstGeom>
            <a:noFill/>
          </p:spPr>
          <p:txBody>
            <a:bodyPr wrap="square" rtlCol="0">
              <a:spAutoFit/>
            </a:bodyPr>
            <a:lstStyle/>
            <a:p>
              <a:pPr algn="ctr"/>
              <a:r>
                <a:rPr lang="en-US" sz="2000" dirty="0"/>
                <a:t>H</a:t>
              </a:r>
              <a:r>
                <a:rPr lang="en-US" sz="2000" baseline="-25000" dirty="0"/>
                <a:t>a</a:t>
              </a:r>
              <a:endParaRPr lang="en-US" sz="2000" dirty="0"/>
            </a:p>
          </p:txBody>
        </p:sp>
        <p:sp>
          <p:nvSpPr>
            <p:cNvPr id="61" name="TextBox 60">
              <a:extLst>
                <a:ext uri="{FF2B5EF4-FFF2-40B4-BE49-F238E27FC236}">
                  <a16:creationId xmlns:a16="http://schemas.microsoft.com/office/drawing/2014/main" id="{5C5CAA1A-1EBE-7693-31EA-598345E4A668}"/>
                </a:ext>
              </a:extLst>
            </p:cNvPr>
            <p:cNvSpPr txBox="1"/>
            <p:nvPr/>
          </p:nvSpPr>
          <p:spPr>
            <a:xfrm>
              <a:off x="2347913" y="4282057"/>
              <a:ext cx="812877" cy="585666"/>
            </a:xfrm>
            <a:prstGeom prst="rect">
              <a:avLst/>
            </a:prstGeom>
            <a:noFill/>
          </p:spPr>
          <p:txBody>
            <a:bodyPr wrap="square" rtlCol="0">
              <a:spAutoFit/>
            </a:bodyPr>
            <a:lstStyle/>
            <a:p>
              <a:pPr algn="ctr"/>
              <a:r>
                <a:rPr lang="en-US" sz="2000" dirty="0"/>
                <a:t>H</a:t>
              </a:r>
              <a:r>
                <a:rPr lang="en-US" sz="2000" baseline="-25000" dirty="0"/>
                <a:t>0</a:t>
              </a:r>
              <a:endParaRPr lang="en-US" sz="2000" dirty="0"/>
            </a:p>
          </p:txBody>
        </p:sp>
        <p:grpSp>
          <p:nvGrpSpPr>
            <p:cNvPr id="62" name="Group 61">
              <a:extLst>
                <a:ext uri="{FF2B5EF4-FFF2-40B4-BE49-F238E27FC236}">
                  <a16:creationId xmlns:a16="http://schemas.microsoft.com/office/drawing/2014/main" id="{B04924D1-4F6A-CC05-207F-52E780D6E976}"/>
                </a:ext>
              </a:extLst>
            </p:cNvPr>
            <p:cNvGrpSpPr/>
            <p:nvPr/>
          </p:nvGrpSpPr>
          <p:grpSpPr>
            <a:xfrm>
              <a:off x="2837636" y="3657600"/>
              <a:ext cx="770131" cy="472058"/>
              <a:chOff x="2837636" y="3731436"/>
              <a:chExt cx="770131" cy="472058"/>
            </a:xfrm>
          </p:grpSpPr>
          <p:sp>
            <p:nvSpPr>
              <p:cNvPr id="66" name="Flowchart: Process 65">
                <a:extLst>
                  <a:ext uri="{FF2B5EF4-FFF2-40B4-BE49-F238E27FC236}">
                    <a16:creationId xmlns:a16="http://schemas.microsoft.com/office/drawing/2014/main" id="{2B209FBD-64BE-C650-DAA4-76155ECFEF40}"/>
                  </a:ext>
                </a:extLst>
              </p:cNvPr>
              <p:cNvSpPr/>
              <p:nvPr/>
            </p:nvSpPr>
            <p:spPr>
              <a:xfrm>
                <a:off x="2837636" y="3731436"/>
                <a:ext cx="770131" cy="472058"/>
              </a:xfrm>
              <a:prstGeom prst="flowChartProcess">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7" name="Straight Connector 66">
                <a:extLst>
                  <a:ext uri="{FF2B5EF4-FFF2-40B4-BE49-F238E27FC236}">
                    <a16:creationId xmlns:a16="http://schemas.microsoft.com/office/drawing/2014/main" id="{9494DB22-3B7B-9858-2B5C-BAD912F4E40A}"/>
                  </a:ext>
                </a:extLst>
              </p:cNvPr>
              <p:cNvCxnSpPr/>
              <p:nvPr/>
            </p:nvCxnSpPr>
            <p:spPr>
              <a:xfrm>
                <a:off x="3048000" y="3886200"/>
                <a:ext cx="0" cy="2101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21F3FE2C-1223-E18F-275C-11DDA2B49D14}"/>
                  </a:ext>
                </a:extLst>
              </p:cNvPr>
              <p:cNvCxnSpPr/>
              <p:nvPr/>
            </p:nvCxnSpPr>
            <p:spPr>
              <a:xfrm flipH="1">
                <a:off x="3048000" y="4098261"/>
                <a:ext cx="310667" cy="1144"/>
              </a:xfrm>
              <a:prstGeom prst="line">
                <a:avLst/>
              </a:prstGeom>
            </p:spPr>
            <p:style>
              <a:lnRef idx="1">
                <a:schemeClr val="accent1"/>
              </a:lnRef>
              <a:fillRef idx="0">
                <a:schemeClr val="accent1"/>
              </a:fillRef>
              <a:effectRef idx="0">
                <a:schemeClr val="accent1"/>
              </a:effectRef>
              <a:fontRef idx="minor">
                <a:schemeClr val="tx1"/>
              </a:fontRef>
            </p:style>
          </p:cxnSp>
          <p:sp>
            <p:nvSpPr>
              <p:cNvPr id="69" name="Flowchart: Process 68">
                <a:extLst>
                  <a:ext uri="{FF2B5EF4-FFF2-40B4-BE49-F238E27FC236}">
                    <a16:creationId xmlns:a16="http://schemas.microsoft.com/office/drawing/2014/main" id="{2348C61F-E5B9-3886-EE4B-3345C0E19B8C}"/>
                  </a:ext>
                </a:extLst>
              </p:cNvPr>
              <p:cNvSpPr/>
              <p:nvPr/>
            </p:nvSpPr>
            <p:spPr>
              <a:xfrm>
                <a:off x="3118289" y="3858603"/>
                <a:ext cx="45719" cy="229204"/>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Flowchart: Process 69">
                <a:extLst>
                  <a:ext uri="{FF2B5EF4-FFF2-40B4-BE49-F238E27FC236}">
                    <a16:creationId xmlns:a16="http://schemas.microsoft.com/office/drawing/2014/main" id="{21CF650B-39E7-A441-9AB4-BE8508F0331D}"/>
                  </a:ext>
                </a:extLst>
              </p:cNvPr>
              <p:cNvSpPr/>
              <p:nvPr/>
            </p:nvSpPr>
            <p:spPr>
              <a:xfrm>
                <a:off x="3252324" y="3959500"/>
                <a:ext cx="41564" cy="126512"/>
              </a:xfrm>
              <a:prstGeom prst="flowChart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Down Arrow 62">
              <a:extLst>
                <a:ext uri="{FF2B5EF4-FFF2-40B4-BE49-F238E27FC236}">
                  <a16:creationId xmlns:a16="http://schemas.microsoft.com/office/drawing/2014/main" id="{D51B0832-11D7-261D-AEB2-5E411FECE243}"/>
                </a:ext>
              </a:extLst>
            </p:cNvPr>
            <p:cNvSpPr/>
            <p:nvPr/>
          </p:nvSpPr>
          <p:spPr>
            <a:xfrm>
              <a:off x="3155563" y="3379765"/>
              <a:ext cx="138325" cy="23390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Down Arrow 63">
              <a:extLst>
                <a:ext uri="{FF2B5EF4-FFF2-40B4-BE49-F238E27FC236}">
                  <a16:creationId xmlns:a16="http://schemas.microsoft.com/office/drawing/2014/main" id="{C1C8C312-CED0-5AC7-939B-463123A35956}"/>
                </a:ext>
              </a:extLst>
            </p:cNvPr>
            <p:cNvSpPr/>
            <p:nvPr/>
          </p:nvSpPr>
          <p:spPr>
            <a:xfrm>
              <a:off x="3451206" y="4094566"/>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Down Arrow 64">
              <a:extLst>
                <a:ext uri="{FF2B5EF4-FFF2-40B4-BE49-F238E27FC236}">
                  <a16:creationId xmlns:a16="http://schemas.microsoft.com/office/drawing/2014/main" id="{B9A6B2D3-6B88-B5CE-040E-47FB1CCF1FE7}"/>
                </a:ext>
              </a:extLst>
            </p:cNvPr>
            <p:cNvSpPr/>
            <p:nvPr/>
          </p:nvSpPr>
          <p:spPr>
            <a:xfrm>
              <a:off x="2847241" y="4090684"/>
              <a:ext cx="138325" cy="233901"/>
            </a:xfrm>
            <a:prstGeom prst="down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Rounded Corners 2">
            <a:extLst>
              <a:ext uri="{FF2B5EF4-FFF2-40B4-BE49-F238E27FC236}">
                <a16:creationId xmlns:a16="http://schemas.microsoft.com/office/drawing/2014/main" id="{0551CC3F-A4DF-2679-CB97-D45595F316AB}"/>
              </a:ext>
            </a:extLst>
          </p:cNvPr>
          <p:cNvSpPr/>
          <p:nvPr/>
        </p:nvSpPr>
        <p:spPr>
          <a:xfrm>
            <a:off x="3951617" y="2503865"/>
            <a:ext cx="5223049" cy="841291"/>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932579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D37F0-09FF-1806-0264-B733A90FAC4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781192-658A-899C-6FB3-166A9D2F3B18}"/>
              </a:ext>
            </a:extLst>
          </p:cNvPr>
          <p:cNvSpPr>
            <a:spLocks noGrp="1"/>
          </p:cNvSpPr>
          <p:nvPr>
            <p:ph idx="1"/>
          </p:nvPr>
        </p:nvSpPr>
        <p:spPr>
          <a:xfrm>
            <a:off x="947956" y="2133600"/>
            <a:ext cx="8839200" cy="2399763"/>
          </a:xfrm>
        </p:spPr>
        <p:txBody>
          <a:bodyPr>
            <a:normAutofit fontScale="85000" lnSpcReduction="10000"/>
          </a:bodyPr>
          <a:lstStyle/>
          <a:p>
            <a:pPr>
              <a:buNone/>
            </a:pPr>
            <a:r>
              <a:rPr lang="en-US" dirty="0"/>
              <a:t>Research question</a:t>
            </a:r>
          </a:p>
          <a:p>
            <a:pPr lvl="1"/>
            <a:r>
              <a:rPr lang="en-US" dirty="0"/>
              <a:t>Formal statement of an unknown that one would like to understand</a:t>
            </a:r>
          </a:p>
          <a:p>
            <a:pPr>
              <a:buNone/>
            </a:pPr>
            <a:r>
              <a:rPr lang="en-US" dirty="0"/>
              <a:t>Research hypothesis</a:t>
            </a:r>
          </a:p>
          <a:p>
            <a:pPr lvl="1"/>
            <a:r>
              <a:rPr lang="en-US" dirty="0"/>
              <a:t>Explanation based on assumptions that makes a testable prediction</a:t>
            </a:r>
          </a:p>
          <a:p>
            <a:pPr marL="0" indent="0">
              <a:buNone/>
            </a:pPr>
            <a:r>
              <a:rPr lang="en-US" dirty="0"/>
              <a:t>Research prediction</a:t>
            </a:r>
          </a:p>
          <a:p>
            <a:pPr lvl="1"/>
            <a:r>
              <a:rPr lang="en-US" dirty="0"/>
              <a:t>Description of what the data collected in a study should show if the hypothesis is true</a:t>
            </a:r>
          </a:p>
          <a:p>
            <a:pPr>
              <a:buNone/>
            </a:pPr>
            <a:endParaRPr lang="en-US" i="1" dirty="0"/>
          </a:p>
          <a:p>
            <a:pPr>
              <a:buNone/>
            </a:pPr>
            <a:endParaRPr lang="en-US" i="1" dirty="0"/>
          </a:p>
          <a:p>
            <a:endParaRPr lang="en-US" dirty="0"/>
          </a:p>
        </p:txBody>
      </p:sp>
      <p:sp>
        <p:nvSpPr>
          <p:cNvPr id="5" name="Title 4">
            <a:extLst>
              <a:ext uri="{FF2B5EF4-FFF2-40B4-BE49-F238E27FC236}">
                <a16:creationId xmlns:a16="http://schemas.microsoft.com/office/drawing/2014/main" id="{5E69F78A-43C6-F40E-981A-192EAEBA8A71}"/>
              </a:ext>
            </a:extLst>
          </p:cNvPr>
          <p:cNvSpPr>
            <a:spLocks noGrp="1"/>
          </p:cNvSpPr>
          <p:nvPr>
            <p:ph type="title"/>
          </p:nvPr>
        </p:nvSpPr>
        <p:spPr/>
        <p:txBody>
          <a:bodyPr>
            <a:normAutofit/>
          </a:bodyPr>
          <a:lstStyle/>
          <a:p>
            <a:r>
              <a:rPr lang="en-US" dirty="0"/>
              <a:t>Research Predictions Describe Data</a:t>
            </a:r>
          </a:p>
        </p:txBody>
      </p:sp>
    </p:spTree>
    <p:extLst>
      <p:ext uri="{BB962C8B-B14F-4D97-AF65-F5344CB8AC3E}">
        <p14:creationId xmlns:p14="http://schemas.microsoft.com/office/powerpoint/2010/main" val="9432038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DF050-1BCC-13C5-22F2-0A8A17D1D77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0C3ABC8-F0A1-A054-4519-C2FE6936B2E9}"/>
              </a:ext>
            </a:extLst>
          </p:cNvPr>
          <p:cNvSpPr>
            <a:spLocks noGrp="1"/>
          </p:cNvSpPr>
          <p:nvPr>
            <p:ph idx="1"/>
          </p:nvPr>
        </p:nvSpPr>
        <p:spPr>
          <a:xfrm>
            <a:off x="947956" y="2133600"/>
            <a:ext cx="8839200" cy="4039673"/>
          </a:xfrm>
        </p:spPr>
        <p:txBody>
          <a:bodyPr>
            <a:normAutofit fontScale="85000" lnSpcReduction="20000"/>
          </a:bodyPr>
          <a:lstStyle/>
          <a:p>
            <a:pPr>
              <a:buNone/>
            </a:pPr>
            <a:r>
              <a:rPr lang="en-US" dirty="0"/>
              <a:t>Research question</a:t>
            </a:r>
          </a:p>
          <a:p>
            <a:pPr lvl="1"/>
            <a:r>
              <a:rPr lang="en-US" dirty="0"/>
              <a:t>Formal statement of an unknown that one would like to understand</a:t>
            </a:r>
          </a:p>
          <a:p>
            <a:pPr lvl="1"/>
            <a:r>
              <a:rPr lang="en-US" b="1" i="1" dirty="0">
                <a:solidFill>
                  <a:srgbClr val="FF0000"/>
                </a:solidFill>
              </a:rPr>
              <a:t>How does beak size affect nut cracking efficiency in ground finches?</a:t>
            </a:r>
          </a:p>
          <a:p>
            <a:pPr>
              <a:buNone/>
            </a:pPr>
            <a:r>
              <a:rPr lang="en-US" dirty="0"/>
              <a:t>Research hypothesis</a:t>
            </a:r>
          </a:p>
          <a:p>
            <a:pPr lvl="1"/>
            <a:r>
              <a:rPr lang="en-US" dirty="0"/>
              <a:t>Explanation based on assumptions that makes a testable prediction</a:t>
            </a:r>
          </a:p>
          <a:p>
            <a:pPr lvl="1"/>
            <a:r>
              <a:rPr lang="en-US" b="1" i="1" dirty="0">
                <a:solidFill>
                  <a:srgbClr val="FF0000"/>
                </a:solidFill>
              </a:rPr>
              <a:t>Finches with broader and deeper beaks are more efficient at cracking nuts.</a:t>
            </a:r>
            <a:endParaRPr lang="en-US" dirty="0"/>
          </a:p>
          <a:p>
            <a:pPr marL="0" indent="0">
              <a:buNone/>
            </a:pPr>
            <a:r>
              <a:rPr lang="en-US" dirty="0"/>
              <a:t>Research prediction</a:t>
            </a:r>
          </a:p>
          <a:p>
            <a:pPr lvl="1"/>
            <a:r>
              <a:rPr lang="en-US" dirty="0"/>
              <a:t>Description of what the data collected in a study should show if the hypothesis is true</a:t>
            </a:r>
          </a:p>
          <a:p>
            <a:pPr lvl="1"/>
            <a:r>
              <a:rPr lang="en-US" b="1" i="1" dirty="0">
                <a:solidFill>
                  <a:srgbClr val="FF0000"/>
                </a:solidFill>
              </a:rPr>
              <a:t>Finches with larger beak volumes will crack a provided nut in fewer seconds.</a:t>
            </a:r>
            <a:endParaRPr lang="en-US" dirty="0"/>
          </a:p>
          <a:p>
            <a:pPr>
              <a:buNone/>
            </a:pPr>
            <a:endParaRPr lang="en-US" i="1" dirty="0"/>
          </a:p>
          <a:p>
            <a:pPr>
              <a:buNone/>
            </a:pPr>
            <a:endParaRPr lang="en-US" i="1" dirty="0"/>
          </a:p>
          <a:p>
            <a:endParaRPr lang="en-US" dirty="0"/>
          </a:p>
        </p:txBody>
      </p:sp>
      <p:sp>
        <p:nvSpPr>
          <p:cNvPr id="5" name="Title 4">
            <a:extLst>
              <a:ext uri="{FF2B5EF4-FFF2-40B4-BE49-F238E27FC236}">
                <a16:creationId xmlns:a16="http://schemas.microsoft.com/office/drawing/2014/main" id="{09EFBC4D-4AEC-1AA6-9F10-F0CADED7EC39}"/>
              </a:ext>
            </a:extLst>
          </p:cNvPr>
          <p:cNvSpPr>
            <a:spLocks noGrp="1"/>
          </p:cNvSpPr>
          <p:nvPr>
            <p:ph type="title"/>
          </p:nvPr>
        </p:nvSpPr>
        <p:spPr/>
        <p:txBody>
          <a:bodyPr>
            <a:normAutofit/>
          </a:bodyPr>
          <a:lstStyle/>
          <a:p>
            <a:r>
              <a:rPr lang="en-US" dirty="0"/>
              <a:t>Research Predictions Describe Data</a:t>
            </a:r>
          </a:p>
        </p:txBody>
      </p:sp>
    </p:spTree>
    <p:extLst>
      <p:ext uri="{BB962C8B-B14F-4D97-AF65-F5344CB8AC3E}">
        <p14:creationId xmlns:p14="http://schemas.microsoft.com/office/powerpoint/2010/main" val="41176229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6DE05-CD5E-6D2D-FBD6-1D587F3FB0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741EC7-C58B-221D-481A-6EFFF77C9124}"/>
              </a:ext>
            </a:extLst>
          </p:cNvPr>
          <p:cNvSpPr>
            <a:spLocks noGrp="1"/>
          </p:cNvSpPr>
          <p:nvPr>
            <p:ph type="title"/>
          </p:nvPr>
        </p:nvSpPr>
        <p:spPr>
          <a:xfrm>
            <a:off x="964788" y="804333"/>
            <a:ext cx="3391900" cy="5249334"/>
          </a:xfrm>
        </p:spPr>
        <p:txBody>
          <a:bodyPr>
            <a:normAutofit/>
          </a:bodyPr>
          <a:lstStyle/>
          <a:p>
            <a:pPr algn="r"/>
            <a:r>
              <a:rPr lang="en-US" dirty="0"/>
              <a:t>The amount of Publicly Available Biological Data is Massive!</a:t>
            </a:r>
          </a:p>
        </p:txBody>
      </p:sp>
      <p:sp>
        <p:nvSpPr>
          <p:cNvPr id="3" name="Content Placeholder 2">
            <a:extLst>
              <a:ext uri="{FF2B5EF4-FFF2-40B4-BE49-F238E27FC236}">
                <a16:creationId xmlns:a16="http://schemas.microsoft.com/office/drawing/2014/main" id="{84F98DAF-DEBA-591D-D224-06223E037E96}"/>
              </a:ext>
            </a:extLst>
          </p:cNvPr>
          <p:cNvSpPr>
            <a:spLocks noGrp="1"/>
          </p:cNvSpPr>
          <p:nvPr>
            <p:ph idx="1"/>
          </p:nvPr>
        </p:nvSpPr>
        <p:spPr>
          <a:xfrm>
            <a:off x="4943641" y="804333"/>
            <a:ext cx="7248359" cy="5249334"/>
          </a:xfrm>
        </p:spPr>
        <p:txBody>
          <a:bodyPr anchor="ctr">
            <a:normAutofit/>
          </a:bodyPr>
          <a:lstStyle/>
          <a:p>
            <a:pPr marL="0" indent="0">
              <a:buNone/>
            </a:pPr>
            <a:r>
              <a:rPr lang="en-US" sz="3200" dirty="0"/>
              <a:t>Many journals now require scientists to publish their data (and code) along with their paper</a:t>
            </a:r>
          </a:p>
          <a:p>
            <a:pPr marL="0" indent="0">
              <a:buNone/>
            </a:pPr>
            <a:r>
              <a:rPr lang="en-US" sz="3200" dirty="0"/>
              <a:t>There are a variety of public biological data projects that have been contributed to by scientists and the public</a:t>
            </a:r>
          </a:p>
          <a:p>
            <a:pPr marL="0" indent="0">
              <a:buNone/>
            </a:pPr>
            <a:endParaRPr lang="en-US" sz="3200" dirty="0"/>
          </a:p>
        </p:txBody>
      </p:sp>
    </p:spTree>
    <p:extLst>
      <p:ext uri="{BB962C8B-B14F-4D97-AF65-F5344CB8AC3E}">
        <p14:creationId xmlns:p14="http://schemas.microsoft.com/office/powerpoint/2010/main" val="30124393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DA414-A55B-24A2-2819-FDFE33682263}"/>
              </a:ext>
            </a:extLst>
          </p:cNvPr>
          <p:cNvSpPr>
            <a:spLocks noGrp="1"/>
          </p:cNvSpPr>
          <p:nvPr>
            <p:ph type="title"/>
          </p:nvPr>
        </p:nvSpPr>
        <p:spPr/>
        <p:txBody>
          <a:bodyPr/>
          <a:lstStyle/>
          <a:p>
            <a:r>
              <a:rPr lang="en-US" dirty="0"/>
              <a:t>Places you can Find Publicly Available Data</a:t>
            </a:r>
          </a:p>
        </p:txBody>
      </p:sp>
      <p:sp>
        <p:nvSpPr>
          <p:cNvPr id="3" name="Content Placeholder 2">
            <a:extLst>
              <a:ext uri="{FF2B5EF4-FFF2-40B4-BE49-F238E27FC236}">
                <a16:creationId xmlns:a16="http://schemas.microsoft.com/office/drawing/2014/main" id="{88C5E89A-B434-BEC3-BCA9-78A1B4316DBC}"/>
              </a:ext>
            </a:extLst>
          </p:cNvPr>
          <p:cNvSpPr>
            <a:spLocks noGrp="1"/>
          </p:cNvSpPr>
          <p:nvPr>
            <p:ph idx="1"/>
          </p:nvPr>
        </p:nvSpPr>
        <p:spPr>
          <a:xfrm>
            <a:off x="1038459" y="1679702"/>
            <a:ext cx="9720073" cy="4745958"/>
          </a:xfrm>
        </p:spPr>
        <p:txBody>
          <a:bodyPr>
            <a:normAutofit/>
          </a:bodyPr>
          <a:lstStyle/>
          <a:p>
            <a:r>
              <a:rPr lang="en-US" sz="2000" dirty="0"/>
              <a:t>Scientific journal websites</a:t>
            </a:r>
          </a:p>
          <a:p>
            <a:r>
              <a:rPr lang="en-US" sz="2000" dirty="0"/>
              <a:t>Online data repositories</a:t>
            </a:r>
          </a:p>
          <a:p>
            <a:r>
              <a:rPr lang="en-US" sz="2000" dirty="0"/>
              <a:t>Dedicated websites for data collection projects</a:t>
            </a:r>
          </a:p>
        </p:txBody>
      </p:sp>
      <p:pic>
        <p:nvPicPr>
          <p:cNvPr id="5" name="Picture 4">
            <a:extLst>
              <a:ext uri="{FF2B5EF4-FFF2-40B4-BE49-F238E27FC236}">
                <a16:creationId xmlns:a16="http://schemas.microsoft.com/office/drawing/2014/main" id="{E242E597-95B4-4192-FC62-F721BCD559B8}"/>
              </a:ext>
            </a:extLst>
          </p:cNvPr>
          <p:cNvPicPr>
            <a:picLocks noChangeAspect="1"/>
          </p:cNvPicPr>
          <p:nvPr/>
        </p:nvPicPr>
        <p:blipFill>
          <a:blip r:embed="rId2"/>
          <a:srcRect b="12670"/>
          <a:stretch>
            <a:fillRect/>
          </a:stretch>
        </p:blipFill>
        <p:spPr>
          <a:xfrm>
            <a:off x="2837205" y="4052681"/>
            <a:ext cx="2271820" cy="735325"/>
          </a:xfrm>
          <a:prstGeom prst="rect">
            <a:avLst/>
          </a:prstGeom>
        </p:spPr>
      </p:pic>
      <p:pic>
        <p:nvPicPr>
          <p:cNvPr id="7" name="Picture 6" descr="A logo with a tree and text&#10;&#10;AI-generated content may be incorrect.">
            <a:extLst>
              <a:ext uri="{FF2B5EF4-FFF2-40B4-BE49-F238E27FC236}">
                <a16:creationId xmlns:a16="http://schemas.microsoft.com/office/drawing/2014/main" id="{3865CA2C-1C21-9424-C9F2-07AD90F0D5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09025" y="3353423"/>
            <a:ext cx="1578942" cy="1578942"/>
          </a:xfrm>
          <a:prstGeom prst="rect">
            <a:avLst/>
          </a:prstGeom>
        </p:spPr>
      </p:pic>
      <p:pic>
        <p:nvPicPr>
          <p:cNvPr id="9" name="Picture 8" descr="A blue and white logo&#10;&#10;AI-generated content may be incorrect.">
            <a:extLst>
              <a:ext uri="{FF2B5EF4-FFF2-40B4-BE49-F238E27FC236}">
                <a16:creationId xmlns:a16="http://schemas.microsoft.com/office/drawing/2014/main" id="{E4A61D5D-838A-B1AE-3E32-C5195E2F1C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2250" y="4045654"/>
            <a:ext cx="2168198" cy="786846"/>
          </a:xfrm>
          <a:prstGeom prst="rect">
            <a:avLst/>
          </a:prstGeom>
        </p:spPr>
      </p:pic>
      <p:pic>
        <p:nvPicPr>
          <p:cNvPr id="11" name="Picture 10" descr="A blue and yellow logo&#10;&#10;AI-generated content may be incorrect.">
            <a:extLst>
              <a:ext uri="{FF2B5EF4-FFF2-40B4-BE49-F238E27FC236}">
                <a16:creationId xmlns:a16="http://schemas.microsoft.com/office/drawing/2014/main" id="{670A5319-7722-56E7-A7D2-6386088C71B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0759" y="3660882"/>
            <a:ext cx="1390650" cy="638175"/>
          </a:xfrm>
          <a:prstGeom prst="rect">
            <a:avLst/>
          </a:prstGeom>
        </p:spPr>
      </p:pic>
      <p:pic>
        <p:nvPicPr>
          <p:cNvPr id="13" name="Picture 12" descr="A close-up of a logo&#10;&#10;AI-generated content may be incorrect.">
            <a:extLst>
              <a:ext uri="{FF2B5EF4-FFF2-40B4-BE49-F238E27FC236}">
                <a16:creationId xmlns:a16="http://schemas.microsoft.com/office/drawing/2014/main" id="{FE1CD971-3355-26A6-96AE-A28B028640C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757137" y="3622597"/>
            <a:ext cx="1578942" cy="714747"/>
          </a:xfrm>
          <a:prstGeom prst="rect">
            <a:avLst/>
          </a:prstGeom>
        </p:spPr>
      </p:pic>
      <p:sp>
        <p:nvSpPr>
          <p:cNvPr id="14" name="TextBox 13">
            <a:extLst>
              <a:ext uri="{FF2B5EF4-FFF2-40B4-BE49-F238E27FC236}">
                <a16:creationId xmlns:a16="http://schemas.microsoft.com/office/drawing/2014/main" id="{1C90EE26-E86F-DA78-9B08-5EF332C270F5}"/>
              </a:ext>
            </a:extLst>
          </p:cNvPr>
          <p:cNvSpPr txBox="1"/>
          <p:nvPr/>
        </p:nvSpPr>
        <p:spPr>
          <a:xfrm>
            <a:off x="2858779" y="3118277"/>
            <a:ext cx="1672699" cy="584775"/>
          </a:xfrm>
          <a:prstGeom prst="rect">
            <a:avLst/>
          </a:prstGeom>
          <a:noFill/>
        </p:spPr>
        <p:txBody>
          <a:bodyPr wrap="square" rtlCol="0">
            <a:spAutoFit/>
          </a:bodyPr>
          <a:lstStyle/>
          <a:p>
            <a:r>
              <a:rPr lang="en-US" sz="3200" i="1" dirty="0"/>
              <a:t>General</a:t>
            </a:r>
          </a:p>
        </p:txBody>
      </p:sp>
      <p:sp>
        <p:nvSpPr>
          <p:cNvPr id="15" name="TextBox 14">
            <a:extLst>
              <a:ext uri="{FF2B5EF4-FFF2-40B4-BE49-F238E27FC236}">
                <a16:creationId xmlns:a16="http://schemas.microsoft.com/office/drawing/2014/main" id="{9887D587-69C5-E73A-C37D-D725ED902F52}"/>
              </a:ext>
            </a:extLst>
          </p:cNvPr>
          <p:cNvSpPr txBox="1"/>
          <p:nvPr/>
        </p:nvSpPr>
        <p:spPr>
          <a:xfrm>
            <a:off x="8617662" y="2904730"/>
            <a:ext cx="2021344" cy="584775"/>
          </a:xfrm>
          <a:prstGeom prst="rect">
            <a:avLst/>
          </a:prstGeom>
          <a:noFill/>
        </p:spPr>
        <p:txBody>
          <a:bodyPr wrap="square" rtlCol="0">
            <a:spAutoFit/>
          </a:bodyPr>
          <a:lstStyle/>
          <a:p>
            <a:r>
              <a:rPr lang="en-US" sz="3200" i="1" dirty="0"/>
              <a:t>Specialized</a:t>
            </a:r>
          </a:p>
        </p:txBody>
      </p:sp>
      <p:pic>
        <p:nvPicPr>
          <p:cNvPr id="17" name="Picture 16" descr="A blue and white logo&#10;&#10;AI-generated content may be incorrect.">
            <a:extLst>
              <a:ext uri="{FF2B5EF4-FFF2-40B4-BE49-F238E27FC236}">
                <a16:creationId xmlns:a16="http://schemas.microsoft.com/office/drawing/2014/main" id="{100D7182-EAF4-8A21-E1A4-8E3445E512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94008" y="5607580"/>
            <a:ext cx="2383551" cy="953421"/>
          </a:xfrm>
          <a:prstGeom prst="rect">
            <a:avLst/>
          </a:prstGeom>
        </p:spPr>
      </p:pic>
      <p:pic>
        <p:nvPicPr>
          <p:cNvPr id="19" name="Picture 18" descr="A logo with green leaves&#10;&#10;AI-generated content may be incorrect.">
            <a:extLst>
              <a:ext uri="{FF2B5EF4-FFF2-40B4-BE49-F238E27FC236}">
                <a16:creationId xmlns:a16="http://schemas.microsoft.com/office/drawing/2014/main" id="{B1C6DABA-00E2-1F08-3A50-8EB5451C86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934906" y="5570401"/>
            <a:ext cx="2057400" cy="990600"/>
          </a:xfrm>
          <a:prstGeom prst="rect">
            <a:avLst/>
          </a:prstGeom>
        </p:spPr>
      </p:pic>
      <p:pic>
        <p:nvPicPr>
          <p:cNvPr id="21" name="Picture 20" descr="A blue and white logo&#10;&#10;AI-generated content may be incorrect.">
            <a:extLst>
              <a:ext uri="{FF2B5EF4-FFF2-40B4-BE49-F238E27FC236}">
                <a16:creationId xmlns:a16="http://schemas.microsoft.com/office/drawing/2014/main" id="{292649AE-9564-48D9-F366-F2764D78D2D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293408" y="5541889"/>
            <a:ext cx="1279045" cy="1250872"/>
          </a:xfrm>
          <a:prstGeom prst="rect">
            <a:avLst/>
          </a:prstGeom>
        </p:spPr>
      </p:pic>
    </p:spTree>
    <p:extLst>
      <p:ext uri="{BB962C8B-B14F-4D97-AF65-F5344CB8AC3E}">
        <p14:creationId xmlns:p14="http://schemas.microsoft.com/office/powerpoint/2010/main" val="2230256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6897F-AF13-0D90-44E2-F0AA3DD2FD23}"/>
              </a:ext>
            </a:extLst>
          </p:cNvPr>
          <p:cNvSpPr>
            <a:spLocks noGrp="1"/>
          </p:cNvSpPr>
          <p:nvPr>
            <p:ph type="title"/>
          </p:nvPr>
        </p:nvSpPr>
        <p:spPr/>
        <p:txBody>
          <a:bodyPr/>
          <a:lstStyle/>
          <a:p>
            <a:r>
              <a:rPr lang="en-US" dirty="0"/>
              <a:t>Finding a Dataset to help answer a research Question</a:t>
            </a:r>
          </a:p>
        </p:txBody>
      </p:sp>
      <p:sp>
        <p:nvSpPr>
          <p:cNvPr id="3" name="Content Placeholder 2">
            <a:extLst>
              <a:ext uri="{FF2B5EF4-FFF2-40B4-BE49-F238E27FC236}">
                <a16:creationId xmlns:a16="http://schemas.microsoft.com/office/drawing/2014/main" id="{26D96BB4-8B4D-0FC2-7E2A-2C8F51563982}"/>
              </a:ext>
            </a:extLst>
          </p:cNvPr>
          <p:cNvSpPr>
            <a:spLocks noGrp="1"/>
          </p:cNvSpPr>
          <p:nvPr>
            <p:ph idx="1"/>
          </p:nvPr>
        </p:nvSpPr>
        <p:spPr>
          <a:xfrm>
            <a:off x="635620" y="1773044"/>
            <a:ext cx="4779474" cy="4499740"/>
          </a:xfrm>
        </p:spPr>
        <p:txBody>
          <a:bodyPr>
            <a:normAutofit fontScale="77500" lnSpcReduction="20000"/>
          </a:bodyPr>
          <a:lstStyle/>
          <a:p>
            <a:pPr marL="0" indent="0">
              <a:buNone/>
            </a:pPr>
            <a:r>
              <a:rPr lang="en-US" dirty="0"/>
              <a:t>Step 1: Choose one of the questions to the right</a:t>
            </a:r>
            <a:br>
              <a:rPr lang="en-US" dirty="0"/>
            </a:br>
            <a:endParaRPr lang="en-US" dirty="0"/>
          </a:p>
          <a:p>
            <a:pPr marL="0" indent="0">
              <a:buNone/>
            </a:pPr>
            <a:r>
              <a:rPr lang="en-US" dirty="0"/>
              <a:t>Step 2: Develop a directional research hypothesis that answers the question</a:t>
            </a:r>
            <a:br>
              <a:rPr lang="en-US" dirty="0"/>
            </a:br>
            <a:endParaRPr lang="en-US" dirty="0"/>
          </a:p>
          <a:p>
            <a:pPr marL="0" indent="0">
              <a:buNone/>
            </a:pPr>
            <a:r>
              <a:rPr lang="en-US" dirty="0"/>
              <a:t>Step 3: Search one of the general online databases for data that could test this hypothesis</a:t>
            </a:r>
            <a:br>
              <a:rPr lang="en-US" dirty="0"/>
            </a:br>
            <a:endParaRPr lang="en-US" dirty="0"/>
          </a:p>
          <a:p>
            <a:pPr marL="0" indent="0">
              <a:buNone/>
            </a:pPr>
            <a:r>
              <a:rPr lang="en-US" dirty="0"/>
              <a:t>Step 4: Review the metadata/data descriptions for 2-4 datasets and take some quick notes on how you think you could use the data to help answer the question/test the hypothesis</a:t>
            </a:r>
          </a:p>
        </p:txBody>
      </p:sp>
      <p:sp>
        <p:nvSpPr>
          <p:cNvPr id="4" name="Content Placeholder 2">
            <a:extLst>
              <a:ext uri="{FF2B5EF4-FFF2-40B4-BE49-F238E27FC236}">
                <a16:creationId xmlns:a16="http://schemas.microsoft.com/office/drawing/2014/main" id="{4868CE03-6EA9-0187-F829-D69088103EB8}"/>
              </a:ext>
            </a:extLst>
          </p:cNvPr>
          <p:cNvSpPr txBox="1">
            <a:spLocks/>
          </p:cNvSpPr>
          <p:nvPr/>
        </p:nvSpPr>
        <p:spPr>
          <a:xfrm>
            <a:off x="6021170" y="2249424"/>
            <a:ext cx="5253633" cy="4023360"/>
          </a:xfrm>
          <a:prstGeom prst="rect">
            <a:avLst/>
          </a:prstGeom>
        </p:spPr>
        <p:txBody>
          <a:bodyPr vert="horz" lIns="45720" tIns="45720" rIns="45720" bIns="45720" rtlCol="0">
            <a:normAutofit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457200" indent="-457200">
              <a:buFont typeface="+mj-lt"/>
              <a:buAutoNum type="arabicPeriod"/>
            </a:pPr>
            <a:r>
              <a:rPr lang="en-US" dirty="0"/>
              <a:t>Do invasive species show different genetic variation in their invasive range compared to their native range?</a:t>
            </a:r>
          </a:p>
          <a:p>
            <a:pPr marL="457200" indent="-457200">
              <a:buFont typeface="+mj-lt"/>
              <a:buAutoNum type="arabicPeriod"/>
            </a:pPr>
            <a:r>
              <a:rPr lang="en-US" dirty="0"/>
              <a:t>How does species richness vary between disturbed and undisturbed habitats?</a:t>
            </a:r>
          </a:p>
          <a:p>
            <a:pPr marL="457200" indent="-457200">
              <a:buFont typeface="+mj-lt"/>
              <a:buAutoNum type="arabicPeriod"/>
            </a:pPr>
            <a:r>
              <a:rPr lang="en-US" dirty="0"/>
              <a:t>How do early-life stress conditions affect cortical thickness or white matter ratios?</a:t>
            </a:r>
          </a:p>
          <a:p>
            <a:pPr marL="457200" indent="-457200">
              <a:buFont typeface="+mj-lt"/>
              <a:buAutoNum type="arabicPeriod"/>
            </a:pPr>
            <a:r>
              <a:rPr lang="en-US" dirty="0"/>
              <a:t>How does gene expression change with age or developmental stage?</a:t>
            </a:r>
          </a:p>
          <a:p>
            <a:pPr marL="457200" indent="-457200">
              <a:buFont typeface="+mj-lt"/>
              <a:buAutoNum type="arabicPeriod"/>
            </a:pPr>
            <a:r>
              <a:rPr lang="en-US" dirty="0"/>
              <a:t>How do rates of horizontal gene transfer vary across bacterial taxa?</a:t>
            </a:r>
          </a:p>
        </p:txBody>
      </p:sp>
    </p:spTree>
    <p:extLst>
      <p:ext uri="{BB962C8B-B14F-4D97-AF65-F5344CB8AC3E}">
        <p14:creationId xmlns:p14="http://schemas.microsoft.com/office/powerpoint/2010/main" val="144490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B65506-0C6C-0D4A-6184-1AF32E754C42}"/>
              </a:ext>
            </a:extLst>
          </p:cNvPr>
          <p:cNvSpPr>
            <a:spLocks noGrp="1"/>
          </p:cNvSpPr>
          <p:nvPr>
            <p:ph type="title"/>
          </p:nvPr>
        </p:nvSpPr>
        <p:spPr/>
        <p:txBody>
          <a:bodyPr/>
          <a:lstStyle/>
          <a:p>
            <a:r>
              <a:rPr lang="en-US" dirty="0"/>
              <a:t>How to Cite Public Data </a:t>
            </a:r>
          </a:p>
        </p:txBody>
      </p:sp>
      <p:sp>
        <p:nvSpPr>
          <p:cNvPr id="3" name="Content Placeholder 2">
            <a:extLst>
              <a:ext uri="{FF2B5EF4-FFF2-40B4-BE49-F238E27FC236}">
                <a16:creationId xmlns:a16="http://schemas.microsoft.com/office/drawing/2014/main" id="{8389AEBE-3FBC-327A-55CB-21DACE336AAA}"/>
              </a:ext>
            </a:extLst>
          </p:cNvPr>
          <p:cNvSpPr>
            <a:spLocks noGrp="1"/>
          </p:cNvSpPr>
          <p:nvPr>
            <p:ph idx="1"/>
          </p:nvPr>
        </p:nvSpPr>
        <p:spPr>
          <a:xfrm>
            <a:off x="1024127" y="1774272"/>
            <a:ext cx="9720073" cy="2452386"/>
          </a:xfrm>
        </p:spPr>
        <p:txBody>
          <a:bodyPr>
            <a:normAutofit fontScale="62500" lnSpcReduction="20000"/>
          </a:bodyPr>
          <a:lstStyle/>
          <a:p>
            <a:r>
              <a:rPr lang="en-US" sz="3100" dirty="0"/>
              <a:t>A dataset citation includes all of the same components as any other citation:</a:t>
            </a:r>
          </a:p>
          <a:p>
            <a:pPr lvl="3"/>
            <a:r>
              <a:rPr lang="en-US" sz="3100" dirty="0"/>
              <a:t>author,</a:t>
            </a:r>
          </a:p>
          <a:p>
            <a:pPr lvl="3"/>
            <a:r>
              <a:rPr lang="en-US" sz="3100" dirty="0"/>
              <a:t>title,</a:t>
            </a:r>
          </a:p>
          <a:p>
            <a:pPr lvl="3"/>
            <a:r>
              <a:rPr lang="en-US" sz="3100" dirty="0"/>
              <a:t>year of publication,</a:t>
            </a:r>
          </a:p>
          <a:p>
            <a:pPr lvl="3"/>
            <a:r>
              <a:rPr lang="en-US" sz="3100" dirty="0"/>
              <a:t>publisher (for data this is often the archive where it is housed),</a:t>
            </a:r>
          </a:p>
          <a:p>
            <a:pPr lvl="3"/>
            <a:r>
              <a:rPr lang="en-US" sz="3100" dirty="0"/>
              <a:t>edition or version</a:t>
            </a:r>
          </a:p>
          <a:p>
            <a:pPr lvl="3"/>
            <a:r>
              <a:rPr lang="en-US" sz="3100" dirty="0"/>
              <a:t>access information (a URL or other persistent identifier).</a:t>
            </a:r>
          </a:p>
          <a:p>
            <a:r>
              <a:rPr lang="en-US" sz="3300" dirty="0"/>
              <a:t>Datasets typically provide a suggested citation for you:</a:t>
            </a:r>
          </a:p>
          <a:p>
            <a:endParaRPr lang="en-US" dirty="0"/>
          </a:p>
        </p:txBody>
      </p:sp>
      <p:pic>
        <p:nvPicPr>
          <p:cNvPr id="5" name="Picture 4">
            <a:extLst>
              <a:ext uri="{FF2B5EF4-FFF2-40B4-BE49-F238E27FC236}">
                <a16:creationId xmlns:a16="http://schemas.microsoft.com/office/drawing/2014/main" id="{14CE6196-6836-38F1-34BB-A74A6CD86F7B}"/>
              </a:ext>
            </a:extLst>
          </p:cNvPr>
          <p:cNvPicPr>
            <a:picLocks noChangeAspect="1"/>
          </p:cNvPicPr>
          <p:nvPr/>
        </p:nvPicPr>
        <p:blipFill>
          <a:blip r:embed="rId2"/>
          <a:stretch>
            <a:fillRect/>
          </a:stretch>
        </p:blipFill>
        <p:spPr>
          <a:xfrm>
            <a:off x="1774649" y="4182053"/>
            <a:ext cx="7570072" cy="2605955"/>
          </a:xfrm>
          <a:prstGeom prst="rect">
            <a:avLst/>
          </a:prstGeom>
        </p:spPr>
      </p:pic>
    </p:spTree>
    <p:extLst>
      <p:ext uri="{BB962C8B-B14F-4D97-AF65-F5344CB8AC3E}">
        <p14:creationId xmlns:p14="http://schemas.microsoft.com/office/powerpoint/2010/main" val="2571509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8F4B4-91EA-EE41-ABF3-495D2F85B114}"/>
              </a:ext>
            </a:extLst>
          </p:cNvPr>
          <p:cNvSpPr>
            <a:spLocks noGrp="1"/>
          </p:cNvSpPr>
          <p:nvPr>
            <p:ph type="title"/>
          </p:nvPr>
        </p:nvSpPr>
        <p:spPr/>
        <p:txBody>
          <a:bodyPr>
            <a:normAutofit/>
          </a:bodyPr>
          <a:lstStyle/>
          <a:p>
            <a:r>
              <a:rPr lang="en-US" dirty="0"/>
              <a:t>Let’s come up with some Ecology PhD thesis questions!</a:t>
            </a:r>
          </a:p>
        </p:txBody>
      </p:sp>
      <p:sp>
        <p:nvSpPr>
          <p:cNvPr id="3" name="Content Placeholder 2">
            <a:extLst>
              <a:ext uri="{FF2B5EF4-FFF2-40B4-BE49-F238E27FC236}">
                <a16:creationId xmlns:a16="http://schemas.microsoft.com/office/drawing/2014/main" id="{B2188087-3D5E-814E-9FE4-D22AD72A719C}"/>
              </a:ext>
            </a:extLst>
          </p:cNvPr>
          <p:cNvSpPr>
            <a:spLocks noGrp="1"/>
          </p:cNvSpPr>
          <p:nvPr>
            <p:ph idx="1"/>
          </p:nvPr>
        </p:nvSpPr>
        <p:spPr>
          <a:xfrm>
            <a:off x="838200" y="2171700"/>
            <a:ext cx="10515600" cy="4005263"/>
          </a:xfrm>
        </p:spPr>
        <p:txBody>
          <a:bodyPr>
            <a:normAutofit/>
          </a:bodyPr>
          <a:lstStyle/>
          <a:p>
            <a:pPr marL="0" indent="0">
              <a:buNone/>
            </a:pPr>
            <a:r>
              <a:rPr lang="en-US" sz="3200" b="1" dirty="0"/>
              <a:t>Small group assignment:</a:t>
            </a:r>
          </a:p>
          <a:p>
            <a:pPr marL="0" indent="0">
              <a:buNone/>
            </a:pPr>
            <a:r>
              <a:rPr lang="en-US" sz="3200" dirty="0"/>
              <a:t>Each group will be assigned an organism. Come up with 3 research questions that include this organism. The organism can be the cause or effect, your choice. </a:t>
            </a:r>
          </a:p>
        </p:txBody>
      </p:sp>
    </p:spTree>
    <p:extLst>
      <p:ext uri="{BB962C8B-B14F-4D97-AF65-F5344CB8AC3E}">
        <p14:creationId xmlns:p14="http://schemas.microsoft.com/office/powerpoint/2010/main" val="2369261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2E99D-212D-A642-93F5-92E151C83111}"/>
              </a:ext>
            </a:extLst>
          </p:cNvPr>
          <p:cNvSpPr>
            <a:spLocks noGrp="1"/>
          </p:cNvSpPr>
          <p:nvPr>
            <p:ph type="title"/>
          </p:nvPr>
        </p:nvSpPr>
        <p:spPr/>
        <p:txBody>
          <a:bodyPr/>
          <a:lstStyle/>
          <a:p>
            <a:r>
              <a:rPr lang="en-US" dirty="0"/>
              <a:t>Your Questions!</a:t>
            </a:r>
          </a:p>
        </p:txBody>
      </p:sp>
      <p:sp>
        <p:nvSpPr>
          <p:cNvPr id="3" name="Content Placeholder 2">
            <a:extLst>
              <a:ext uri="{FF2B5EF4-FFF2-40B4-BE49-F238E27FC236}">
                <a16:creationId xmlns:a16="http://schemas.microsoft.com/office/drawing/2014/main" id="{7D91FD66-B12E-F341-AB34-C52612A08E61}"/>
              </a:ext>
            </a:extLst>
          </p:cNvPr>
          <p:cNvSpPr>
            <a:spLocks noGrp="1"/>
          </p:cNvSpPr>
          <p:nvPr>
            <p:ph idx="1"/>
          </p:nvPr>
        </p:nvSpPr>
        <p:spPr>
          <a:xfrm>
            <a:off x="838200" y="1271588"/>
            <a:ext cx="10515600" cy="4905375"/>
          </a:xfrm>
        </p:spPr>
        <p:txBody>
          <a:bodyPr anchor="ctr">
            <a:normAutofit/>
          </a:bodyPr>
          <a:lstStyle/>
          <a:p>
            <a:pPr marL="0" indent="0">
              <a:buNone/>
            </a:pPr>
            <a:r>
              <a:rPr lang="en-US" sz="3200" dirty="0"/>
              <a:t>Remember, you must have these three ingredients in your recipe:</a:t>
            </a:r>
          </a:p>
          <a:p>
            <a:pPr marL="0" indent="0">
              <a:buNone/>
            </a:pPr>
            <a:endParaRPr lang="en-US" sz="3200" dirty="0"/>
          </a:p>
          <a:p>
            <a:pPr marL="0" indent="0">
              <a:buNone/>
            </a:pPr>
            <a:r>
              <a:rPr lang="en-US" sz="3200" b="1" dirty="0"/>
              <a:t>Cause</a:t>
            </a:r>
            <a:r>
              <a:rPr lang="en-US" sz="3200" dirty="0"/>
              <a:t>, </a:t>
            </a:r>
            <a:r>
              <a:rPr lang="en-US" sz="3200" b="1" dirty="0"/>
              <a:t>Effect</a:t>
            </a:r>
            <a:r>
              <a:rPr lang="en-US" sz="3200" dirty="0"/>
              <a:t>, and </a:t>
            </a:r>
            <a:r>
              <a:rPr lang="en-US" sz="3200" b="1" dirty="0"/>
              <a:t>Verb</a:t>
            </a:r>
          </a:p>
        </p:txBody>
      </p:sp>
    </p:spTree>
    <p:extLst>
      <p:ext uri="{BB962C8B-B14F-4D97-AF65-F5344CB8AC3E}">
        <p14:creationId xmlns:p14="http://schemas.microsoft.com/office/powerpoint/2010/main" val="1121614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F1C8E-F431-A245-AFC2-83D98D2D4348}"/>
              </a:ext>
            </a:extLst>
          </p:cNvPr>
          <p:cNvSpPr>
            <a:spLocks noGrp="1"/>
          </p:cNvSpPr>
          <p:nvPr>
            <p:ph type="title"/>
          </p:nvPr>
        </p:nvSpPr>
        <p:spPr/>
        <p:txBody>
          <a:bodyPr/>
          <a:lstStyle/>
          <a:p>
            <a:r>
              <a:rPr lang="en-US" dirty="0"/>
              <a:t>Let’s evaluate your questions</a:t>
            </a:r>
          </a:p>
        </p:txBody>
      </p:sp>
      <p:sp>
        <p:nvSpPr>
          <p:cNvPr id="3" name="Content Placeholder 2">
            <a:extLst>
              <a:ext uri="{FF2B5EF4-FFF2-40B4-BE49-F238E27FC236}">
                <a16:creationId xmlns:a16="http://schemas.microsoft.com/office/drawing/2014/main" id="{A0675396-4600-E845-8F59-A13A9E77D853}"/>
              </a:ext>
            </a:extLst>
          </p:cNvPr>
          <p:cNvSpPr>
            <a:spLocks noGrp="1"/>
          </p:cNvSpPr>
          <p:nvPr>
            <p:ph idx="1"/>
          </p:nvPr>
        </p:nvSpPr>
        <p:spPr/>
        <p:txBody>
          <a:bodyPr>
            <a:normAutofit/>
          </a:bodyPr>
          <a:lstStyle/>
          <a:p>
            <a:r>
              <a:rPr lang="en-US" sz="3200" dirty="0"/>
              <a:t>What happens if you switch the cause and effect?</a:t>
            </a:r>
            <a:br>
              <a:rPr lang="en-US" sz="3200" dirty="0"/>
            </a:br>
            <a:r>
              <a:rPr lang="en-US" sz="3200" dirty="0"/>
              <a:t> </a:t>
            </a:r>
          </a:p>
          <a:p>
            <a:r>
              <a:rPr lang="en-US" sz="3200" dirty="0"/>
              <a:t>What happens if you change one of the words?  </a:t>
            </a:r>
            <a:br>
              <a:rPr lang="en-US" sz="3200" dirty="0"/>
            </a:br>
            <a:endParaRPr lang="en-US" sz="3200" dirty="0"/>
          </a:p>
          <a:p>
            <a:r>
              <a:rPr lang="en-US" sz="3200" dirty="0"/>
              <a:t>Different questions/recipes are formed with little or no change in the words in the sentence. Those small changes can drastically change how and what you are investigating for years to come!</a:t>
            </a:r>
          </a:p>
          <a:p>
            <a:endParaRPr lang="en-US" sz="3200" dirty="0"/>
          </a:p>
          <a:p>
            <a:endParaRPr lang="en-US" sz="3200" dirty="0"/>
          </a:p>
        </p:txBody>
      </p:sp>
    </p:spTree>
    <p:extLst>
      <p:ext uri="{BB962C8B-B14F-4D97-AF65-F5344CB8AC3E}">
        <p14:creationId xmlns:p14="http://schemas.microsoft.com/office/powerpoint/2010/main" val="3330307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522B79-9AC4-6445-B204-1C76CD02EB76}"/>
              </a:ext>
            </a:extLst>
          </p:cNvPr>
          <p:cNvSpPr>
            <a:spLocks noGrp="1"/>
          </p:cNvSpPr>
          <p:nvPr>
            <p:ph idx="1"/>
          </p:nvPr>
        </p:nvSpPr>
        <p:spPr>
          <a:xfrm>
            <a:off x="838200" y="0"/>
            <a:ext cx="10515600" cy="6176963"/>
          </a:xfrm>
        </p:spPr>
        <p:txBody>
          <a:bodyPr anchor="ctr">
            <a:normAutofit/>
          </a:bodyPr>
          <a:lstStyle/>
          <a:p>
            <a:pPr marL="0" indent="0">
              <a:buNone/>
            </a:pPr>
            <a:r>
              <a:rPr lang="en-US" sz="3200" dirty="0"/>
              <a:t>So coming up with your recipe is not so hard.</a:t>
            </a:r>
            <a:br>
              <a:rPr lang="en-US" sz="3200" dirty="0"/>
            </a:br>
            <a:br>
              <a:rPr lang="en-US" sz="3200" dirty="0"/>
            </a:br>
            <a:r>
              <a:rPr lang="en-US" sz="3200" dirty="0"/>
              <a:t>Formulating a question that supports a recipe for investigating relationships between cause and effect also enables good communication.</a:t>
            </a:r>
          </a:p>
        </p:txBody>
      </p:sp>
    </p:spTree>
    <p:extLst>
      <p:ext uri="{BB962C8B-B14F-4D97-AF65-F5344CB8AC3E}">
        <p14:creationId xmlns:p14="http://schemas.microsoft.com/office/powerpoint/2010/main" val="18238378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3CF743-FE5B-A648-B699-0447C7E3B992}"/>
              </a:ext>
            </a:extLst>
          </p:cNvPr>
          <p:cNvSpPr>
            <a:spLocks noGrp="1"/>
          </p:cNvSpPr>
          <p:nvPr>
            <p:ph type="title"/>
          </p:nvPr>
        </p:nvSpPr>
        <p:spPr>
          <a:xfrm>
            <a:off x="838200" y="427949"/>
            <a:ext cx="10515600" cy="1160821"/>
          </a:xfrm>
        </p:spPr>
        <p:txBody>
          <a:bodyPr>
            <a:normAutofit/>
          </a:bodyPr>
          <a:lstStyle/>
          <a:p>
            <a:r>
              <a:rPr lang="en-US" dirty="0"/>
              <a:t>Let’s see if we can identify cause and effect in scientists’ titles!</a:t>
            </a:r>
          </a:p>
        </p:txBody>
      </p:sp>
      <p:sp>
        <p:nvSpPr>
          <p:cNvPr id="3" name="Content Placeholder 2">
            <a:extLst>
              <a:ext uri="{FF2B5EF4-FFF2-40B4-BE49-F238E27FC236}">
                <a16:creationId xmlns:a16="http://schemas.microsoft.com/office/drawing/2014/main" id="{572473F8-D6FA-DF47-A122-DF6BD7A27068}"/>
              </a:ext>
            </a:extLst>
          </p:cNvPr>
          <p:cNvSpPr>
            <a:spLocks noGrp="1"/>
          </p:cNvSpPr>
          <p:nvPr>
            <p:ph idx="1"/>
          </p:nvPr>
        </p:nvSpPr>
        <p:spPr>
          <a:xfrm>
            <a:off x="838200" y="2000250"/>
            <a:ext cx="10515600" cy="4176713"/>
          </a:xfrm>
        </p:spPr>
        <p:txBody>
          <a:bodyPr>
            <a:normAutofit/>
          </a:bodyPr>
          <a:lstStyle/>
          <a:p>
            <a:pPr marL="0" indent="0">
              <a:lnSpc>
                <a:spcPct val="100000"/>
              </a:lnSpc>
              <a:buNone/>
            </a:pPr>
            <a:r>
              <a:rPr lang="en-US" b="1" dirty="0"/>
              <a:t>Small group assignment: </a:t>
            </a:r>
            <a:r>
              <a:rPr lang="en-US" dirty="0"/>
              <a:t>Evaluate titles from recent journal articles. Identify the type of research described by the title as: </a:t>
            </a:r>
          </a:p>
          <a:p>
            <a:pPr>
              <a:lnSpc>
                <a:spcPct val="100000"/>
              </a:lnSpc>
            </a:pPr>
            <a:r>
              <a:rPr lang="en-US" dirty="0"/>
              <a:t>establishing a cause-and-effect relationship</a:t>
            </a:r>
          </a:p>
          <a:p>
            <a:pPr>
              <a:lnSpc>
                <a:spcPct val="100000"/>
              </a:lnSpc>
            </a:pPr>
            <a:r>
              <a:rPr lang="en-US" dirty="0"/>
              <a:t>something else</a:t>
            </a:r>
            <a:br>
              <a:rPr lang="en-US" dirty="0"/>
            </a:br>
            <a:endParaRPr lang="en-US" dirty="0"/>
          </a:p>
          <a:p>
            <a:pPr marL="0" indent="0">
              <a:lnSpc>
                <a:spcPct val="100000"/>
              </a:lnSpc>
              <a:buNone/>
            </a:pPr>
            <a:r>
              <a:rPr lang="en-US" dirty="0"/>
              <a:t>Highlight the potential causal agent(s) in </a:t>
            </a:r>
            <a:r>
              <a:rPr lang="en-US" dirty="0">
                <a:highlight>
                  <a:srgbClr val="FFFF00"/>
                </a:highlight>
              </a:rPr>
              <a:t>yellow</a:t>
            </a:r>
            <a:r>
              <a:rPr lang="en-US" dirty="0"/>
              <a:t> (or </a:t>
            </a:r>
            <a:r>
              <a:rPr lang="en-US" u="sng" dirty="0"/>
              <a:t>underline once</a:t>
            </a:r>
            <a:r>
              <a:rPr lang="en-US" dirty="0"/>
              <a:t>) and highlight the effect(s) in </a:t>
            </a:r>
            <a:r>
              <a:rPr lang="en-US" dirty="0">
                <a:highlight>
                  <a:srgbClr val="00FF00"/>
                </a:highlight>
              </a:rPr>
              <a:t>green</a:t>
            </a:r>
            <a:r>
              <a:rPr lang="en-US" dirty="0"/>
              <a:t> (or </a:t>
            </a:r>
            <a:r>
              <a:rPr lang="en-US" u="dbl" dirty="0"/>
              <a:t>underline twice</a:t>
            </a:r>
            <a:r>
              <a:rPr lang="en-US" dirty="0"/>
              <a:t>).</a:t>
            </a:r>
          </a:p>
        </p:txBody>
      </p:sp>
    </p:spTree>
    <p:extLst>
      <p:ext uri="{BB962C8B-B14F-4D97-AF65-F5344CB8AC3E}">
        <p14:creationId xmlns:p14="http://schemas.microsoft.com/office/powerpoint/2010/main" val="4021772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7D5B7-EFC7-ED45-BC9E-88465FDB567F}"/>
              </a:ext>
            </a:extLst>
          </p:cNvPr>
          <p:cNvSpPr>
            <a:spLocks noGrp="1"/>
          </p:cNvSpPr>
          <p:nvPr>
            <p:ph type="title"/>
          </p:nvPr>
        </p:nvSpPr>
        <p:spPr>
          <a:xfrm>
            <a:off x="838200" y="193669"/>
            <a:ext cx="10515600" cy="1223645"/>
          </a:xfrm>
        </p:spPr>
        <p:txBody>
          <a:bodyPr/>
          <a:lstStyle/>
          <a:p>
            <a:r>
              <a:rPr lang="en-US" dirty="0"/>
              <a:t>What have you learned?</a:t>
            </a:r>
          </a:p>
        </p:txBody>
      </p:sp>
      <p:sp>
        <p:nvSpPr>
          <p:cNvPr id="3" name="Content Placeholder 2">
            <a:extLst>
              <a:ext uri="{FF2B5EF4-FFF2-40B4-BE49-F238E27FC236}">
                <a16:creationId xmlns:a16="http://schemas.microsoft.com/office/drawing/2014/main" id="{04D7D895-9846-2E4F-9F61-DD3AEF79D2D0}"/>
              </a:ext>
            </a:extLst>
          </p:cNvPr>
          <p:cNvSpPr>
            <a:spLocks noGrp="1"/>
          </p:cNvSpPr>
          <p:nvPr>
            <p:ph idx="1"/>
          </p:nvPr>
        </p:nvSpPr>
        <p:spPr>
          <a:xfrm>
            <a:off x="838200" y="1347741"/>
            <a:ext cx="10515600" cy="4812036"/>
          </a:xfrm>
        </p:spPr>
        <p:txBody>
          <a:bodyPr>
            <a:noAutofit/>
          </a:bodyPr>
          <a:lstStyle/>
          <a:p>
            <a:pPr>
              <a:spcBef>
                <a:spcPts val="400"/>
              </a:spcBef>
            </a:pPr>
            <a:r>
              <a:rPr lang="en-US" sz="2500" dirty="0"/>
              <a:t>Questions are the basis for how scientists create the recipe for research, investigation, and experimentation.</a:t>
            </a:r>
          </a:p>
          <a:p>
            <a:pPr>
              <a:spcBef>
                <a:spcPts val="400"/>
              </a:spcBef>
            </a:pPr>
            <a:endParaRPr lang="en-US" sz="2500" dirty="0"/>
          </a:p>
          <a:p>
            <a:pPr>
              <a:spcBef>
                <a:spcPts val="400"/>
              </a:spcBef>
            </a:pPr>
            <a:r>
              <a:rPr lang="en-US" sz="2500" dirty="0"/>
              <a:t>Scientific recipes often have three main ingredients: cause, effect, and verb.</a:t>
            </a:r>
          </a:p>
          <a:p>
            <a:pPr>
              <a:spcBef>
                <a:spcPts val="400"/>
              </a:spcBef>
            </a:pPr>
            <a:endParaRPr lang="en-US" sz="2500" dirty="0"/>
          </a:p>
          <a:p>
            <a:pPr>
              <a:spcBef>
                <a:spcPts val="400"/>
              </a:spcBef>
            </a:pPr>
            <a:r>
              <a:rPr lang="en-US" sz="2500" dirty="0"/>
              <a:t>The creativity in questions simply comes from the novelty of the words placed in those blank statements. If no one has ever looked at that cause before in relation to that effect, it’s new!</a:t>
            </a:r>
          </a:p>
          <a:p>
            <a:pPr>
              <a:spcBef>
                <a:spcPts val="400"/>
              </a:spcBef>
            </a:pPr>
            <a:endParaRPr lang="en-US" sz="2500" dirty="0"/>
          </a:p>
          <a:p>
            <a:pPr>
              <a:spcBef>
                <a:spcPts val="400"/>
              </a:spcBef>
            </a:pPr>
            <a:r>
              <a:rPr lang="en-US" sz="2500" dirty="0"/>
              <a:t>A basic grammar lesson becomes a key for success in forming cause-and-effect scientific questions that can be used for further investigation. Not so hard!</a:t>
            </a:r>
          </a:p>
        </p:txBody>
      </p:sp>
    </p:spTree>
    <p:extLst>
      <p:ext uri="{BB962C8B-B14F-4D97-AF65-F5344CB8AC3E}">
        <p14:creationId xmlns:p14="http://schemas.microsoft.com/office/powerpoint/2010/main" val="2608252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215</TotalTime>
  <Words>1626</Words>
  <Application>Microsoft Macintosh PowerPoint</Application>
  <PresentationFormat>Widescreen</PresentationFormat>
  <Paragraphs>293</Paragraphs>
  <Slides>32</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HelveticaNeueLT Std Bold</vt:lpstr>
      <vt:lpstr>Office Theme</vt:lpstr>
      <vt:lpstr>Asking Scientific Questions</vt:lpstr>
      <vt:lpstr>What drives the day-to-day work of scientists?</vt:lpstr>
      <vt:lpstr>To come up with a scientific question, we must first understand the common elements that define what science is.</vt:lpstr>
      <vt:lpstr>To come up with a scientific question, we must first understand the common elements that define what science is.</vt:lpstr>
      <vt:lpstr>How an introductory biology book defines science:</vt:lpstr>
      <vt:lpstr>Explaining the natural world means using cause and effect!</vt:lpstr>
      <vt:lpstr>PowerPoint Presentation</vt:lpstr>
      <vt:lpstr>Let’s demystify scientific jargon with a synonym game so you can reduce intimidation and let your brain start being creative.  </vt:lpstr>
      <vt:lpstr>PowerPoint Presentation</vt:lpstr>
      <vt:lpstr>Remember English grammar? What kind of words are cause and effect?</vt:lpstr>
      <vt:lpstr>What type of word connects subjects to direct objects in a sentence?</vt:lpstr>
      <vt:lpstr>PowerPoint Presentation</vt:lpstr>
      <vt:lpstr>PowerPoint Presentation</vt:lpstr>
      <vt:lpstr>PowerPoint Presentation</vt:lpstr>
      <vt:lpstr>PowerPoint Presentation</vt:lpstr>
      <vt:lpstr>FINER: Research question acronym</vt:lpstr>
      <vt:lpstr>Some Tips on Questions</vt:lpstr>
      <vt:lpstr>PowerPoint Presentation</vt:lpstr>
      <vt:lpstr>Research Hypotheses Answer Research Questions</vt:lpstr>
      <vt:lpstr>PowerPoint Presentation</vt:lpstr>
      <vt:lpstr>Research Predictions Describe Data</vt:lpstr>
      <vt:lpstr>Research Predictions Describe Data</vt:lpstr>
      <vt:lpstr>The amount of Publicly Available Biological Data is Massive!</vt:lpstr>
      <vt:lpstr>Places you can Find Publicly Available Data</vt:lpstr>
      <vt:lpstr>Finding a Dataset to help answer a research Question</vt:lpstr>
      <vt:lpstr>How to Cite Public Data </vt:lpstr>
      <vt:lpstr>Let’s come up with some Ecology PhD thesis questions!</vt:lpstr>
      <vt:lpstr>Your Questions!</vt:lpstr>
      <vt:lpstr>Let’s evaluate your questions</vt:lpstr>
      <vt:lpstr>PowerPoint Presentation</vt:lpstr>
      <vt:lpstr>Let’s see if we can identify cause and effect in scientists’ titles!</vt:lpstr>
      <vt:lpstr>What have you learned?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Asking Questions Activity PowerPoint Slides</dc:subject>
  <dc:creator>Shyu, Esther</dc:creator>
  <cp:keywords>Asking Questions Activity PowerPoint Slides</cp:keywords>
  <cp:lastModifiedBy>Kate Langwig</cp:lastModifiedBy>
  <cp:revision>98</cp:revision>
  <dcterms:created xsi:type="dcterms:W3CDTF">2020-03-16T16:14:22Z</dcterms:created>
  <dcterms:modified xsi:type="dcterms:W3CDTF">2026-01-23T18:36:27Z</dcterms:modified>
</cp:coreProperties>
</file>