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310" r:id="rId3"/>
    <p:sldId id="303" r:id="rId4"/>
    <p:sldId id="304" r:id="rId5"/>
    <p:sldId id="305" r:id="rId6"/>
    <p:sldId id="302" r:id="rId7"/>
    <p:sldId id="297" r:id="rId8"/>
    <p:sldId id="298" r:id="rId9"/>
    <p:sldId id="296" r:id="rId10"/>
    <p:sldId id="299" r:id="rId11"/>
    <p:sldId id="300" r:id="rId12"/>
    <p:sldId id="301" r:id="rId13"/>
    <p:sldId id="258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92" r:id="rId22"/>
    <p:sldId id="259" r:id="rId23"/>
    <p:sldId id="291" r:id="rId24"/>
    <p:sldId id="273" r:id="rId25"/>
    <p:sldId id="274" r:id="rId26"/>
    <p:sldId id="275" r:id="rId27"/>
    <p:sldId id="276" r:id="rId28"/>
    <p:sldId id="283" r:id="rId29"/>
    <p:sldId id="288" r:id="rId30"/>
    <p:sldId id="289" r:id="rId31"/>
    <p:sldId id="278" r:id="rId32"/>
    <p:sldId id="277" r:id="rId33"/>
    <p:sldId id="285" r:id="rId34"/>
    <p:sldId id="286" r:id="rId35"/>
    <p:sldId id="290" r:id="rId36"/>
    <p:sldId id="279" r:id="rId37"/>
    <p:sldId id="282" r:id="rId38"/>
    <p:sldId id="307" r:id="rId39"/>
    <p:sldId id="308" r:id="rId40"/>
    <p:sldId id="284" r:id="rId41"/>
    <p:sldId id="29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/>
    <p:restoredTop sz="94783"/>
  </p:normalViewPr>
  <p:slideViewPr>
    <p:cSldViewPr snapToGrid="0" snapToObjects="1">
      <p:cViewPr varScale="1">
        <p:scale>
          <a:sx n="113" d="100"/>
          <a:sy n="113" d="100"/>
        </p:scale>
        <p:origin x="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658C5-F96F-2B48-913E-225971413D7B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45E34-6212-A94B-BA8D-BACF1E419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5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45E34-6212-A94B-BA8D-BACF1E419A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44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3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6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7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5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3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6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03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6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9FEE1-29C5-B447-AA78-24FC37BCF1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D9ED0-A4AB-C14E-AB85-8AAF6F2D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9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blog/2018/04/26/stack-overflow-isnt-very-welcoming-its-time-for-that-to-chang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s.stackexchange.com/questions/466161/different-p-values-using-glmer-vs-gl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help/minimal-reproducible-example" TargetMode="External"/><Relationship Id="rId2" Type="http://schemas.openxmlformats.org/officeDocument/2006/relationships/hyperlink" Target="https://stackoverflow.com/questions/5963269/how-to-make-a-great-r-reproducible-exampl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s.stackexchange.com/help/how-to-ask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web/packages/DHARMa/vignettes/DHARMa.html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10 - GLMs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7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0943-882B-E1EA-B3C8-3D17C3D6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7B4C7-F90B-3749-5323-6F237C8D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more weeks of planned material</a:t>
            </a:r>
          </a:p>
          <a:p>
            <a:pPr lvl="1"/>
            <a:r>
              <a:rPr lang="en-US" dirty="0"/>
              <a:t>Presentations: Thursday April 30</a:t>
            </a:r>
          </a:p>
          <a:p>
            <a:pPr lvl="2"/>
            <a:r>
              <a:rPr lang="en-US" dirty="0"/>
              <a:t>20 minutes, 5 min for questions</a:t>
            </a:r>
          </a:p>
          <a:p>
            <a:pPr lvl="2"/>
            <a:r>
              <a:rPr lang="en-US" dirty="0"/>
              <a:t>Each group member should present the figure they made</a:t>
            </a:r>
          </a:p>
          <a:p>
            <a:pPr lvl="3"/>
            <a:r>
              <a:rPr lang="en-US" dirty="0"/>
              <a:t>Decide as a group who will do the introduction, methods, and discussion</a:t>
            </a:r>
          </a:p>
          <a:p>
            <a:pPr lvl="3"/>
            <a:r>
              <a:rPr lang="en-US" dirty="0"/>
              <a:t>Your presentation should be structured in the same format as your scientific paper</a:t>
            </a:r>
          </a:p>
        </p:txBody>
      </p:sp>
    </p:spTree>
    <p:extLst>
      <p:ext uri="{BB962C8B-B14F-4D97-AF65-F5344CB8AC3E}">
        <p14:creationId xmlns:p14="http://schemas.microsoft.com/office/powerpoint/2010/main" val="185752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0111-BC79-BD45-8400-00AF47DD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</a:t>
            </a:r>
            <a:r>
              <a:rPr lang="en-US" dirty="0" err="1"/>
              <a:t>ggplots</a:t>
            </a:r>
            <a:r>
              <a:rPr lang="en-US" dirty="0"/>
              <a:t> contest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8F5CE-220E-F349-95D7-5D75B92E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u="sng" dirty="0"/>
              <a:t>Rules: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Must use ggplot2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Can be accidental or on purpose</a:t>
            </a:r>
          </a:p>
          <a:p>
            <a:pPr marL="457200" lvl="1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You should include a short caption</a:t>
            </a:r>
          </a:p>
          <a:p>
            <a:endParaRPr lang="en-US" dirty="0"/>
          </a:p>
          <a:p>
            <a:r>
              <a:rPr lang="en-US" dirty="0"/>
              <a:t>Multiple submissions are okay (but &lt;5?)</a:t>
            </a:r>
          </a:p>
          <a:p>
            <a:endParaRPr lang="en-US" dirty="0"/>
          </a:p>
          <a:p>
            <a:r>
              <a:rPr lang="en-US" dirty="0"/>
              <a:t>We will vote for the “best” worst </a:t>
            </a:r>
            <a:r>
              <a:rPr lang="en-US" dirty="0" err="1"/>
              <a:t>ggplot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223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50E5-7378-DC4C-A990-9554D8B4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54182DE-76E0-2446-88D1-1A5F82E59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521" y="1882881"/>
            <a:ext cx="6402168" cy="4354963"/>
          </a:xfrm>
        </p:spPr>
      </p:pic>
    </p:spTree>
    <p:extLst>
      <p:ext uri="{BB962C8B-B14F-4D97-AF65-F5344CB8AC3E}">
        <p14:creationId xmlns:p14="http://schemas.microsoft.com/office/powerpoint/2010/main" val="3545583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7E1F4-00D7-3B43-B049-C5DBD7F5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one of my favorites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8402401-9B1C-AD43-8F05-1B4E9D558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384" y="1899959"/>
            <a:ext cx="7964101" cy="3833922"/>
          </a:xfrm>
        </p:spPr>
      </p:pic>
    </p:spTree>
    <p:extLst>
      <p:ext uri="{BB962C8B-B14F-4D97-AF65-F5344CB8AC3E}">
        <p14:creationId xmlns:p14="http://schemas.microsoft.com/office/powerpoint/2010/main" val="347018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D5C6-C026-9D46-866B-7B3D50BA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1863-9B9C-3A4A-ABA6-93AB0A492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processes for asking for help in R and stats</a:t>
            </a:r>
          </a:p>
          <a:p>
            <a:endParaRPr lang="en-US" dirty="0"/>
          </a:p>
          <a:p>
            <a:r>
              <a:rPr lang="en-US" dirty="0"/>
              <a:t>Discuss </a:t>
            </a:r>
            <a:r>
              <a:rPr lang="en-US" dirty="0" err="1"/>
              <a:t>glms</a:t>
            </a:r>
            <a:r>
              <a:rPr lang="en-US" dirty="0"/>
              <a:t> and applications</a:t>
            </a:r>
          </a:p>
          <a:p>
            <a:pPr lvl="1"/>
            <a:r>
              <a:rPr lang="en-US" dirty="0"/>
              <a:t>How to interpret</a:t>
            </a:r>
          </a:p>
          <a:p>
            <a:pPr lvl="1"/>
            <a:r>
              <a:rPr lang="en-US" dirty="0"/>
              <a:t>Families and link functions</a:t>
            </a:r>
          </a:p>
          <a:p>
            <a:pPr lvl="1"/>
            <a:r>
              <a:rPr lang="en-US" dirty="0"/>
              <a:t>Predicting </a:t>
            </a:r>
            <a:r>
              <a:rPr lang="en-US" dirty="0" err="1"/>
              <a:t>glms</a:t>
            </a:r>
            <a:endParaRPr lang="en-US" dirty="0"/>
          </a:p>
          <a:p>
            <a:pPr lvl="1"/>
            <a:r>
              <a:rPr lang="en-US" dirty="0"/>
              <a:t>Common mistakes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21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257B-BEF4-9748-ABE0-74F8314C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minimal working/reproducible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3885E-729C-3545-93E8-979397908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ask a question, people can better provide help if they can understand and reproduce the problem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Your code examples should be:</a:t>
            </a:r>
          </a:p>
          <a:p>
            <a:pPr lvl="1" fontAlgn="base"/>
            <a:r>
              <a:rPr lang="en-US" dirty="0"/>
              <a:t>Minimal – Use as little code as possible that still produces the same problem</a:t>
            </a:r>
          </a:p>
          <a:p>
            <a:pPr lvl="1" fontAlgn="base"/>
            <a:r>
              <a:rPr lang="en-US" dirty="0"/>
              <a:t>Complete – Provide all parts someone else needs to reproduce your problem </a:t>
            </a:r>
            <a:r>
              <a:rPr lang="en-US" i="1" dirty="0"/>
              <a:t>in the question itself</a:t>
            </a:r>
          </a:p>
          <a:p>
            <a:pPr lvl="1" fontAlgn="base"/>
            <a:r>
              <a:rPr lang="en-US" dirty="0"/>
              <a:t>Reproducible – Test the code you're about to provide to make sure it reproduces the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379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9BA00-DF21-AD4C-9BC5-BBC2BAA1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ask for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6B392-8F93-5B4D-8BED-EF5AB4CAC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Stackoverflow.com</a:t>
            </a:r>
            <a:r>
              <a:rPr lang="en-US" dirty="0"/>
              <a:t> is q &amp; a site for programming with lots of help coding in R </a:t>
            </a:r>
          </a:p>
          <a:p>
            <a:pPr lvl="1"/>
            <a:r>
              <a:rPr lang="en-US" dirty="0"/>
              <a:t>Most </a:t>
            </a:r>
            <a:r>
              <a:rPr lang="en-US" dirty="0" err="1"/>
              <a:t>googlable</a:t>
            </a:r>
            <a:r>
              <a:rPr lang="en-US" dirty="0"/>
              <a:t> questions will direct you here</a:t>
            </a:r>
          </a:p>
          <a:p>
            <a:endParaRPr lang="en-US" dirty="0"/>
          </a:p>
          <a:p>
            <a:r>
              <a:rPr lang="en-US" dirty="0"/>
              <a:t>Requires a minimal working example in order to get help</a:t>
            </a:r>
          </a:p>
          <a:p>
            <a:endParaRPr lang="en-US" dirty="0"/>
          </a:p>
          <a:p>
            <a:r>
              <a:rPr lang="en-US" dirty="0"/>
              <a:t>It is answered by internet people and therefore is not always approachable for beginners or others</a:t>
            </a:r>
          </a:p>
          <a:p>
            <a:pPr lvl="1"/>
            <a:r>
              <a:rPr lang="en-US" dirty="0"/>
              <a:t>See:</a:t>
            </a:r>
          </a:p>
          <a:p>
            <a:pPr lvl="1"/>
            <a:r>
              <a:rPr lang="en-US" dirty="0">
                <a:hlinkClick r:id="rId2"/>
              </a:rPr>
              <a:t>https://stackoverflow.blog/2018/04/26/stack-overflow-isnt-very-welcoming-its-time-for-that-to-change/</a:t>
            </a:r>
            <a:endParaRPr lang="en-US" dirty="0"/>
          </a:p>
          <a:p>
            <a:r>
              <a:rPr lang="en-US" dirty="0" err="1"/>
              <a:t>stats.stackexchange.com</a:t>
            </a:r>
            <a:r>
              <a:rPr lang="en-US" dirty="0"/>
              <a:t> is for stats, not programming, but the distinction is blurry</a:t>
            </a:r>
          </a:p>
          <a:p>
            <a:endParaRPr lang="en-US" dirty="0"/>
          </a:p>
          <a:p>
            <a:r>
              <a:rPr lang="en-US" dirty="0"/>
              <a:t>Even if you are getting help from a colleague, it is good practice to provide an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87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EA09-7404-9A4A-9D16-D408C1F5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Providing a minimal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2A46F-0272-6C4F-B712-9B3794F2C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Sharing data is hard, so can be better to use a toy dataset like one of the ones built-in</a:t>
            </a:r>
          </a:p>
          <a:p>
            <a:r>
              <a:rPr lang="en-US" dirty="0"/>
              <a:t>If that doesn’t work, you can copy original data using ‘</a:t>
            </a:r>
            <a:r>
              <a:rPr lang="en-US" dirty="0" err="1"/>
              <a:t>dput</a:t>
            </a:r>
            <a:r>
              <a:rPr lang="en-US" dirty="0"/>
              <a:t>’</a:t>
            </a:r>
          </a:p>
          <a:p>
            <a:r>
              <a:rPr lang="en-US" dirty="0"/>
              <a:t>‘</a:t>
            </a:r>
            <a:r>
              <a:rPr lang="en-US" dirty="0" err="1"/>
              <a:t>dput</a:t>
            </a:r>
            <a:r>
              <a:rPr lang="en-US" dirty="0"/>
              <a:t>’ throws all information needed to exactly reproduce your data on your console. You may simply copy the output and paste it into your question.</a:t>
            </a:r>
          </a:p>
        </p:txBody>
      </p:sp>
    </p:spTree>
    <p:extLst>
      <p:ext uri="{BB962C8B-B14F-4D97-AF65-F5344CB8AC3E}">
        <p14:creationId xmlns:p14="http://schemas.microsoft.com/office/powerpoint/2010/main" val="3713645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097E-2148-EE4F-AD4B-FC40335E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Producing minimal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D2C5E-B4B9-364D-8D9D-5243F1D75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code should exactly reproduce the problem</a:t>
            </a:r>
          </a:p>
          <a:p>
            <a:r>
              <a:rPr lang="en-US" dirty="0"/>
              <a:t>This may mean isolating a few lines creating the problem (but leaving enough of the stuff before it that someone can figure out where it is going wrong)</a:t>
            </a:r>
          </a:p>
          <a:p>
            <a:r>
              <a:rPr lang="en-US" dirty="0"/>
              <a:t>Making sure packages are run </a:t>
            </a:r>
          </a:p>
          <a:p>
            <a:r>
              <a:rPr lang="en-US" dirty="0"/>
              <a:t>Test your code in a fresh R session</a:t>
            </a:r>
          </a:p>
          <a:p>
            <a:r>
              <a:rPr lang="en-US" dirty="0"/>
              <a:t>Letting people know your </a:t>
            </a:r>
            <a:r>
              <a:rPr lang="en-US" dirty="0" err="1"/>
              <a:t>sessionInfo</a:t>
            </a:r>
            <a:r>
              <a:rPr lang="en-US" dirty="0"/>
              <a:t>() or package versions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7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97E9-C37F-284D-8633-5D0FC1F9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Reproducible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7EAA8-E7C5-6945-88F5-45138BE20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https://stats.stackexchange.com/questions/466161/different-p-values-using-glmer-vs-glm</a:t>
            </a:r>
            <a:endParaRPr lang="en-US" dirty="0"/>
          </a:p>
          <a:p>
            <a:endParaRPr lang="en-US" dirty="0"/>
          </a:p>
          <a:p>
            <a:r>
              <a:rPr lang="en-US" dirty="0"/>
              <a:t>Help is sometimes provided by amazing experts! </a:t>
            </a:r>
          </a:p>
        </p:txBody>
      </p:sp>
    </p:spTree>
    <p:extLst>
      <p:ext uri="{BB962C8B-B14F-4D97-AF65-F5344CB8AC3E}">
        <p14:creationId xmlns:p14="http://schemas.microsoft.com/office/powerpoint/2010/main" val="2695069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FCFA-3220-9747-AD41-77246DCF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6EB9-0583-EB41-AF7F-89EECE356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was the most helpful post in my opinion:</a:t>
            </a:r>
          </a:p>
          <a:p>
            <a:r>
              <a:rPr lang="en-US" dirty="0">
                <a:hlinkClick r:id="rId2"/>
              </a:rPr>
              <a:t>https://stackoverflow.com/questions/5963269/how-to-make-a-great-r-reproducible-example</a:t>
            </a:r>
            <a:endParaRPr lang="en-US" dirty="0"/>
          </a:p>
          <a:p>
            <a:endParaRPr lang="en-US" dirty="0"/>
          </a:p>
          <a:p>
            <a:r>
              <a:rPr lang="en-US" dirty="0"/>
              <a:t>Stack overflow also provides this:</a:t>
            </a:r>
          </a:p>
          <a:p>
            <a:r>
              <a:rPr lang="en-US" dirty="0">
                <a:hlinkClick r:id="rId3"/>
              </a:rPr>
              <a:t>https://stackoverflow.com/help/minimal-reproducible-example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Stackexchange</a:t>
            </a:r>
            <a:r>
              <a:rPr lang="en-US" dirty="0"/>
              <a:t> provides this:</a:t>
            </a:r>
          </a:p>
          <a:p>
            <a:r>
              <a:rPr lang="en-US" dirty="0">
                <a:hlinkClick r:id="rId4"/>
              </a:rPr>
              <a:t>https://stats.stackexchange.com/help/how-to-ask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18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linear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R: </a:t>
            </a:r>
            <a:r>
              <a:rPr lang="en-US" dirty="0" err="1"/>
              <a:t>glm</a:t>
            </a:r>
            <a:r>
              <a:rPr lang="en-US" dirty="0"/>
              <a:t>(), model specification as before: 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glm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(y~f1+x1+f2+x2, data=..., ...)</a:t>
            </a:r>
          </a:p>
          <a:p>
            <a:r>
              <a:rPr lang="en-US" dirty="0"/>
              <a:t>definition: </a:t>
            </a:r>
            <a:r>
              <a:rPr lang="en-US" i="1" dirty="0"/>
              <a:t>family</a:t>
            </a:r>
            <a:r>
              <a:rPr lang="en-US" dirty="0"/>
              <a:t> + </a:t>
            </a:r>
            <a:r>
              <a:rPr lang="en-US" i="1" dirty="0"/>
              <a:t>link function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846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“?</a:t>
            </a:r>
            <a:r>
              <a:rPr lang="en-US" dirty="0" err="1"/>
              <a:t>glm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What does this tell us?</a:t>
            </a:r>
          </a:p>
        </p:txBody>
      </p:sp>
    </p:spTree>
    <p:extLst>
      <p:ext uri="{BB962C8B-B14F-4D97-AF65-F5344CB8AC3E}">
        <p14:creationId xmlns:p14="http://schemas.microsoft.com/office/powerpoint/2010/main" val="1320289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family = </a:t>
            </a:r>
            <a:r>
              <a:rPr lang="en-US" dirty="0">
                <a:ea typeface="Courier New" charset="0"/>
                <a:cs typeface="Courier New" charset="0"/>
              </a:rPr>
              <a:t>argument specifies the distribution you want to use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ea typeface="Courier New" charset="0"/>
              <a:cs typeface="Courier New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a typeface="Courier New" charset="0"/>
                <a:cs typeface="Courier New" charset="0"/>
              </a:rPr>
              <a:t>The default is </a:t>
            </a:r>
            <a:r>
              <a:rPr lang="en-US" dirty="0" err="1">
                <a:ea typeface="Courier New" charset="0"/>
                <a:cs typeface="Courier New" charset="0"/>
              </a:rPr>
              <a:t>gaussian</a:t>
            </a:r>
            <a:endParaRPr lang="en-US" dirty="0">
              <a:ea typeface="Courier New" charset="0"/>
              <a:cs typeface="Courier New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a typeface="Courier New" charset="0"/>
                <a:cs typeface="Courier New" charset="0"/>
              </a:rPr>
              <a:t>in base R, e.g.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glm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dirty="0">
                <a:ea typeface="Courier New" charset="0"/>
                <a:cs typeface="Courier New" charset="0"/>
              </a:rPr>
              <a:t>the possible choices are these:</a:t>
            </a:r>
          </a:p>
          <a:p>
            <a:endParaRPr lang="en-US" dirty="0">
              <a:solidFill>
                <a:prstClr val="black"/>
              </a:solidFill>
              <a:latin typeface="Courier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" charset="0"/>
              </a:rPr>
              <a:t>binomial(link = "logit")</a:t>
            </a:r>
          </a:p>
          <a:p>
            <a:r>
              <a:rPr lang="en-US" dirty="0" err="1">
                <a:solidFill>
                  <a:prstClr val="black"/>
                </a:solidFill>
                <a:latin typeface="Courier" charset="0"/>
              </a:rPr>
              <a:t>gaussian</a:t>
            </a:r>
            <a:r>
              <a:rPr lang="en-US" dirty="0">
                <a:solidFill>
                  <a:prstClr val="black"/>
                </a:solidFill>
                <a:latin typeface="Courier" charset="0"/>
              </a:rPr>
              <a:t>(link = "identity")</a:t>
            </a:r>
          </a:p>
          <a:p>
            <a:r>
              <a:rPr lang="en-US" dirty="0">
                <a:solidFill>
                  <a:prstClr val="black"/>
                </a:solidFill>
                <a:latin typeface="Courier" charset="0"/>
              </a:rPr>
              <a:t>Gamma(link = "inverse")</a:t>
            </a:r>
          </a:p>
          <a:p>
            <a:r>
              <a:rPr lang="en-US" dirty="0" err="1">
                <a:solidFill>
                  <a:prstClr val="black"/>
                </a:solidFill>
                <a:latin typeface="Courier" charset="0"/>
              </a:rPr>
              <a:t>inverse.gaussian</a:t>
            </a:r>
            <a:r>
              <a:rPr lang="en-US" dirty="0">
                <a:solidFill>
                  <a:prstClr val="black"/>
                </a:solidFill>
                <a:latin typeface="Courier" charset="0"/>
              </a:rPr>
              <a:t>(link = "1/mu^2")</a:t>
            </a:r>
          </a:p>
          <a:p>
            <a:r>
              <a:rPr lang="en-US" dirty="0" err="1">
                <a:solidFill>
                  <a:prstClr val="black"/>
                </a:solidFill>
                <a:latin typeface="Courier" charset="0"/>
              </a:rPr>
              <a:t>poisson</a:t>
            </a:r>
            <a:r>
              <a:rPr lang="en-US" dirty="0">
                <a:solidFill>
                  <a:prstClr val="black"/>
                </a:solidFill>
                <a:latin typeface="Courier" charset="0"/>
              </a:rPr>
              <a:t>(link = "log")</a:t>
            </a:r>
          </a:p>
          <a:p>
            <a:r>
              <a:rPr lang="en-US" dirty="0">
                <a:solidFill>
                  <a:prstClr val="black"/>
                </a:solidFill>
                <a:latin typeface="Courier" charset="0"/>
              </a:rPr>
              <a:t>quasi(link = "identity", variance = "constant")</a:t>
            </a:r>
          </a:p>
          <a:p>
            <a:r>
              <a:rPr lang="en-US" dirty="0" err="1">
                <a:solidFill>
                  <a:prstClr val="black"/>
                </a:solidFill>
                <a:latin typeface="Courier" charset="0"/>
              </a:rPr>
              <a:t>quasibinomial</a:t>
            </a:r>
            <a:r>
              <a:rPr lang="en-US" dirty="0">
                <a:solidFill>
                  <a:prstClr val="black"/>
                </a:solidFill>
                <a:latin typeface="Courier" charset="0"/>
              </a:rPr>
              <a:t>(link = "logit")</a:t>
            </a:r>
          </a:p>
          <a:p>
            <a:r>
              <a:rPr lang="en-US" dirty="0" err="1">
                <a:solidFill>
                  <a:prstClr val="black"/>
                </a:solidFill>
                <a:latin typeface="Courier" charset="0"/>
              </a:rPr>
              <a:t>quasipoisson</a:t>
            </a:r>
            <a:r>
              <a:rPr lang="en-US" dirty="0">
                <a:solidFill>
                  <a:prstClr val="black"/>
                </a:solidFill>
                <a:latin typeface="Courier" charset="0"/>
              </a:rPr>
              <a:t>(link = "log")</a:t>
            </a:r>
          </a:p>
          <a:p>
            <a:endParaRPr lang="en-US" dirty="0">
              <a:solidFill>
                <a:prstClr val="black"/>
              </a:solidFill>
              <a:latin typeface="Courier" charset="0"/>
              <a:ea typeface="Courier New" charset="0"/>
              <a:cs typeface="Courier New" charset="0"/>
            </a:endParaRPr>
          </a:p>
          <a:p>
            <a:r>
              <a:rPr lang="en-US" dirty="0">
                <a:solidFill>
                  <a:prstClr val="black"/>
                </a:solidFill>
                <a:ea typeface="Courier New" charset="0"/>
                <a:cs typeface="Courier New" charset="0"/>
              </a:rPr>
              <a:t>What very useful distribution is missing?</a:t>
            </a:r>
          </a:p>
        </p:txBody>
      </p:sp>
    </p:spTree>
    <p:extLst>
      <p:ext uri="{BB962C8B-B14F-4D97-AF65-F5344CB8AC3E}">
        <p14:creationId xmlns:p14="http://schemas.microsoft.com/office/powerpoint/2010/main" val="691661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Family </a:t>
            </a:r>
            <a:r>
              <a:rPr lang="mr-IN" dirty="0"/>
              <a:t>–</a:t>
            </a:r>
            <a:r>
              <a:rPr lang="en-US" dirty="0"/>
              <a:t> negative binomial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do a </a:t>
            </a:r>
            <a:r>
              <a:rPr lang="en-US" dirty="0" err="1"/>
              <a:t>glm</a:t>
            </a:r>
            <a:r>
              <a:rPr lang="en-US" dirty="0"/>
              <a:t> with a negative binomial distribution we can use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glm.nb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dirty="0"/>
              <a:t>in the MASS package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89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Link functions “linearize” the data</a:t>
            </a:r>
          </a:p>
          <a:p>
            <a:endParaRPr lang="en-US" dirty="0"/>
          </a:p>
          <a:p>
            <a:r>
              <a:rPr lang="en-US" dirty="0"/>
              <a:t>Link functions apply a function to fit a data on a linear scale while calculating the expected variance on the untransformed scale in order to correct for distortions that linearization would normally cause</a:t>
            </a:r>
          </a:p>
          <a:p>
            <a:endParaRPr lang="en-US" dirty="0"/>
          </a:p>
          <a:p>
            <a:r>
              <a:rPr lang="en-US" dirty="0"/>
              <a:t>All distributions have a canonical (or standard) link which are generally fine to use</a:t>
            </a:r>
          </a:p>
          <a:p>
            <a:endParaRPr lang="en-US" dirty="0"/>
          </a:p>
          <a:p>
            <a:r>
              <a:rPr lang="en-US" dirty="0"/>
              <a:t>One exception might be the Gamma, often the “log” link is used instead of the standard “inverse” link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160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anything but the standard link?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Depending on how your data are distributed, some link functions might fit your data better than others</a:t>
            </a:r>
          </a:p>
        </p:txBody>
      </p:sp>
    </p:spTree>
    <p:extLst>
      <p:ext uri="{BB962C8B-B14F-4D97-AF65-F5344CB8AC3E}">
        <p14:creationId xmlns:p14="http://schemas.microsoft.com/office/powerpoint/2010/main" val="1799223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GLMs with binomial distributions </a:t>
            </a:r>
            <a:r>
              <a:rPr lang="mr-IN" dirty="0"/>
              <a:t>–</a:t>
            </a:r>
            <a:r>
              <a:rPr lang="en-US" dirty="0"/>
              <a:t> logit vs </a:t>
            </a:r>
            <a:r>
              <a:rPr lang="en-US" dirty="0" err="1"/>
              <a:t>probit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109" y="1690688"/>
            <a:ext cx="706092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20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GLMs are fit by  maximum likelihood</a:t>
            </a:r>
          </a:p>
          <a:p>
            <a:pPr lvl="1"/>
            <a:r>
              <a:rPr lang="en-US" dirty="0"/>
              <a:t>Specifically, by using an iteratively weighted least squares algorithm (which is different than least squares). </a:t>
            </a:r>
          </a:p>
          <a:p>
            <a:endParaRPr lang="en-US" dirty="0"/>
          </a:p>
          <a:p>
            <a:r>
              <a:rPr lang="en-US" dirty="0"/>
              <a:t>The fit does not apply the link function to the responses, rather is applies the </a:t>
            </a:r>
            <a:r>
              <a:rPr lang="en-US" i="1" dirty="0"/>
              <a:t>inverse</a:t>
            </a:r>
            <a:r>
              <a:rPr lang="en-US" dirty="0"/>
              <a:t> link function to the predictor</a:t>
            </a:r>
          </a:p>
          <a:p>
            <a:pPr marL="0" indent="0">
              <a:buNone/>
            </a:pPr>
            <a:r>
              <a:rPr lang="en-US" dirty="0"/>
              <a:t>e.g. For Poisson, instead of log(y)∼x, we analyze </a:t>
            </a:r>
            <a:r>
              <a:rPr lang="en-US" dirty="0" err="1"/>
              <a:t>y∼Poisson</a:t>
            </a:r>
            <a:r>
              <a:rPr lang="en-US" dirty="0"/>
              <a:t>(</a:t>
            </a:r>
            <a:r>
              <a:rPr lang="en-US" dirty="0" err="1"/>
              <a:t>exp</a:t>
            </a:r>
            <a:r>
              <a:rPr lang="en-US" dirty="0"/>
              <a:t>(x))</a:t>
            </a:r>
          </a:p>
          <a:p>
            <a:pPr lvl="1"/>
            <a:r>
              <a:rPr lang="en-US" dirty="0"/>
              <a:t>This is good because the observed value of y might be 0!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034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0D10-B3D3-5B49-8F6E-109897DC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Maximum likelihood vs least squares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950C-BEE6-C648-A102-2BFC6B1CD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Least squares (</a:t>
            </a:r>
            <a:r>
              <a:rPr lang="en-US" dirty="0" err="1"/>
              <a:t>lms</a:t>
            </a:r>
            <a:r>
              <a:rPr lang="en-US" dirty="0"/>
              <a:t>) minimizes the sum of the squared residuals</a:t>
            </a:r>
          </a:p>
          <a:p>
            <a:pPr lvl="1"/>
            <a:r>
              <a:rPr lang="en-US" dirty="0"/>
              <a:t>Fitting with least squares has lots of nice properties, like the ability to calculate and R2 value</a:t>
            </a:r>
          </a:p>
          <a:p>
            <a:pPr lvl="1"/>
            <a:r>
              <a:rPr lang="en-US" dirty="0"/>
              <a:t>R2 tells you how much variability in the dependent variable is explained by the model</a:t>
            </a:r>
          </a:p>
          <a:p>
            <a:endParaRPr lang="en-US" dirty="0"/>
          </a:p>
          <a:p>
            <a:r>
              <a:rPr lang="en-US" dirty="0"/>
              <a:t>Maximum likelihood fitting</a:t>
            </a:r>
          </a:p>
          <a:p>
            <a:pPr lvl="1"/>
            <a:r>
              <a:rPr lang="en-US" dirty="0"/>
              <a:t>Finds the value of parameters that maximize the likelihood function </a:t>
            </a:r>
          </a:p>
          <a:p>
            <a:pPr lvl="2"/>
            <a:r>
              <a:rPr lang="en-US" dirty="0" err="1"/>
              <a:t>Lik</a:t>
            </a:r>
            <a:r>
              <a:rPr lang="en-US" dirty="0"/>
              <a:t> function: is a function of how well the data summarizes the parameters of our selected probability distribution. Not the same as the probability density function (but kind of is). 	</a:t>
            </a:r>
          </a:p>
          <a:p>
            <a:pPr lvl="1"/>
            <a:r>
              <a:rPr lang="en-US" dirty="0"/>
              <a:t>There is no simple way to get an R2. </a:t>
            </a:r>
          </a:p>
          <a:p>
            <a:pPr lvl="2"/>
            <a:r>
              <a:rPr lang="en-US" dirty="0"/>
              <a:t>You can sometimes use pseudo-R2, but these should not be compared to models fit with least squares</a:t>
            </a:r>
          </a:p>
        </p:txBody>
      </p:sp>
    </p:spTree>
    <p:extLst>
      <p:ext uri="{BB962C8B-B14F-4D97-AF65-F5344CB8AC3E}">
        <p14:creationId xmlns:p14="http://schemas.microsoft.com/office/powerpoint/2010/main" val="1247246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 </a:t>
            </a:r>
            <a:r>
              <a:rPr lang="mr-IN" dirty="0"/>
              <a:t>–</a:t>
            </a:r>
            <a:r>
              <a:rPr lang="en-US" dirty="0"/>
              <a:t> Infection and 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model the effect of </a:t>
            </a:r>
            <a:r>
              <a:rPr lang="en-US" u="sng" dirty="0"/>
              <a:t>Temperature</a:t>
            </a:r>
            <a:r>
              <a:rPr lang="en-US" dirty="0"/>
              <a:t> on </a:t>
            </a:r>
            <a:r>
              <a:rPr lang="en-US" u="sng" dirty="0"/>
              <a:t>Probability of Infection </a:t>
            </a:r>
            <a:r>
              <a:rPr lang="en-US" dirty="0"/>
              <a:t>(e.g. the response variable is an infected individual 0/1)</a:t>
            </a:r>
          </a:p>
          <a:p>
            <a:pPr lvl="1"/>
            <a:r>
              <a:rPr lang="en-US" dirty="0"/>
              <a:t>We know that as temperature increases, infection is higher</a:t>
            </a:r>
          </a:p>
          <a:p>
            <a:pPr lvl="1"/>
            <a:r>
              <a:rPr lang="en-US" dirty="0"/>
              <a:t>Probabilities are bounded on both ends (0,1)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a change of 5 degrees makes an individual twice as likely to be infected, what does this mean in terms of probability?</a:t>
            </a:r>
          </a:p>
          <a:p>
            <a:pPr lvl="2"/>
            <a:r>
              <a:rPr lang="en-US" dirty="0"/>
              <a:t>If probability of infection is 70%, and temperature increases 5 degrees, what happens? (Hint: What happens if we double 70%?)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93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7E9E3-2C14-AF41-92B8-B6B92F55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Linearity and other distributions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1CD37-8685-D349-9B57-940852F93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Increases in a predictor variable don’t always lead to corresponding increases in our outcome variable when the outcome variable is not normally distributed</a:t>
            </a:r>
          </a:p>
        </p:txBody>
      </p:sp>
    </p:spTree>
    <p:extLst>
      <p:ext uri="{BB962C8B-B14F-4D97-AF65-F5344CB8AC3E}">
        <p14:creationId xmlns:p14="http://schemas.microsoft.com/office/powerpoint/2010/main" val="4237838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GLMs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with </a:t>
            </a:r>
            <a:r>
              <a:rPr lang="en-US" dirty="0" err="1"/>
              <a:t>lms</a:t>
            </a:r>
            <a:r>
              <a:rPr lang="en-US" dirty="0"/>
              <a:t>, the change in the response reflects a change in input</a:t>
            </a:r>
          </a:p>
          <a:p>
            <a:r>
              <a:rPr lang="en-US" dirty="0"/>
              <a:t>However, interpreting GLMs is a bit harder than </a:t>
            </a:r>
            <a:r>
              <a:rPr lang="en-US" dirty="0" err="1"/>
              <a:t>lm’s</a:t>
            </a:r>
            <a:r>
              <a:rPr lang="en-US" dirty="0"/>
              <a:t> because the </a:t>
            </a:r>
            <a:r>
              <a:rPr lang="en-US" dirty="0" err="1"/>
              <a:t>coefs</a:t>
            </a:r>
            <a:r>
              <a:rPr lang="en-US" dirty="0"/>
              <a:t> are on the scale of the link function </a:t>
            </a:r>
          </a:p>
          <a:p>
            <a:pPr lvl="1"/>
            <a:r>
              <a:rPr lang="en-US" dirty="0"/>
              <a:t>e.g. the log scale (</a:t>
            </a:r>
            <a:r>
              <a:rPr lang="en-US" dirty="0" err="1"/>
              <a:t>poisson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 the logit scale (binomial)</a:t>
            </a:r>
          </a:p>
          <a:p>
            <a:pPr lvl="1"/>
            <a:r>
              <a:rPr lang="en-US" dirty="0"/>
              <a:t>or horribly the inverse scale (gamma default). </a:t>
            </a:r>
          </a:p>
          <a:p>
            <a:pPr lvl="1"/>
            <a:endParaRPr lang="en-US" dirty="0"/>
          </a:p>
          <a:p>
            <a:r>
              <a:rPr lang="en-US" dirty="0"/>
              <a:t>To interpret them, you need to transform them</a:t>
            </a:r>
          </a:p>
        </p:txBody>
      </p:sp>
    </p:spTree>
    <p:extLst>
      <p:ext uri="{BB962C8B-B14F-4D97-AF65-F5344CB8AC3E}">
        <p14:creationId xmlns:p14="http://schemas.microsoft.com/office/powerpoint/2010/main" val="844707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 </a:t>
            </a:r>
            <a:r>
              <a:rPr lang="mr-IN" dirty="0"/>
              <a:t>–</a:t>
            </a:r>
            <a:r>
              <a:rPr lang="en-US" dirty="0"/>
              <a:t> the default parameters represent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Differences, not absolute values!</a:t>
            </a:r>
          </a:p>
          <a:p>
            <a:endParaRPr lang="en-US" dirty="0"/>
          </a:p>
          <a:p>
            <a:r>
              <a:rPr lang="en-US" dirty="0"/>
              <a:t>Run this line (ex10_glms):</a:t>
            </a:r>
          </a:p>
          <a:p>
            <a:r>
              <a:rPr lang="en-US" dirty="0"/>
              <a:t>g1 = </a:t>
            </a:r>
            <a:r>
              <a:rPr lang="en-US" dirty="0" err="1"/>
              <a:t>glm</a:t>
            </a:r>
            <a:r>
              <a:rPr lang="en-US" dirty="0"/>
              <a:t>(</a:t>
            </a:r>
            <a:r>
              <a:rPr lang="en-US" dirty="0" err="1"/>
              <a:t>N~time,data</a:t>
            </a:r>
            <a:r>
              <a:rPr lang="en-US" dirty="0"/>
              <a:t>=</a:t>
            </a:r>
            <a:r>
              <a:rPr lang="en-US" dirty="0" err="1"/>
              <a:t>liz</a:t>
            </a:r>
            <a:r>
              <a:rPr lang="en-US" dirty="0"/>
              <a:t>, family="</a:t>
            </a:r>
            <a:r>
              <a:rPr lang="en-US" dirty="0" err="1"/>
              <a:t>poisson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What do you think this is telling you?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33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hints for interpreting output on the </a:t>
            </a:r>
            <a:r>
              <a:rPr lang="en-US" i="1" dirty="0"/>
              <a:t>effect</a:t>
            </a:r>
            <a:r>
              <a:rPr lang="en-US" dirty="0"/>
              <a:t> (e.g. link)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 link: proportional for small β changes</a:t>
            </a:r>
          </a:p>
          <a:p>
            <a:pPr lvl="1"/>
            <a:r>
              <a:rPr lang="en-US" dirty="0"/>
              <a:t>e.g. β=0.01→ “1% change/unit change in input”</a:t>
            </a:r>
          </a:p>
          <a:p>
            <a:pPr lvl="1"/>
            <a:r>
              <a:rPr lang="en-US" dirty="0"/>
              <a:t>β=3→ “(e</a:t>
            </a:r>
            <a:r>
              <a:rPr lang="en-US" baseline="30000" dirty="0"/>
              <a:t>3</a:t>
            </a:r>
            <a:r>
              <a:rPr lang="en-US" dirty="0"/>
              <a:t>)=20-fold change/change in input”</a:t>
            </a:r>
          </a:p>
          <a:p>
            <a:pPr lvl="2"/>
            <a:r>
              <a:rPr lang="en-US" dirty="0"/>
              <a:t>Where Euler’s e = 2.72</a:t>
            </a:r>
          </a:p>
          <a:p>
            <a:r>
              <a:rPr lang="en-US" dirty="0"/>
              <a:t>logit link: </a:t>
            </a:r>
            <a:r>
              <a:rPr lang="en-US" b="1" dirty="0"/>
              <a:t>depends on baseline </a:t>
            </a:r>
            <a:r>
              <a:rPr lang="en-US" b="1" dirty="0" err="1"/>
              <a:t>prob</a:t>
            </a:r>
            <a:endParaRPr lang="en-US" dirty="0"/>
          </a:p>
          <a:p>
            <a:pPr lvl="1"/>
            <a:r>
              <a:rPr lang="en-US" dirty="0"/>
              <a:t>low baseline </a:t>
            </a:r>
            <a:r>
              <a:rPr lang="en-US" dirty="0" err="1"/>
              <a:t>prob</a:t>
            </a:r>
            <a:r>
              <a:rPr lang="en-US" dirty="0"/>
              <a:t>: like log link</a:t>
            </a:r>
          </a:p>
          <a:p>
            <a:pPr lvl="1"/>
            <a:r>
              <a:rPr lang="en-US" dirty="0"/>
              <a:t>high baseline </a:t>
            </a:r>
            <a:r>
              <a:rPr lang="en-US" dirty="0" err="1"/>
              <a:t>prob</a:t>
            </a:r>
            <a:r>
              <a:rPr lang="en-US" dirty="0"/>
              <a:t>: prop. change in (1-prob)</a:t>
            </a:r>
          </a:p>
          <a:p>
            <a:pPr lvl="1"/>
            <a:r>
              <a:rPr lang="en-US" dirty="0"/>
              <a:t>medium </a:t>
            </a:r>
            <a:r>
              <a:rPr lang="en-US" dirty="0" err="1"/>
              <a:t>prob</a:t>
            </a:r>
            <a:r>
              <a:rPr lang="en-US" dirty="0"/>
              <a:t>: absolute change ≈ β/4</a:t>
            </a:r>
          </a:p>
          <a:p>
            <a:pPr lvl="1"/>
            <a:r>
              <a:rPr lang="en-US" dirty="0"/>
              <a:t>e.g. β0 (intercept)=0, β1=1; estimated change in </a:t>
            </a:r>
            <a:r>
              <a:rPr lang="en-US" dirty="0" err="1"/>
              <a:t>prob</a:t>
            </a:r>
            <a:r>
              <a:rPr lang="en-US" dirty="0"/>
              <a:t> ≈ 0.25</a:t>
            </a:r>
          </a:p>
        </p:txBody>
      </p:sp>
    </p:spTree>
    <p:extLst>
      <p:ext uri="{BB962C8B-B14F-4D97-AF65-F5344CB8AC3E}">
        <p14:creationId xmlns:p14="http://schemas.microsoft.com/office/powerpoint/2010/main" val="1674951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use real number data (e.g. the number of individuals infected)</a:t>
            </a:r>
          </a:p>
          <a:p>
            <a:endParaRPr lang="en-US" dirty="0"/>
          </a:p>
          <a:p>
            <a:r>
              <a:rPr lang="en-US" dirty="0"/>
              <a:t>If you have aggregated data, for example, proportion infected is .20 out of a sample size of 10 individuals, you can specify the sample size as weights.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31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responses from GLMs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predict responses from GLMs we should use type = “response”</a:t>
            </a:r>
          </a:p>
          <a:p>
            <a:endParaRPr lang="en-US" dirty="0"/>
          </a:p>
          <a:p>
            <a:r>
              <a:rPr lang="en-US" dirty="0"/>
              <a:t>This will transform from the effect scale to the scale of our response variable</a:t>
            </a:r>
          </a:p>
          <a:p>
            <a:endParaRPr lang="en-US" dirty="0"/>
          </a:p>
          <a:p>
            <a:r>
              <a:rPr lang="en-US" dirty="0"/>
              <a:t>Go to R</a:t>
            </a:r>
            <a:r>
              <a:rPr lang="mr-IN" dirty="0"/>
              <a:t>…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436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I do about the confidence intervals?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not transform the SE’s of the coefficients the same way you have done the </a:t>
            </a:r>
            <a:r>
              <a:rPr lang="en-US" dirty="0" err="1"/>
              <a:t>coefs</a:t>
            </a:r>
            <a:endParaRPr lang="en-US" dirty="0"/>
          </a:p>
          <a:p>
            <a:r>
              <a:rPr lang="en-US" dirty="0"/>
              <a:t>My recommendation: report the untransformed SE’s and </a:t>
            </a:r>
            <a:r>
              <a:rPr lang="en-US" dirty="0" err="1"/>
              <a:t>coefs</a:t>
            </a:r>
            <a:r>
              <a:rPr lang="en-US" dirty="0"/>
              <a:t> and specify the link function you used; do not back transform</a:t>
            </a:r>
          </a:p>
          <a:p>
            <a:r>
              <a:rPr lang="en-US" dirty="0"/>
              <a:t>Report the confidence intervals and standard error of your data points</a:t>
            </a:r>
          </a:p>
          <a:p>
            <a:pPr lvl="1"/>
            <a:r>
              <a:rPr lang="en-US" dirty="0"/>
              <a:t>There are packages that can help to calculate binomial confidence intervals to save you the arithmetic as there are several ways to do this.</a:t>
            </a:r>
          </a:p>
        </p:txBody>
      </p:sp>
    </p:spTree>
    <p:extLst>
      <p:ext uri="{BB962C8B-B14F-4D97-AF65-F5344CB8AC3E}">
        <p14:creationId xmlns:p14="http://schemas.microsoft.com/office/powerpoint/2010/main" val="435211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</a:t>
            </a:r>
            <a:r>
              <a:rPr lang="en-US" i="1" dirty="0"/>
              <a:t>really</a:t>
            </a:r>
            <a:r>
              <a:rPr lang="en-US" dirty="0"/>
              <a:t> want prediction intervals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need to use the inverse of your link function to back transform the confidence intervals, </a:t>
            </a:r>
            <a:r>
              <a:rPr lang="en-US" u="sng" dirty="0"/>
              <a:t>NOT THE SE’s!</a:t>
            </a:r>
          </a:p>
          <a:p>
            <a:endParaRPr lang="en-US" dirty="0"/>
          </a:p>
          <a:p>
            <a:r>
              <a:rPr lang="en-US" dirty="0"/>
              <a:t>See code (not going to walkthrough – very complicated)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224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default link of the Gamma is inverse</a:t>
            </a:r>
          </a:p>
          <a:p>
            <a:endParaRPr lang="en-US" dirty="0"/>
          </a:p>
          <a:p>
            <a:r>
              <a:rPr lang="en-US" dirty="0"/>
              <a:t>Log is typically okay to use and more intuitive</a:t>
            </a:r>
          </a:p>
          <a:p>
            <a:endParaRPr lang="en-US" dirty="0"/>
          </a:p>
          <a:p>
            <a:r>
              <a:rPr lang="en-US" dirty="0"/>
              <a:t>Go to code..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03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Remember, that in Poisson distributions the variance is equal to the mean</a:t>
            </a:r>
          </a:p>
          <a:p>
            <a:endParaRPr lang="en-US" dirty="0"/>
          </a:p>
          <a:p>
            <a:r>
              <a:rPr lang="en-US" dirty="0"/>
              <a:t>This means it is sensible to be concerned about </a:t>
            </a:r>
            <a:r>
              <a:rPr lang="en-US" dirty="0" err="1"/>
              <a:t>overdispersion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It is a good idea to check for this</a:t>
            </a:r>
          </a:p>
        </p:txBody>
      </p:sp>
    </p:spTree>
    <p:extLst>
      <p:ext uri="{BB962C8B-B14F-4D97-AF65-F5344CB8AC3E}">
        <p14:creationId xmlns:p14="http://schemas.microsoft.com/office/powerpoint/2010/main" val="1813096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Overdispersion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4487"/>
            <a:ext cx="10515600" cy="4732476"/>
          </a:xfrm>
        </p:spPr>
        <p:txBody>
          <a:bodyPr>
            <a:normAutofit/>
          </a:bodyPr>
          <a:lstStyle/>
          <a:p>
            <a:r>
              <a:rPr lang="en-US" dirty="0"/>
              <a:t>too much variance: </a:t>
            </a:r>
          </a:p>
          <a:p>
            <a:r>
              <a:rPr lang="en-US" i="1" dirty="0"/>
              <a:t>scale parameter</a:t>
            </a:r>
            <a:r>
              <a:rPr lang="en-US" dirty="0"/>
              <a:t> is fixed to 1 for Poisson (variance=mean), binomial (variance=Np(1−p)Np(1−p)</a:t>
            </a:r>
          </a:p>
          <a:p>
            <a:pPr lvl="1"/>
            <a:r>
              <a:rPr lang="en-US" dirty="0"/>
              <a:t>This is often untrue!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(residual deviance)/(residual </a:t>
            </a:r>
            <a:r>
              <a:rPr lang="en-US" b="1" dirty="0" err="1"/>
              <a:t>df</a:t>
            </a:r>
            <a:r>
              <a:rPr lang="en-US" b="1" dirty="0"/>
              <a:t>) should be ≈1. </a:t>
            </a:r>
          </a:p>
          <a:p>
            <a:pPr lvl="1"/>
            <a:r>
              <a:rPr lang="en-US" dirty="0"/>
              <a:t>If the ratio is &gt;1.2, worry a little bit</a:t>
            </a:r>
          </a:p>
          <a:p>
            <a:pPr lvl="1"/>
            <a:r>
              <a:rPr lang="en-US" dirty="0"/>
              <a:t>if the ratio is greater than ≈3, something else might be wrong with your model.</a:t>
            </a:r>
          </a:p>
          <a:p>
            <a:pPr lvl="1"/>
            <a:endParaRPr lang="en-US" dirty="0"/>
          </a:p>
          <a:p>
            <a:r>
              <a:rPr lang="en-US" dirty="0"/>
              <a:t>We can get these directly from our model</a:t>
            </a:r>
          </a:p>
        </p:txBody>
      </p:sp>
    </p:spTree>
    <p:extLst>
      <p:ext uri="{BB962C8B-B14F-4D97-AF65-F5344CB8AC3E}">
        <p14:creationId xmlns:p14="http://schemas.microsoft.com/office/powerpoint/2010/main" val="396760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 test for </a:t>
            </a:r>
            <a:r>
              <a:rPr lang="en-US" dirty="0" err="1"/>
              <a:t>overdispersion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use a dispersion test from the AER package</a:t>
            </a:r>
          </a:p>
          <a:p>
            <a:r>
              <a:rPr lang="en-US" dirty="0"/>
              <a:t>more important to do </a:t>
            </a:r>
            <a:r>
              <a:rPr lang="en-US" b="1" dirty="0"/>
              <a:t>something</a:t>
            </a:r>
            <a:r>
              <a:rPr lang="en-US" dirty="0"/>
              <a:t> about </a:t>
            </a:r>
            <a:r>
              <a:rPr lang="en-US" dirty="0" err="1"/>
              <a:t>overdispersion</a:t>
            </a:r>
            <a:r>
              <a:rPr lang="en-US" dirty="0"/>
              <a:t> than exactly what you do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100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</a:t>
            </a:r>
            <a:r>
              <a:rPr lang="en-US" dirty="0" err="1"/>
              <a:t>overdispersion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use quasi-likelihood models (e.g. family=</a:t>
            </a:r>
            <a:r>
              <a:rPr lang="en-US" dirty="0" err="1"/>
              <a:t>quasipoisson</a:t>
            </a:r>
            <a:r>
              <a:rPr lang="en-US" dirty="0"/>
              <a:t>); fit, then adjust CIs/p-values</a:t>
            </a:r>
          </a:p>
          <a:p>
            <a:pPr lvl="1"/>
            <a:r>
              <a:rPr lang="en-US" dirty="0"/>
              <a:t>point estimates </a:t>
            </a:r>
            <a:r>
              <a:rPr lang="en-US" b="1" dirty="0"/>
              <a:t>don’t change</a:t>
            </a:r>
            <a:r>
              <a:rPr lang="en-US" dirty="0"/>
              <a:t>, just adjusts std errors/CIs/p-values</a:t>
            </a:r>
          </a:p>
          <a:p>
            <a:pPr lvl="1"/>
            <a:r>
              <a:rPr lang="en-US" dirty="0"/>
              <a:t>This is less common</a:t>
            </a:r>
          </a:p>
          <a:p>
            <a:r>
              <a:rPr lang="en-US" u="sng" dirty="0"/>
              <a:t>Can use negative binomial </a:t>
            </a:r>
          </a:p>
          <a:p>
            <a:r>
              <a:rPr lang="en-US" dirty="0"/>
              <a:t>alternatives:</a:t>
            </a:r>
          </a:p>
          <a:p>
            <a:pPr lvl="1"/>
            <a:r>
              <a:rPr lang="en-US" dirty="0"/>
              <a:t>Poisson → negative binomial (MASS::</a:t>
            </a:r>
            <a:r>
              <a:rPr lang="en-US" dirty="0" err="1"/>
              <a:t>glm.nb</a:t>
            </a:r>
            <a:r>
              <a:rPr lang="en-US" dirty="0"/>
              <a:t>)</a:t>
            </a:r>
          </a:p>
          <a:p>
            <a:r>
              <a:rPr lang="en-US" dirty="0" err="1"/>
              <a:t>overdispersion</a:t>
            </a:r>
            <a:r>
              <a:rPr lang="en-US" dirty="0"/>
              <a:t> </a:t>
            </a:r>
            <a:r>
              <a:rPr lang="en-US" b="1" dirty="0"/>
              <a:t>not</a:t>
            </a:r>
            <a:r>
              <a:rPr lang="en-US" dirty="0"/>
              <a:t> relevant for</a:t>
            </a:r>
          </a:p>
          <a:p>
            <a:pPr lvl="1"/>
            <a:r>
              <a:rPr lang="en-US" dirty="0"/>
              <a:t>binary responses</a:t>
            </a:r>
          </a:p>
          <a:p>
            <a:pPr lvl="1"/>
            <a:r>
              <a:rPr lang="en-US" dirty="0"/>
              <a:t>families with estimated scale parameters (</a:t>
            </a:r>
            <a:r>
              <a:rPr lang="en-US" dirty="0" err="1"/>
              <a:t>gaussian</a:t>
            </a:r>
            <a:r>
              <a:rPr lang="en-US" dirty="0"/>
              <a:t>, Gamma, …)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002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Binomial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overdispersed</a:t>
            </a:r>
            <a:r>
              <a:rPr lang="en-US" dirty="0"/>
              <a:t> count data, the negative binomial is a really good solution</a:t>
            </a:r>
          </a:p>
          <a:p>
            <a:endParaRPr lang="en-US" dirty="0"/>
          </a:p>
          <a:p>
            <a:r>
              <a:rPr lang="en-US" dirty="0"/>
              <a:t>What do our updated diagnostics tell us about whether the negative binomial is behaving adequately? </a:t>
            </a:r>
          </a:p>
        </p:txBody>
      </p:sp>
    </p:spTree>
    <p:extLst>
      <p:ext uri="{BB962C8B-B14F-4D97-AF65-F5344CB8AC3E}">
        <p14:creationId xmlns:p14="http://schemas.microsoft.com/office/powerpoint/2010/main" val="1194184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1630"/>
            <a:ext cx="10515600" cy="1325563"/>
          </a:xfrm>
        </p:spPr>
        <p:txBody>
          <a:bodyPr/>
          <a:lstStyle/>
          <a:p>
            <a:r>
              <a:rPr lang="en-US" dirty="0"/>
              <a:t>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Harder than linear models</a:t>
            </a:r>
          </a:p>
          <a:p>
            <a:r>
              <a:rPr lang="en-US" dirty="0"/>
              <a:t>goodness of fit tests, R2 etc. can also be a bit challenging and people have suggested that many of these methods don’t work very well</a:t>
            </a:r>
          </a:p>
          <a:p>
            <a:r>
              <a:rPr lang="en-US" dirty="0"/>
              <a:t>Some people will compare model residual deviance which can give an indication of whether one distribution is preferred over another but this also has limitations</a:t>
            </a:r>
          </a:p>
          <a:p>
            <a:r>
              <a:rPr lang="en-US" dirty="0"/>
              <a:t>Do be wary of general statistical problems </a:t>
            </a:r>
            <a:r>
              <a:rPr lang="mr-IN" dirty="0"/>
              <a:t>–</a:t>
            </a:r>
            <a:r>
              <a:rPr lang="en-US" dirty="0"/>
              <a:t> multicollinearity, constant responses, too many zeros</a:t>
            </a:r>
          </a:p>
          <a:p>
            <a:pPr lvl="1"/>
            <a:r>
              <a:rPr lang="en-US" dirty="0"/>
              <a:t>There is always the gut check test too </a:t>
            </a:r>
            <a:r>
              <a:rPr lang="mr-IN" dirty="0"/>
              <a:t>–</a:t>
            </a:r>
            <a:r>
              <a:rPr lang="en-US" dirty="0"/>
              <a:t> plot your data and model output and ask yourself </a:t>
            </a:r>
            <a:r>
              <a:rPr lang="mr-IN" dirty="0"/>
              <a:t>–</a:t>
            </a:r>
            <a:r>
              <a:rPr lang="en-US" dirty="0"/>
              <a:t> does it look like anything funny is happening here?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665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7BAB-9210-A8F3-9B12-9AAB1A00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F1298-ECDC-2775-907C-38718E20E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performance package you learned about previously allows you checks for overdispersion</a:t>
            </a:r>
          </a:p>
          <a:p>
            <a:r>
              <a:rPr lang="en-US" dirty="0"/>
              <a:t>The best package for testing </a:t>
            </a:r>
            <a:r>
              <a:rPr lang="en-US" dirty="0" err="1"/>
              <a:t>glms</a:t>
            </a:r>
            <a:r>
              <a:rPr lang="en-US" dirty="0"/>
              <a:t> is ‘Dharma’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201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D205-1AAD-F5EC-AEEA-2F8F2CE2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Dharma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BFA9C-2CD6-710B-1E62-D3877A9D7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2"/>
              </a:rPr>
              <a:t>https://cran.r-project.org/web/packages/DHARMa/vignettes/DHARMa.html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GLMs residuals are harder to interpret because the expected distribution of the data (aka predictive distribution) changes with the fitted values</a:t>
            </a:r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DHARMa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aims at solving these problems by creating readily interpretable residuals for generalized linear models that are standardized to values between 0 and 1, and that can be interpreted as intuitively as residuals for the linear model. This is achieved by a simulation-based approach.</a:t>
            </a:r>
          </a:p>
          <a:p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Go to code…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310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469272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ignoring </a:t>
            </a:r>
            <a:r>
              <a:rPr lang="en-US" sz="2400" dirty="0" err="1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overdispersion</a:t>
            </a:r>
            <a:endParaRPr lang="en-US" sz="2400" dirty="0">
              <a:solidFill>
                <a:srgbClr val="262626"/>
              </a:solidFill>
              <a:latin typeface="Calibri" charset="0"/>
              <a:ea typeface="Calibri" charset="0"/>
              <a:cs typeface="Calibri" charset="0"/>
            </a:endParaRPr>
          </a:p>
          <a:p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applying discrete models (Poisson, binomial) to non-discrete data: </a:t>
            </a:r>
            <a:r>
              <a:rPr lang="en-US" sz="2400" b="1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don’t divide!</a:t>
            </a:r>
            <a:endParaRPr lang="en-US" sz="2400" dirty="0">
              <a:solidFill>
                <a:srgbClr val="262626"/>
              </a:solidFill>
              <a:latin typeface="Calibri" charset="0"/>
              <a:ea typeface="Calibri" charset="0"/>
              <a:cs typeface="Calibri" charset="0"/>
            </a:endParaRPr>
          </a:p>
          <a:p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equating negative binomial with binomial rather than Poisson</a:t>
            </a:r>
          </a:p>
          <a:p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confusion in interpreting effects</a:t>
            </a:r>
          </a:p>
          <a:p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back-transforming standard errors</a:t>
            </a:r>
          </a:p>
          <a:p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getting confused by predictions on the linear predictor scale</a:t>
            </a:r>
          </a:p>
          <a:p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using GLMs where linear models will do (i.e. </a:t>
            </a:r>
            <a:r>
              <a:rPr lang="en-US" sz="2400" dirty="0" err="1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glm</a:t>
            </a:r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 instead of lm) (</a:t>
            </a:r>
            <a:r>
              <a:rPr lang="en-US" sz="2400" i="1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mostly harmless</a:t>
            </a:r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)</a:t>
            </a:r>
          </a:p>
          <a:p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forgetting to use type="response" using </a:t>
            </a:r>
            <a:r>
              <a:rPr lang="en-US" sz="2400" dirty="0" err="1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predict.glm</a:t>
            </a:r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()</a:t>
            </a:r>
          </a:p>
          <a:p>
            <a:r>
              <a:rPr lang="en-US" sz="240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ignoring blocking factors (e.g. failing to use mixed models where necessary)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8723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361F-E91A-7C4D-9171-EAE07804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760A6-53ED-2745-8126-44C836EC2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63"/>
            <a:ext cx="10515600" cy="4752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Make a generalized linear model for a hypothesis. Articulate which hypothesis you are testing.</a:t>
            </a:r>
          </a:p>
          <a:p>
            <a:r>
              <a:rPr lang="en-US" dirty="0"/>
              <a:t>Explain what the R output is telling you about your data, in relation to your hypothesis.</a:t>
            </a:r>
            <a:br>
              <a:rPr lang="en-US" dirty="0"/>
            </a:br>
            <a:r>
              <a:rPr lang="en-US" dirty="0"/>
              <a:t>(Hint: you can use </a:t>
            </a:r>
            <a:r>
              <a:rPr lang="en-US" dirty="0" err="1"/>
              <a:t>emmeans</a:t>
            </a:r>
            <a:r>
              <a:rPr lang="en-US" dirty="0"/>
              <a:t>, effects, relevel, or predict to help you.) </a:t>
            </a:r>
            <a:r>
              <a:rPr lang="en-US" u="sng" dirty="0"/>
              <a:t>You should include this explanation in your code.</a:t>
            </a:r>
            <a:endParaRPr lang="en-US" dirty="0"/>
          </a:p>
          <a:p>
            <a:r>
              <a:rPr lang="en-US" dirty="0"/>
              <a:t>Plot your model (e.g. using predict) and overlay the model on top of the underlying data. Remember that you will need to use “type=response”.</a:t>
            </a:r>
          </a:p>
          <a:p>
            <a:r>
              <a:rPr lang="en-US" dirty="0"/>
              <a:t>Write a results statement (as you would in a scientific paper). If you need to reference a statistical table, you can include this result statement and table as a separate document that you upload with your text entry. (You can title this LASTNAME_WEEK11_Results.) Please remember to also commit and push to </a:t>
            </a:r>
            <a:r>
              <a:rPr lang="en-US" dirty="0" err="1"/>
              <a:t>github</a:t>
            </a:r>
            <a:r>
              <a:rPr lang="en-US" dirty="0"/>
              <a:t>. 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33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16435</TotalTime>
  <Words>2345</Words>
  <Application>Microsoft Macintosh PowerPoint</Application>
  <PresentationFormat>Widescreen</PresentationFormat>
  <Paragraphs>247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Courier</vt:lpstr>
      <vt:lpstr>Courier New</vt:lpstr>
      <vt:lpstr>Open Sans</vt:lpstr>
      <vt:lpstr>Office Theme</vt:lpstr>
      <vt:lpstr>Week 10 - GLMs</vt:lpstr>
      <vt:lpstr>Housekeeping</vt:lpstr>
      <vt:lpstr>Bad ggplots contest</vt:lpstr>
      <vt:lpstr>Example</vt:lpstr>
      <vt:lpstr>Another one of my favorites</vt:lpstr>
      <vt:lpstr>Goals</vt:lpstr>
      <vt:lpstr>Creating minimal working/reproducible examples</vt:lpstr>
      <vt:lpstr>Where to ask for help</vt:lpstr>
      <vt:lpstr>Providing a minimal dataset</vt:lpstr>
      <vt:lpstr>Producing minimal code</vt:lpstr>
      <vt:lpstr>Reproducible Example</vt:lpstr>
      <vt:lpstr>Resources</vt:lpstr>
      <vt:lpstr>Generalized linear models</vt:lpstr>
      <vt:lpstr>glm</vt:lpstr>
      <vt:lpstr>Family</vt:lpstr>
      <vt:lpstr>Family – negative binomial</vt:lpstr>
      <vt:lpstr>Link functions</vt:lpstr>
      <vt:lpstr>Why use anything but the standard link?</vt:lpstr>
      <vt:lpstr>For GLMs with binomial distributions – logit vs probit</vt:lpstr>
      <vt:lpstr>How does it work?</vt:lpstr>
      <vt:lpstr>Maximum likelihood vs least squares</vt:lpstr>
      <vt:lpstr>Real world example – Infection and temperature</vt:lpstr>
      <vt:lpstr>Linearity and other distributions </vt:lpstr>
      <vt:lpstr>Interpreting GLMs output</vt:lpstr>
      <vt:lpstr>Reminder – the default parameters represent</vt:lpstr>
      <vt:lpstr>Some hints for interpreting output on the effect (e.g. link) scale</vt:lpstr>
      <vt:lpstr>Binomial</vt:lpstr>
      <vt:lpstr>Predicting responses from GLMs</vt:lpstr>
      <vt:lpstr>What should I do about the confidence intervals?</vt:lpstr>
      <vt:lpstr>If you really want prediction intervals</vt:lpstr>
      <vt:lpstr>Gamma</vt:lpstr>
      <vt:lpstr>Poisson</vt:lpstr>
      <vt:lpstr>Overdispersion</vt:lpstr>
      <vt:lpstr>Is there a test for overdispersion?</vt:lpstr>
      <vt:lpstr>Solutions to overdispersion</vt:lpstr>
      <vt:lpstr>Negative Binomial</vt:lpstr>
      <vt:lpstr>Diagnostics</vt:lpstr>
      <vt:lpstr>Diagnostics cont.</vt:lpstr>
      <vt:lpstr>Dharma</vt:lpstr>
      <vt:lpstr>Common mistakes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10 - GLMs</dc:title>
  <dc:creator>Kate Langwig</dc:creator>
  <cp:lastModifiedBy>Kate Langwig</cp:lastModifiedBy>
  <cp:revision>108</cp:revision>
  <dcterms:created xsi:type="dcterms:W3CDTF">2018-03-23T19:29:47Z</dcterms:created>
  <dcterms:modified xsi:type="dcterms:W3CDTF">2026-04-06T17:00:21Z</dcterms:modified>
</cp:coreProperties>
</file>