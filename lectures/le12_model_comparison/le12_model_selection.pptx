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77" r:id="rId3"/>
    <p:sldId id="278" r:id="rId4"/>
    <p:sldId id="290" r:id="rId5"/>
    <p:sldId id="291" r:id="rId6"/>
    <p:sldId id="279" r:id="rId7"/>
    <p:sldId id="261" r:id="rId8"/>
    <p:sldId id="280" r:id="rId9"/>
    <p:sldId id="259" r:id="rId10"/>
    <p:sldId id="263" r:id="rId11"/>
    <p:sldId id="285" r:id="rId12"/>
    <p:sldId id="269" r:id="rId13"/>
    <p:sldId id="286" r:id="rId14"/>
    <p:sldId id="289" r:id="rId15"/>
    <p:sldId id="281" r:id="rId16"/>
    <p:sldId id="292" r:id="rId17"/>
    <p:sldId id="293" r:id="rId18"/>
    <p:sldId id="258" r:id="rId19"/>
    <p:sldId id="294" r:id="rId20"/>
    <p:sldId id="295" r:id="rId21"/>
    <p:sldId id="266" r:id="rId22"/>
    <p:sldId id="296" r:id="rId23"/>
    <p:sldId id="297" r:id="rId24"/>
    <p:sldId id="268" r:id="rId25"/>
    <p:sldId id="267" r:id="rId26"/>
    <p:sldId id="305" r:id="rId27"/>
    <p:sldId id="306" r:id="rId28"/>
    <p:sldId id="307" r:id="rId29"/>
    <p:sldId id="287" r:id="rId30"/>
    <p:sldId id="288" r:id="rId31"/>
    <p:sldId id="273" r:id="rId3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34CF835-B97B-6A40-888F-71289A761740}">
          <p14:sldIdLst>
            <p14:sldId id="256"/>
            <p14:sldId id="277"/>
            <p14:sldId id="278"/>
            <p14:sldId id="290"/>
            <p14:sldId id="291"/>
            <p14:sldId id="279"/>
            <p14:sldId id="261"/>
            <p14:sldId id="280"/>
            <p14:sldId id="259"/>
            <p14:sldId id="263"/>
            <p14:sldId id="285"/>
            <p14:sldId id="269"/>
            <p14:sldId id="286"/>
            <p14:sldId id="289"/>
            <p14:sldId id="281"/>
            <p14:sldId id="292"/>
            <p14:sldId id="293"/>
            <p14:sldId id="258"/>
            <p14:sldId id="294"/>
            <p14:sldId id="295"/>
            <p14:sldId id="266"/>
            <p14:sldId id="296"/>
            <p14:sldId id="297"/>
            <p14:sldId id="268"/>
            <p14:sldId id="267"/>
            <p14:sldId id="305"/>
            <p14:sldId id="306"/>
            <p14:sldId id="307"/>
            <p14:sldId id="287"/>
            <p14:sldId id="288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e Langwig" initials="KL" lastIdx="1" clrIdx="0">
    <p:extLst>
      <p:ext uri="{19B8F6BF-5375-455C-9EA6-DF929625EA0E}">
        <p15:presenceInfo xmlns:p15="http://schemas.microsoft.com/office/powerpoint/2012/main" userId="Kate Langwi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34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480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CAE13-515D-42AB-B1C6-C768CFAA9040}" type="datetimeFigureOut">
              <a:rPr lang="en-US" smtClean="0"/>
              <a:t>4/9/26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1DE80E-5AFE-45C7-862F-49FCA85D6E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351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57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/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260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6034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3864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096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93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183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3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857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019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93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6B42BE-E9E8-4C91-8CAE-DCF3A8462AA2}" type="datetimeFigureOut">
              <a:rPr lang="en-US" smtClean="0"/>
              <a:pPr/>
              <a:t>4/9/26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6E721-303E-4074-BF10-5298D874A4C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317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charset="0"/>
          <a:ea typeface="Helvetica" charset="0"/>
          <a:cs typeface="Helvetica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-bloggers.com/bootstrap-and-cross-validation-for-evaluating-modelling-strategies/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Comparing Models</a:t>
            </a:r>
          </a:p>
        </p:txBody>
      </p:sp>
    </p:spTree>
    <p:extLst>
      <p:ext uri="{BB962C8B-B14F-4D97-AF65-F5344CB8AC3E}">
        <p14:creationId xmlns:p14="http://schemas.microsoft.com/office/powerpoint/2010/main" val="94323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Determine how to distinguish support among multiple different models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Understand nested models and null models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Learn model selection philosophy and the strengths and weaknesses of different approaches</a:t>
            </a:r>
          </a:p>
        </p:txBody>
      </p:sp>
    </p:spTree>
    <p:extLst>
      <p:ext uri="{BB962C8B-B14F-4D97-AF65-F5344CB8AC3E}">
        <p14:creationId xmlns:p14="http://schemas.microsoft.com/office/powerpoint/2010/main" val="9133696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often have multiple hypotheses about which factors are most important in influencing something</a:t>
            </a:r>
          </a:p>
          <a:p>
            <a:endParaRPr lang="en-US" dirty="0"/>
          </a:p>
          <a:p>
            <a:r>
              <a:rPr lang="en-US" dirty="0"/>
              <a:t>Related to this, we often have multiple working hypotheses about how things interact</a:t>
            </a:r>
          </a:p>
          <a:p>
            <a:endParaRPr lang="en-US" dirty="0"/>
          </a:p>
          <a:p>
            <a:r>
              <a:rPr lang="en-US" dirty="0"/>
              <a:t>How do we know which models are best at explaining our data?</a:t>
            </a:r>
          </a:p>
        </p:txBody>
      </p:sp>
    </p:spTree>
    <p:extLst>
      <p:ext uri="{BB962C8B-B14F-4D97-AF65-F5344CB8AC3E}">
        <p14:creationId xmlns:p14="http://schemas.microsoft.com/office/powerpoint/2010/main" val="1101182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Parsimony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This is sometimes called </a:t>
            </a:r>
            <a:r>
              <a:rPr lang="en-US" i="1" dirty="0" err="1"/>
              <a:t>Occams</a:t>
            </a:r>
            <a:r>
              <a:rPr lang="en-US" i="1" dirty="0"/>
              <a:t> razor</a:t>
            </a:r>
            <a:endParaRPr lang="en-US" dirty="0"/>
          </a:p>
          <a:p>
            <a:r>
              <a:rPr lang="en-US" dirty="0"/>
              <a:t>This is a general argument for choosing simpler models even though we know the world is complicated</a:t>
            </a:r>
          </a:p>
          <a:p>
            <a:r>
              <a:rPr lang="en-US" dirty="0"/>
              <a:t>Model selection approaches usually go beyond parsimony to try and determine whether a more complex model is better than a simpler one</a:t>
            </a:r>
          </a:p>
          <a:p>
            <a:r>
              <a:rPr lang="en-US" dirty="0"/>
              <a:t>This is usually done by seeing whether there is some threshold of “</a:t>
            </a:r>
            <a:r>
              <a:rPr lang="en-US" dirty="0" err="1"/>
              <a:t>betterness</a:t>
            </a:r>
            <a:r>
              <a:rPr lang="en-US" dirty="0"/>
              <a:t>” to be worth the added model complexity</a:t>
            </a:r>
          </a:p>
        </p:txBody>
      </p:sp>
    </p:spTree>
    <p:extLst>
      <p:ext uri="{BB962C8B-B14F-4D97-AF65-F5344CB8AC3E}">
        <p14:creationId xmlns:p14="http://schemas.microsoft.com/office/powerpoint/2010/main" val="711464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complexity and prediction </a:t>
            </a:r>
            <a:r>
              <a:rPr lang="mr-IN" dirty="0"/>
              <a:t>–</a:t>
            </a:r>
            <a:r>
              <a:rPr lang="en-US" dirty="0"/>
              <a:t> the bias variance tradeoff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As we add more variables to our models, we can get an increasingly accurate fit to the particular data we have observed (e.g. a higher R squared)</a:t>
            </a:r>
          </a:p>
          <a:p>
            <a:endParaRPr lang="en-US" dirty="0"/>
          </a:p>
          <a:p>
            <a:r>
              <a:rPr lang="en-US" dirty="0"/>
              <a:t>However, the precision of our predictions </a:t>
            </a:r>
            <a:r>
              <a:rPr lang="en-US" u="sng" dirty="0"/>
              <a:t>decreases </a:t>
            </a:r>
            <a:r>
              <a:rPr lang="en-US" dirty="0"/>
              <a:t> as we add more variables</a:t>
            </a:r>
            <a:endParaRPr lang="en-US" u="sng" dirty="0"/>
          </a:p>
          <a:p>
            <a:endParaRPr lang="en-US" u="sng" dirty="0"/>
          </a:p>
          <a:p>
            <a:r>
              <a:rPr lang="en-US" dirty="0"/>
              <a:t>This is because data contain a fixed amount of information and as we add more predictors, we spread the data thinner and thinner</a:t>
            </a:r>
          </a:p>
          <a:p>
            <a:endParaRPr lang="en-US" dirty="0"/>
          </a:p>
          <a:p>
            <a:r>
              <a:rPr lang="en-US" dirty="0"/>
              <a:t>The gain in accuracy from having more details in the model is outweighed by the loss of precision in estimating the effect of each variable</a:t>
            </a:r>
          </a:p>
        </p:txBody>
      </p:sp>
    </p:spTree>
    <p:extLst>
      <p:ext uri="{BB962C8B-B14F-4D97-AF65-F5344CB8AC3E}">
        <p14:creationId xmlns:p14="http://schemas.microsoft.com/office/powerpoint/2010/main" val="388921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Comparing models might be one of the most deeply divisive issues within quantitative biology</a:t>
            </a:r>
          </a:p>
          <a:p>
            <a:endParaRPr lang="en-US" dirty="0"/>
          </a:p>
          <a:p>
            <a:r>
              <a:rPr lang="en-US" dirty="0"/>
              <a:t>This is in part because all of the methods </a:t>
            </a:r>
            <a:r>
              <a:rPr lang="en-US" u="sng" dirty="0"/>
              <a:t>get things wrong</a:t>
            </a:r>
            <a:endParaRPr lang="en-US" dirty="0"/>
          </a:p>
          <a:p>
            <a:endParaRPr lang="en-US" dirty="0"/>
          </a:p>
          <a:p>
            <a:r>
              <a:rPr lang="en-US" dirty="0"/>
              <a:t>However, in most cases these approaches will give reasonably consistent answers. </a:t>
            </a:r>
          </a:p>
          <a:p>
            <a:pPr lvl="1"/>
            <a:r>
              <a:rPr lang="en-US" dirty="0"/>
              <a:t>It is important to watch out for these inconsistencies to avoid wrongness</a:t>
            </a:r>
          </a:p>
        </p:txBody>
      </p:sp>
    </p:spTree>
    <p:extLst>
      <p:ext uri="{BB962C8B-B14F-4D97-AF65-F5344CB8AC3E}">
        <p14:creationId xmlns:p14="http://schemas.microsoft.com/office/powerpoint/2010/main" val="2072042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perfectly designed full factorial experiments</a:t>
            </a:r>
          </a:p>
          <a:p>
            <a:pPr lvl="1"/>
            <a:r>
              <a:rPr lang="en-US" dirty="0"/>
              <a:t>There aren’t many challenges!</a:t>
            </a:r>
          </a:p>
          <a:p>
            <a:pPr lvl="1"/>
            <a:r>
              <a:rPr lang="en-US" dirty="0"/>
              <a:t>All approaches will produce similar results, because predictors are uncorrelated and hypotheses are clear</a:t>
            </a:r>
          </a:p>
          <a:p>
            <a:r>
              <a:rPr lang="en-US" dirty="0"/>
              <a:t>In the real world</a:t>
            </a:r>
          </a:p>
          <a:p>
            <a:pPr lvl="1"/>
            <a:r>
              <a:rPr lang="en-US" dirty="0"/>
              <a:t>Predictor variables are often partially correlated</a:t>
            </a:r>
          </a:p>
          <a:p>
            <a:pPr lvl="1"/>
            <a:r>
              <a:rPr lang="en-US" dirty="0"/>
              <a:t>A priori hypotheses may be less clear</a:t>
            </a:r>
          </a:p>
          <a:p>
            <a:r>
              <a:rPr lang="en-US" dirty="0"/>
              <a:t>This creates challenges in model fitting, interpretation, and prediction, regardless of statistical approach</a:t>
            </a:r>
          </a:p>
        </p:txBody>
      </p:sp>
    </p:spTree>
    <p:extLst>
      <p:ext uri="{BB962C8B-B14F-4D97-AF65-F5344CB8AC3E}">
        <p14:creationId xmlns:p14="http://schemas.microsoft.com/office/powerpoint/2010/main" val="31690493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Comparison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Stepwise Approaches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Likelihood Ratio Tests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Information Criteria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Advanced approaches for assessing model accuracy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57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 of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5756"/>
            <a:ext cx="7886700" cy="5222445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Try to extract biological insight or make predictions from data by fitting models to data.</a:t>
            </a:r>
          </a:p>
          <a:p>
            <a:r>
              <a:rPr lang="en-US" dirty="0"/>
              <a:t>Univariate analysis: often null hypothesis testing</a:t>
            </a:r>
          </a:p>
          <a:p>
            <a:r>
              <a:rPr lang="en-US" dirty="0"/>
              <a:t>Multivariate analysis: multiple regression</a:t>
            </a:r>
          </a:p>
          <a:p>
            <a:r>
              <a:rPr lang="en-US" dirty="0"/>
              <a:t>In both cases we are usually asking the question: does X</a:t>
            </a:r>
            <a:r>
              <a:rPr lang="en-US" baseline="-25000" dirty="0"/>
              <a:t>1</a:t>
            </a:r>
            <a:r>
              <a:rPr lang="en-US" dirty="0"/>
              <a:t> (or X</a:t>
            </a:r>
            <a:r>
              <a:rPr lang="en-US" baseline="-25000" dirty="0"/>
              <a:t>1</a:t>
            </a:r>
            <a:r>
              <a:rPr lang="en-US" dirty="0"/>
              <a:t> and/or X</a:t>
            </a:r>
            <a:r>
              <a:rPr lang="en-US" baseline="-25000" dirty="0"/>
              <a:t>2</a:t>
            </a:r>
            <a:r>
              <a:rPr lang="en-US" dirty="0"/>
              <a:t>) influence Y, or what is the influence of X on Y?</a:t>
            </a:r>
          </a:p>
          <a:p>
            <a:r>
              <a:rPr lang="en-US" dirty="0"/>
              <a:t>Approaches</a:t>
            </a:r>
          </a:p>
          <a:p>
            <a:pPr lvl="1"/>
            <a:r>
              <a:rPr lang="en-US" dirty="0"/>
              <a:t>Fit full model and interpret coefficients</a:t>
            </a:r>
          </a:p>
          <a:p>
            <a:pPr lvl="2"/>
            <a:r>
              <a:rPr lang="en-US" dirty="0"/>
              <a:t>Challenge: weak “noise” predictors can create bias in other parameter estimates, and result poor predictions (“</a:t>
            </a:r>
            <a:r>
              <a:rPr lang="en-US" dirty="0" err="1"/>
              <a:t>overfitting</a:t>
            </a:r>
            <a:r>
              <a:rPr lang="en-US" dirty="0"/>
              <a:t>”)</a:t>
            </a:r>
          </a:p>
          <a:p>
            <a:pPr lvl="1"/>
            <a:r>
              <a:rPr lang="en-US" dirty="0"/>
              <a:t>Stepwise regression</a:t>
            </a:r>
          </a:p>
          <a:p>
            <a:pPr lvl="2"/>
            <a:r>
              <a:rPr lang="en-US" dirty="0"/>
              <a:t>Forward/Backward/Both with criteria – p-value, F/t-value, AIC</a:t>
            </a:r>
          </a:p>
          <a:p>
            <a:pPr lvl="1"/>
            <a:r>
              <a:rPr lang="en-US" dirty="0"/>
              <a:t>Likelihood Ratio Test</a:t>
            </a:r>
          </a:p>
          <a:p>
            <a:pPr lvl="2"/>
            <a:r>
              <a:rPr lang="en-US" dirty="0"/>
              <a:t>Requires that models are nested versions of each other</a:t>
            </a:r>
          </a:p>
          <a:p>
            <a:pPr lvl="1"/>
            <a:r>
              <a:rPr lang="en-US" dirty="0"/>
              <a:t>AIC (or other IC) model comparison of selected models</a:t>
            </a:r>
          </a:p>
        </p:txBody>
      </p:sp>
    </p:spTree>
    <p:extLst>
      <p:ext uri="{BB962C8B-B14F-4D97-AF65-F5344CB8AC3E}">
        <p14:creationId xmlns:p14="http://schemas.microsoft.com/office/powerpoint/2010/main" val="20564047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8368" y="365126"/>
            <a:ext cx="8284122" cy="1325563"/>
          </a:xfrm>
        </p:spPr>
        <p:txBody>
          <a:bodyPr/>
          <a:lstStyle/>
          <a:p>
            <a:r>
              <a:rPr lang="en-US" dirty="0"/>
              <a:t>Backwards stepwise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47256"/>
            <a:ext cx="7886700" cy="5389723"/>
          </a:xfrm>
        </p:spPr>
        <p:txBody>
          <a:bodyPr>
            <a:normAutofit/>
          </a:bodyPr>
          <a:lstStyle/>
          <a:p>
            <a:r>
              <a:rPr lang="en-US" dirty="0"/>
              <a:t>Procedure</a:t>
            </a:r>
          </a:p>
          <a:p>
            <a:pPr lvl="1"/>
            <a:r>
              <a:rPr lang="en-US" dirty="0"/>
              <a:t>Fit model with all predictors</a:t>
            </a:r>
          </a:p>
          <a:p>
            <a:pPr lvl="1"/>
            <a:r>
              <a:rPr lang="en-US" dirty="0"/>
              <a:t>Select weakest predictor (by F, t, p-value) and remove it from model unless it passes threshold (e.g. p&lt;0.05)</a:t>
            </a:r>
          </a:p>
          <a:p>
            <a:pPr lvl="1"/>
            <a:r>
              <a:rPr lang="en-US" dirty="0"/>
              <a:t>Repeat until no additional variables are removed</a:t>
            </a:r>
          </a:p>
          <a:p>
            <a:r>
              <a:rPr lang="en-US" dirty="0"/>
              <a:t>Advantages</a:t>
            </a:r>
          </a:p>
          <a:p>
            <a:pPr lvl="1"/>
            <a:r>
              <a:rPr lang="en-US" dirty="0"/>
              <a:t>Simple, quick, few total models are examined</a:t>
            </a:r>
          </a:p>
          <a:p>
            <a:pPr lvl="1"/>
            <a:r>
              <a:rPr lang="en-US" dirty="0"/>
              <a:t>Low to moderately correlated “important” variables will be retained, unlike in forward step-wise regression</a:t>
            </a:r>
          </a:p>
        </p:txBody>
      </p:sp>
    </p:spTree>
    <p:extLst>
      <p:ext uri="{BB962C8B-B14F-4D97-AF65-F5344CB8AC3E}">
        <p14:creationId xmlns:p14="http://schemas.microsoft.com/office/powerpoint/2010/main" val="111592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Backwards stepwise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See R code</a:t>
            </a:r>
          </a:p>
        </p:txBody>
      </p:sp>
    </p:spTree>
    <p:extLst>
      <p:ext uri="{BB962C8B-B14F-4D97-AF65-F5344CB8AC3E}">
        <p14:creationId xmlns:p14="http://schemas.microsoft.com/office/powerpoint/2010/main" val="1936253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9373"/>
            <a:ext cx="8258872" cy="1021882"/>
          </a:xfrm>
        </p:spPr>
        <p:txBody>
          <a:bodyPr>
            <a:normAutofit/>
          </a:bodyPr>
          <a:lstStyle/>
          <a:p>
            <a:r>
              <a:rPr lang="en-US" sz="3300" dirty="0"/>
              <a:t>Backwards Stepwise Regression -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234" y="1171254"/>
            <a:ext cx="8203116" cy="556859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If predictors are correlated, the presence of one predictor in the model will always change the coefficient, and sometimes change the significance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As a result, the order in which predictors are removed can alter the resulting model</a:t>
            </a:r>
          </a:p>
          <a:p>
            <a:pPr lvl="2"/>
            <a:r>
              <a:rPr lang="en-US" dirty="0"/>
              <a:t>In a model with Y and X1, X2, and X3, X3 may be non-significant with X1 and X2 in the model, but significant with just X1 in the model.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Eliminating predictors from models based on a threshold can lead to large differences in the final model (i.e. if predictors have p-values just above or below the threshold), and this can lead to a changes in all coefficients in the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273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49" y="365126"/>
            <a:ext cx="8180813" cy="1325563"/>
          </a:xfrm>
        </p:spPr>
        <p:txBody>
          <a:bodyPr>
            <a:normAutofit/>
          </a:bodyPr>
          <a:lstStyle/>
          <a:p>
            <a:r>
              <a:rPr lang="en-US" dirty="0"/>
              <a:t>Resolution?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351" y="1825625"/>
            <a:ext cx="8046999" cy="4708990"/>
          </a:xfrm>
        </p:spPr>
        <p:txBody>
          <a:bodyPr/>
          <a:lstStyle/>
          <a:p>
            <a:r>
              <a:rPr lang="en-US" dirty="0"/>
              <a:t>Some resolution:</a:t>
            </a:r>
            <a:endParaRPr lang="en-US" u="sng" dirty="0"/>
          </a:p>
          <a:p>
            <a:pPr lvl="1"/>
            <a:r>
              <a:rPr lang="en-US" dirty="0"/>
              <a:t>To better estimate the effect sizes of removed variables they can be re-added one by one to the reduced model</a:t>
            </a:r>
          </a:p>
          <a:p>
            <a:pPr lvl="2"/>
            <a:r>
              <a:rPr lang="en-US" dirty="0"/>
              <a:t>This is a good check to make sure the order of removal hasn’t influenced your results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3929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Likelihood ratio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Statisticians have long used LRTs to compare nested models</a:t>
            </a:r>
          </a:p>
        </p:txBody>
      </p:sp>
    </p:spTree>
    <p:extLst>
      <p:ext uri="{BB962C8B-B14F-4D97-AF65-F5344CB8AC3E}">
        <p14:creationId xmlns:p14="http://schemas.microsoft.com/office/powerpoint/2010/main" val="9348499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 the terms in the smaller model occur in the larger model</a:t>
            </a:r>
          </a:p>
          <a:p>
            <a:endParaRPr lang="en-US" dirty="0"/>
          </a:p>
          <a:p>
            <a:r>
              <a:rPr lang="en-US" dirty="0"/>
              <a:t>Ex:</a:t>
            </a:r>
          </a:p>
          <a:p>
            <a:r>
              <a:rPr lang="en-US" dirty="0" err="1"/>
              <a:t>glm</a:t>
            </a:r>
            <a:r>
              <a:rPr lang="en-US" dirty="0"/>
              <a:t>(N ~ light*time)</a:t>
            </a:r>
          </a:p>
          <a:p>
            <a:r>
              <a:rPr lang="en-US" dirty="0" err="1"/>
              <a:t>glm</a:t>
            </a:r>
            <a:r>
              <a:rPr lang="en-US" dirty="0"/>
              <a:t>(N ~ light + time)</a:t>
            </a:r>
          </a:p>
          <a:p>
            <a:r>
              <a:rPr lang="en-US" dirty="0" err="1"/>
              <a:t>glm</a:t>
            </a:r>
            <a:r>
              <a:rPr lang="en-US" dirty="0"/>
              <a:t>(</a:t>
            </a:r>
            <a:r>
              <a:rPr lang="en-US" dirty="0" err="1"/>
              <a:t>N~light</a:t>
            </a:r>
            <a:r>
              <a:rPr lang="en-US" dirty="0"/>
              <a:t>)</a:t>
            </a:r>
          </a:p>
          <a:p>
            <a:r>
              <a:rPr lang="en-US" dirty="0" err="1"/>
              <a:t>glm</a:t>
            </a:r>
            <a:r>
              <a:rPr lang="en-US" dirty="0"/>
              <a:t>(N~1)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u="sng" dirty="0"/>
              <a:t>null model</a:t>
            </a:r>
          </a:p>
        </p:txBody>
      </p:sp>
    </p:spTree>
    <p:extLst>
      <p:ext uri="{BB962C8B-B14F-4D97-AF65-F5344CB8AC3E}">
        <p14:creationId xmlns:p14="http://schemas.microsoft.com/office/powerpoint/2010/main" val="1093844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Are these nested?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N~light</a:t>
            </a:r>
            <a:endParaRPr lang="en-US" dirty="0"/>
          </a:p>
          <a:p>
            <a:r>
              <a:rPr lang="en-US" dirty="0" err="1"/>
              <a:t>N~time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2787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a LRT 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anova</a:t>
            </a:r>
            <a:r>
              <a:rPr lang="en-US" dirty="0"/>
              <a:t>() function in R performs LRT on nested model fits (among other tests)</a:t>
            </a:r>
          </a:p>
          <a:p>
            <a:endParaRPr lang="en-US" dirty="0"/>
          </a:p>
          <a:p>
            <a:r>
              <a:rPr lang="en-US" dirty="0"/>
              <a:t>It will automatically calculate the difference in numbers of parameters (e.g. </a:t>
            </a:r>
            <a:r>
              <a:rPr lang="en-US" dirty="0" err="1"/>
              <a:t>df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This will test whether the extra goodness of fit is worth the additional complexity of adding parameters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0490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LRT – the order matters!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When you do an </a:t>
            </a:r>
            <a:r>
              <a:rPr lang="en-US" dirty="0" err="1"/>
              <a:t>anova</a:t>
            </a:r>
            <a:r>
              <a:rPr lang="en-US" dirty="0"/>
              <a:t>() on a regular lm or </a:t>
            </a:r>
            <a:r>
              <a:rPr lang="en-US" dirty="0" err="1"/>
              <a:t>glm</a:t>
            </a:r>
            <a:r>
              <a:rPr lang="en-US" dirty="0"/>
              <a:t> (e.g. Poisson, Gamma, Binomial) you need to list the null model </a:t>
            </a:r>
            <a:r>
              <a:rPr lang="en-US" u="sng" dirty="0"/>
              <a:t>first</a:t>
            </a:r>
            <a:endParaRPr lang="en-US" dirty="0"/>
          </a:p>
          <a:p>
            <a:endParaRPr lang="en-US" dirty="0"/>
          </a:p>
          <a:p>
            <a:r>
              <a:rPr lang="en-US" dirty="0"/>
              <a:t>The LRT (</a:t>
            </a:r>
            <a:r>
              <a:rPr lang="en-US" dirty="0" err="1"/>
              <a:t>anova</a:t>
            </a:r>
            <a:r>
              <a:rPr lang="en-US" dirty="0"/>
              <a:t>()) for these “objects” will always consider the null model as the first argument</a:t>
            </a:r>
          </a:p>
          <a:p>
            <a:pPr lvl="1"/>
            <a:r>
              <a:rPr lang="en-US" dirty="0"/>
              <a:t>This isn’t the case for all types of objects </a:t>
            </a:r>
            <a:r>
              <a:rPr lang="mr-IN" dirty="0"/>
              <a:t>–</a:t>
            </a:r>
            <a:r>
              <a:rPr lang="en-US" dirty="0"/>
              <a:t> hence the confusion</a:t>
            </a:r>
          </a:p>
          <a:p>
            <a:pPr lvl="1"/>
            <a:r>
              <a:rPr lang="en-US" dirty="0"/>
              <a:t>If you do not list the null model first, you may get wonky output because it is doing the subtraction incorrectly resulting in negative values with no meaning in the chi-squared distribution!</a:t>
            </a:r>
            <a:br>
              <a:rPr lang="en-US" dirty="0"/>
            </a:br>
            <a:endParaRPr lang="en-US" dirty="0"/>
          </a:p>
          <a:p>
            <a:r>
              <a:rPr lang="en-US" dirty="0"/>
              <a:t>I suggest stepping through your models from simplest as null to increasingly more complex</a:t>
            </a:r>
          </a:p>
          <a:p>
            <a:pPr lvl="1"/>
            <a:r>
              <a:rPr lang="en-US" dirty="0"/>
              <a:t>E.g. N ~ 1 vs </a:t>
            </a:r>
            <a:r>
              <a:rPr lang="en-US" dirty="0" err="1"/>
              <a:t>N~light</a:t>
            </a:r>
            <a:r>
              <a:rPr lang="en-US" dirty="0"/>
              <a:t>, then </a:t>
            </a:r>
            <a:r>
              <a:rPr lang="en-US" dirty="0" err="1"/>
              <a:t>N~light</a:t>
            </a:r>
            <a:r>
              <a:rPr lang="en-US" dirty="0"/>
              <a:t> vs </a:t>
            </a:r>
            <a:r>
              <a:rPr lang="en-US" dirty="0" err="1"/>
              <a:t>N~light+time</a:t>
            </a:r>
            <a:r>
              <a:rPr lang="en-US" dirty="0"/>
              <a:t>, then </a:t>
            </a:r>
            <a:r>
              <a:rPr lang="en-US" dirty="0" err="1"/>
              <a:t>N~light+time</a:t>
            </a:r>
            <a:r>
              <a:rPr lang="en-US" dirty="0"/>
              <a:t> vs </a:t>
            </a:r>
            <a:r>
              <a:rPr lang="en-US" dirty="0" err="1"/>
              <a:t>N~light</a:t>
            </a:r>
            <a:r>
              <a:rPr lang="en-US" dirty="0"/>
              <a:t>*time</a:t>
            </a:r>
          </a:p>
        </p:txBody>
      </p:sp>
    </p:spTree>
    <p:extLst>
      <p:ext uri="{BB962C8B-B14F-4D97-AF65-F5344CB8AC3E}">
        <p14:creationId xmlns:p14="http://schemas.microsoft.com/office/powerpoint/2010/main" val="2508225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LRT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464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Criteria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These are also called information theoretic approaches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IC methods find the model that minimizes some criterion that is based on the likelihood and a penalty term, which is usually based on the number of parameters</a:t>
            </a:r>
          </a:p>
        </p:txBody>
      </p:sp>
    </p:spTree>
    <p:extLst>
      <p:ext uri="{BB962C8B-B14F-4D97-AF65-F5344CB8AC3E}">
        <p14:creationId xmlns:p14="http://schemas.microsoft.com/office/powerpoint/2010/main" val="7628097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(BIC, etc.)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44630"/>
            <a:ext cx="7886700" cy="5147353"/>
          </a:xfrm>
        </p:spPr>
        <p:txBody>
          <a:bodyPr>
            <a:normAutofit/>
          </a:bodyPr>
          <a:lstStyle/>
          <a:p>
            <a:r>
              <a:rPr lang="en-US" dirty="0"/>
              <a:t>Proposed philosophy is inherently different 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r>
              <a:rPr lang="en-US" dirty="0"/>
              <a:t>Frequentist/Null hypothesis testing: do predictor variables X1, X2, and/or X3 influence Y?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IC approach: which of the proposed models fit the data best?</a:t>
            </a:r>
          </a:p>
          <a:p>
            <a:pPr lvl="2"/>
            <a:r>
              <a:rPr lang="en-US" dirty="0"/>
              <a:t>E.g. AIC = 2k - 2ln(L); k = # parameters, L = likelihood</a:t>
            </a:r>
          </a:p>
        </p:txBody>
      </p:sp>
    </p:spTree>
    <p:extLst>
      <p:ext uri="{BB962C8B-B14F-4D97-AF65-F5344CB8AC3E}">
        <p14:creationId xmlns:p14="http://schemas.microsoft.com/office/powerpoint/2010/main" val="38299280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Procedures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Build a priori candidate model set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Fit models to data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Rank by AIC, calculate weights (based on </a:t>
            </a:r>
            <a:r>
              <a:rPr lang="en-US" dirty="0">
                <a:sym typeface="Symbol" panose="05050102010706020507" pitchFamily="18" charset="2"/>
              </a:rPr>
              <a:t>AIC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Can select models with greatest support (must be &gt;2 AIC away)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8350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45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Results in 1 or more final models that have “some support” from the data</a:t>
            </a:r>
          </a:p>
          <a:p>
            <a:endParaRPr lang="en-US" dirty="0"/>
          </a:p>
          <a:p>
            <a:r>
              <a:rPr lang="en-US" dirty="0"/>
              <a:t>Comparing non-nested models is easy</a:t>
            </a:r>
          </a:p>
          <a:p>
            <a:endParaRPr lang="en-US" dirty="0"/>
          </a:p>
          <a:p>
            <a:r>
              <a:rPr lang="en-US" dirty="0"/>
              <a:t>Combining results from multiple models is straight forward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0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AIC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8870"/>
            <a:ext cx="7886700" cy="533913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Omissions or biases in forming model set can result in poor inference/prediction</a:t>
            </a:r>
          </a:p>
          <a:p>
            <a:endParaRPr lang="en-US" dirty="0"/>
          </a:p>
          <a:p>
            <a:r>
              <a:rPr lang="en-US" dirty="0"/>
              <a:t>Using “all possible model subsets” can produce an enormous number of models that is difficult to interpret and results in spurious correlations</a:t>
            </a:r>
          </a:p>
          <a:p>
            <a:endParaRPr lang="en-US" dirty="0"/>
          </a:p>
          <a:p>
            <a:r>
              <a:rPr lang="en-US" dirty="0"/>
              <a:t>If we fit models with several “versions” of a predictor (e.g. Temp, Temp</a:t>
            </a:r>
            <a:r>
              <a:rPr lang="en-US" baseline="30000" dirty="0"/>
              <a:t>2</a:t>
            </a:r>
            <a:r>
              <a:rPr lang="en-US" dirty="0"/>
              <a:t>, Log(Temp)) and only one model without this predictor, we are much more likely to find that this predictor is present in one of the best fitting models.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Need to examine “goodness of fit” of best models to avoid selecting the best of a bunch of terrible models</a:t>
            </a:r>
          </a:p>
          <a:p>
            <a:endParaRPr lang="en-US" dirty="0"/>
          </a:p>
          <a:p>
            <a:r>
              <a:rPr lang="en-US" dirty="0"/>
              <a:t>When a predictor makes a model better by AIC, this is equivalent to stepwise regression based on a threshold p-value of 0.157 which is much larger than 0.05. </a:t>
            </a:r>
          </a:p>
          <a:p>
            <a:endParaRPr lang="en-US" dirty="0"/>
          </a:p>
          <a:p>
            <a:r>
              <a:rPr lang="en-US" dirty="0"/>
              <a:t>Never average model predictions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310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important point about model comparison!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When you compare models, it is very, very important to compare models that all have the same number of observations!!!!</a:t>
            </a:r>
          </a:p>
          <a:p>
            <a:endParaRPr lang="en-US" dirty="0"/>
          </a:p>
          <a:p>
            <a:r>
              <a:rPr lang="en-US" dirty="0"/>
              <a:t>For example, if you want to predict bat infection by species and temperature.</a:t>
            </a:r>
          </a:p>
          <a:p>
            <a:pPr lvl="1"/>
            <a:r>
              <a:rPr lang="en-US" dirty="0"/>
              <a:t>Your models look like this: </a:t>
            </a:r>
            <a:r>
              <a:rPr lang="en-US" dirty="0" err="1"/>
              <a:t>infection~temp+species</a:t>
            </a:r>
            <a:r>
              <a:rPr lang="en-US" dirty="0"/>
              <a:t>, </a:t>
            </a:r>
            <a:r>
              <a:rPr lang="en-US" dirty="0" err="1"/>
              <a:t>infection~species</a:t>
            </a:r>
            <a:endParaRPr lang="en-US" dirty="0"/>
          </a:p>
          <a:p>
            <a:pPr lvl="1"/>
            <a:r>
              <a:rPr lang="en-US" dirty="0"/>
              <a:t>You might have forgotten to take a temperature from every individual (but you always recorded species). You will need to drop all measurements where you don’t have temperature to compare models USING ANY METHOD.</a:t>
            </a:r>
          </a:p>
        </p:txBody>
      </p:sp>
    </p:spTree>
    <p:extLst>
      <p:ext uri="{BB962C8B-B14F-4D97-AF65-F5344CB8AC3E}">
        <p14:creationId xmlns:p14="http://schemas.microsoft.com/office/powerpoint/2010/main" val="3022054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195" y="989498"/>
            <a:ext cx="4083600" cy="47044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93620" y="2358789"/>
            <a:ext cx="4259180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If we fit the models, </a:t>
            </a:r>
            <a:br>
              <a:rPr lang="en-US" sz="1350" dirty="0"/>
            </a:br>
            <a:r>
              <a:rPr lang="en-US" sz="1350" dirty="0" err="1"/>
              <a:t>infection~species</a:t>
            </a:r>
            <a:r>
              <a:rPr lang="en-US" sz="1350" dirty="0"/>
              <a:t>, we would have 16 observations</a:t>
            </a:r>
          </a:p>
          <a:p>
            <a:r>
              <a:rPr lang="en-US" sz="1350" dirty="0" err="1"/>
              <a:t>Infection~species+temp</a:t>
            </a:r>
            <a:r>
              <a:rPr lang="en-US" sz="1350" dirty="0"/>
              <a:t>, we have 15 observations</a:t>
            </a:r>
          </a:p>
          <a:p>
            <a:endParaRPr lang="en-US" sz="1350" dirty="0"/>
          </a:p>
          <a:p>
            <a:r>
              <a:rPr lang="en-US" sz="1350" dirty="0"/>
              <a:t>We can not validly compare these models. </a:t>
            </a:r>
          </a:p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6531461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DB124-B290-2E57-F2B7-84BAEDD53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methods for assessing validity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57BAA7-A751-0A33-C146-AE845C94F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Bootstrapping</a:t>
            </a:r>
          </a:p>
          <a:p>
            <a:r>
              <a:rPr lang="en-US" dirty="0"/>
              <a:t>K-fold cross-validation</a:t>
            </a:r>
          </a:p>
        </p:txBody>
      </p:sp>
    </p:spTree>
    <p:extLst>
      <p:ext uri="{BB962C8B-B14F-4D97-AF65-F5344CB8AC3E}">
        <p14:creationId xmlns:p14="http://schemas.microsoft.com/office/powerpoint/2010/main" val="1403794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Bootstrapping Model Validation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Resample with replacement from the original variables (same number of observations).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 Apply the model from the original dataset to the resampled dataset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Use the updated model to refit to original data and calculate a goodness of fit statistic (e.g. R2)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R2 between bootstrapped models and original model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See more info here: </a:t>
            </a:r>
            <a:r>
              <a:rPr lang="en-US" dirty="0">
                <a:hlinkClick r:id="rId2"/>
              </a:rPr>
              <a:t>https://www.r-bloggers.com/bootstrap-and-cross-validation-for-evaluating-modelling-strategies/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580817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Repeated K-fold cross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Divide your data into 5-10 (k) parts.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Take turns to fit the model on 90% of the data and using that model to predict the remaining 10%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The average of the 10 goodness of fit statistics (e.g. </a:t>
            </a:r>
            <a:r>
              <a:rPr lang="en-US" dirty="0" err="1"/>
              <a:t>Rsquared</a:t>
            </a:r>
            <a:r>
              <a:rPr lang="en-US" dirty="0"/>
              <a:t>) becomes your estimate of the actual goodness of fit.</a:t>
            </a:r>
            <a:br>
              <a:rPr lang="en-US" dirty="0"/>
            </a:br>
            <a:r>
              <a:rPr lang="en-US" dirty="0"/>
              <a:t>OR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Compare area under the curve across different models. Model with higher AUC is better than smaller.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 Issue </a:t>
            </a:r>
            <a:r>
              <a:rPr lang="mr-IN" dirty="0"/>
              <a:t>–</a:t>
            </a:r>
            <a:r>
              <a:rPr lang="en-US" dirty="0"/>
              <a:t> this is difficult for small datasets!</a:t>
            </a:r>
          </a:p>
        </p:txBody>
      </p:sp>
    </p:spTree>
    <p:extLst>
      <p:ext uri="{BB962C8B-B14F-4D97-AF65-F5344CB8AC3E}">
        <p14:creationId xmlns:p14="http://schemas.microsoft.com/office/powerpoint/2010/main" val="18927484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for all approaches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Including a large list of predictor variables will guarantee that your final or best model includes variables that are correlated with the response simply due to chance</a:t>
            </a:r>
          </a:p>
          <a:p>
            <a:pPr lvl="1"/>
            <a:r>
              <a:rPr lang="en-US" dirty="0"/>
              <a:t> multiple regression is a form of multiple comparisons!</a:t>
            </a:r>
          </a:p>
          <a:p>
            <a:r>
              <a:rPr lang="en-US" dirty="0"/>
              <a:t>Any time there is any correlation among predictors, removing or including a predictor will change the coefficient of other correlated predictors</a:t>
            </a:r>
          </a:p>
          <a:p>
            <a:r>
              <a:rPr lang="en-US" dirty="0"/>
              <a:t>No approach fixes these problems</a:t>
            </a:r>
          </a:p>
        </p:txBody>
      </p:sp>
    </p:spTree>
    <p:extLst>
      <p:ext uri="{BB962C8B-B14F-4D97-AF65-F5344CB8AC3E}">
        <p14:creationId xmlns:p14="http://schemas.microsoft.com/office/powerpoint/2010/main" val="4260278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6738</TotalTime>
  <Words>1735</Words>
  <Application>Microsoft Macintosh PowerPoint</Application>
  <PresentationFormat>On-screen Show (4:3)</PresentationFormat>
  <Paragraphs>179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Calibri</vt:lpstr>
      <vt:lpstr>Helvetica</vt:lpstr>
      <vt:lpstr>Symbol</vt:lpstr>
      <vt:lpstr>Office Theme</vt:lpstr>
      <vt:lpstr>Comparing Models</vt:lpstr>
      <vt:lpstr>Goals</vt:lpstr>
      <vt:lpstr>Theory</vt:lpstr>
      <vt:lpstr>Parsimony</vt:lpstr>
      <vt:lpstr>Model complexity and prediction – the bias variance tradeoff</vt:lpstr>
      <vt:lpstr>Model Comparisons</vt:lpstr>
      <vt:lpstr>Model Selection Challenges</vt:lpstr>
      <vt:lpstr>Model Comparison Approaches</vt:lpstr>
      <vt:lpstr>The goal of statistics</vt:lpstr>
      <vt:lpstr>Backwards stepwise regression</vt:lpstr>
      <vt:lpstr>Backwards stepwise example</vt:lpstr>
      <vt:lpstr>Backwards Stepwise Regression - Challenges</vt:lpstr>
      <vt:lpstr>Resolution?</vt:lpstr>
      <vt:lpstr>Likelihood ratio tests</vt:lpstr>
      <vt:lpstr>Nested Model</vt:lpstr>
      <vt:lpstr>Are these nested?</vt:lpstr>
      <vt:lpstr>Running a LRT on models</vt:lpstr>
      <vt:lpstr>Running LRT – the order matters!</vt:lpstr>
      <vt:lpstr>LRT examples</vt:lpstr>
      <vt:lpstr>Information Criteria </vt:lpstr>
      <vt:lpstr>AIC (BIC, etc.) model selection</vt:lpstr>
      <vt:lpstr>AIC Procedures</vt:lpstr>
      <vt:lpstr>AIC Examples</vt:lpstr>
      <vt:lpstr>AIC advantages</vt:lpstr>
      <vt:lpstr>AIC challenges</vt:lpstr>
      <vt:lpstr>An important point about model comparison!</vt:lpstr>
      <vt:lpstr>PowerPoint Presentation</vt:lpstr>
      <vt:lpstr>Advanced methods for assessing validity</vt:lpstr>
      <vt:lpstr>Bootstrapping Model Validation Approach</vt:lpstr>
      <vt:lpstr>Repeated K-fold cross validation</vt:lpstr>
      <vt:lpstr>Challenges for all approaches</vt:lpstr>
    </vt:vector>
  </TitlesOfParts>
  <Company>Columbia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Quantitative ecology seminar</dc:title>
  <dc:creator>Marm</dc:creator>
  <cp:lastModifiedBy>Kate Langwig</cp:lastModifiedBy>
  <cp:revision>122</cp:revision>
  <dcterms:created xsi:type="dcterms:W3CDTF">2015-03-31T21:36:40Z</dcterms:created>
  <dcterms:modified xsi:type="dcterms:W3CDTF">2026-04-09T19:34:52Z</dcterms:modified>
</cp:coreProperties>
</file>